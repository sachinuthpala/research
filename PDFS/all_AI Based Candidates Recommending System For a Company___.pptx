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77" r:id="rId2"/>
    <p:sldId id="296" r:id="rId3"/>
    <p:sldId id="295" r:id="rId4"/>
    <p:sldId id="292" r:id="rId5"/>
    <p:sldId id="293" r:id="rId6"/>
    <p:sldId id="294" r:id="rId7"/>
    <p:sldId id="264" r:id="rId8"/>
    <p:sldId id="297" r:id="rId9"/>
    <p:sldId id="298" r:id="rId10"/>
    <p:sldId id="299" r:id="rId11"/>
    <p:sldId id="300" r:id="rId12"/>
    <p:sldId id="301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42" r:id="rId26"/>
    <p:sldId id="315" r:id="rId27"/>
    <p:sldId id="316" r:id="rId28"/>
    <p:sldId id="345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46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3" r:id="rId53"/>
    <p:sldId id="347" r:id="rId54"/>
    <p:sldId id="34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24" autoAdjust="0"/>
    <p:restoredTop sz="94660"/>
  </p:normalViewPr>
  <p:slideViewPr>
    <p:cSldViewPr>
      <p:cViewPr varScale="1">
        <p:scale>
          <a:sx n="43" d="100"/>
          <a:sy n="43" d="100"/>
        </p:scale>
        <p:origin x="67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C8454-7B03-42D8-99FB-3AF01C49D6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866130-A4D5-4E90-83BC-E751A5300E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implement intelligent algorithms that provide personalized job-candidate matching based on a comprehensive skill assessment.</a:t>
          </a:r>
        </a:p>
      </dgm:t>
    </dgm:pt>
    <dgm:pt modelId="{EEEE7F97-6D94-435E-9C82-48D207CE4E96}" type="parTrans" cxnId="{F340EE92-326A-4ADE-ACD2-0FBCD25376A2}">
      <dgm:prSet/>
      <dgm:spPr/>
      <dgm:t>
        <a:bodyPr/>
        <a:lstStyle/>
        <a:p>
          <a:endParaRPr lang="en-US"/>
        </a:p>
      </dgm:t>
    </dgm:pt>
    <dgm:pt modelId="{AA7BBE6A-A207-4496-B2D7-0FCEA55C01FA}" type="sibTrans" cxnId="{F340EE92-326A-4ADE-ACD2-0FBCD25376A2}">
      <dgm:prSet/>
      <dgm:spPr/>
      <dgm:t>
        <a:bodyPr/>
        <a:lstStyle/>
        <a:p>
          <a:endParaRPr lang="en-US"/>
        </a:p>
      </dgm:t>
    </dgm:pt>
    <dgm:pt modelId="{88998327-4467-4074-B8FC-1B4675CD0F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Detection of confident level by voice tone</a:t>
          </a:r>
        </a:p>
      </dgm:t>
    </dgm:pt>
    <dgm:pt modelId="{81427099-B862-4704-B83C-465817B8ABE1}" type="parTrans" cxnId="{940826ED-0222-4A76-B3EB-DD330D32CA2E}">
      <dgm:prSet/>
      <dgm:spPr/>
      <dgm:t>
        <a:bodyPr/>
        <a:lstStyle/>
        <a:p>
          <a:endParaRPr lang="en-US"/>
        </a:p>
      </dgm:t>
    </dgm:pt>
    <dgm:pt modelId="{39F6B669-D4EA-4AF2-8F45-69CC87B6CE25}" type="sibTrans" cxnId="{940826ED-0222-4A76-B3EB-DD330D32CA2E}">
      <dgm:prSet/>
      <dgm:spPr/>
      <dgm:t>
        <a:bodyPr/>
        <a:lstStyle/>
        <a:p>
          <a:endParaRPr lang="en-US"/>
        </a:p>
      </dgm:t>
    </dgm:pt>
    <dgm:pt modelId="{C4DCAEDB-80A9-4F84-84D7-EDBC8AEB70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Detection of stress by facial expressions</a:t>
          </a:r>
        </a:p>
      </dgm:t>
    </dgm:pt>
    <dgm:pt modelId="{9C1131ED-0927-4C9C-AA4D-1A35F1843AED}" type="parTrans" cxnId="{789014DB-7625-4492-AB93-F7E1F289274B}">
      <dgm:prSet/>
      <dgm:spPr/>
      <dgm:t>
        <a:bodyPr/>
        <a:lstStyle/>
        <a:p>
          <a:endParaRPr lang="en-US"/>
        </a:p>
      </dgm:t>
    </dgm:pt>
    <dgm:pt modelId="{70864262-E9C9-415F-8E61-00C23457CEAF}" type="sibTrans" cxnId="{789014DB-7625-4492-AB93-F7E1F289274B}">
      <dgm:prSet/>
      <dgm:spPr/>
      <dgm:t>
        <a:bodyPr/>
        <a:lstStyle/>
        <a:p>
          <a:endParaRPr lang="en-US"/>
        </a:p>
      </dgm:t>
    </dgm:pt>
    <dgm:pt modelId="{F5AF3C83-6981-456C-97B5-F21ED66854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Detection of decision making skill by text analysis</a:t>
          </a:r>
        </a:p>
      </dgm:t>
    </dgm:pt>
    <dgm:pt modelId="{3FACC61C-9991-4412-9327-3ACA79593F52}" type="parTrans" cxnId="{FF5E3E70-661C-4261-BBC9-F5298C08B13E}">
      <dgm:prSet/>
      <dgm:spPr/>
      <dgm:t>
        <a:bodyPr/>
        <a:lstStyle/>
        <a:p>
          <a:endParaRPr lang="en-US"/>
        </a:p>
      </dgm:t>
    </dgm:pt>
    <dgm:pt modelId="{0DB125C0-DC10-4A78-939E-7B4DA9BAAE6D}" type="sibTrans" cxnId="{FF5E3E70-661C-4261-BBC9-F5298C08B13E}">
      <dgm:prSet/>
      <dgm:spPr/>
      <dgm:t>
        <a:bodyPr/>
        <a:lstStyle/>
        <a:p>
          <a:endParaRPr lang="en-US"/>
        </a:p>
      </dgm:t>
    </dgm:pt>
    <dgm:pt modelId="{D97ADB67-F825-4079-9702-1DB24756F4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Detection of engagement with their works</a:t>
          </a:r>
        </a:p>
      </dgm:t>
    </dgm:pt>
    <dgm:pt modelId="{E61B6790-4BFE-46D2-8B81-B99913CFE2F6}" type="parTrans" cxnId="{74D65B50-D7A9-4D28-ACA6-0AC3382A22BF}">
      <dgm:prSet/>
      <dgm:spPr/>
      <dgm:t>
        <a:bodyPr/>
        <a:lstStyle/>
        <a:p>
          <a:endParaRPr lang="en-US"/>
        </a:p>
      </dgm:t>
    </dgm:pt>
    <dgm:pt modelId="{313AD7D0-45CF-4F2A-965A-6977D9925DF4}" type="sibTrans" cxnId="{74D65B50-D7A9-4D28-ACA6-0AC3382A22BF}">
      <dgm:prSet/>
      <dgm:spPr/>
      <dgm:t>
        <a:bodyPr/>
        <a:lstStyle/>
        <a:p>
          <a:endParaRPr lang="en-US"/>
        </a:p>
      </dgm:t>
    </dgm:pt>
    <dgm:pt modelId="{BAC47354-0162-4893-8C3E-429FD53F1814}" type="pres">
      <dgm:prSet presAssocID="{D23C8454-7B03-42D8-99FB-3AF01C49D68D}" presName="root" presStyleCnt="0">
        <dgm:presLayoutVars>
          <dgm:dir/>
          <dgm:resizeHandles val="exact"/>
        </dgm:presLayoutVars>
      </dgm:prSet>
      <dgm:spPr/>
    </dgm:pt>
    <dgm:pt modelId="{71B1722E-E372-4863-8C4B-0D82A5B2B1A4}" type="pres">
      <dgm:prSet presAssocID="{01866130-A4D5-4E90-83BC-E751A5300E65}" presName="compNode" presStyleCnt="0"/>
      <dgm:spPr/>
    </dgm:pt>
    <dgm:pt modelId="{39754A34-F7D8-48C4-857B-050CFBF1A711}" type="pres">
      <dgm:prSet presAssocID="{01866130-A4D5-4E90-83BC-E751A5300E65}" presName="bgRect" presStyleLbl="bgShp" presStyleIdx="0" presStyleCnt="5"/>
      <dgm:spPr/>
    </dgm:pt>
    <dgm:pt modelId="{F7FDAF03-40E0-4F95-A881-D857AC862CA2}" type="pres">
      <dgm:prSet presAssocID="{01866130-A4D5-4E90-83BC-E751A5300E6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7F8F612-F96F-4089-BFD5-085DA49F9635}" type="pres">
      <dgm:prSet presAssocID="{01866130-A4D5-4E90-83BC-E751A5300E65}" presName="spaceRect" presStyleCnt="0"/>
      <dgm:spPr/>
    </dgm:pt>
    <dgm:pt modelId="{5F2A5483-7EF9-4088-9D3D-68989BA86690}" type="pres">
      <dgm:prSet presAssocID="{01866130-A4D5-4E90-83BC-E751A5300E65}" presName="parTx" presStyleLbl="revTx" presStyleIdx="0" presStyleCnt="5">
        <dgm:presLayoutVars>
          <dgm:chMax val="0"/>
          <dgm:chPref val="0"/>
        </dgm:presLayoutVars>
      </dgm:prSet>
      <dgm:spPr/>
    </dgm:pt>
    <dgm:pt modelId="{4F2417CF-00B4-4B1C-9FBF-28ACB61E7702}" type="pres">
      <dgm:prSet presAssocID="{AA7BBE6A-A207-4496-B2D7-0FCEA55C01FA}" presName="sibTrans" presStyleCnt="0"/>
      <dgm:spPr/>
    </dgm:pt>
    <dgm:pt modelId="{CDBC3D6F-8CC8-4C00-B4B9-9BFAE48D7D1A}" type="pres">
      <dgm:prSet presAssocID="{88998327-4467-4074-B8FC-1B4675CD0F2F}" presName="compNode" presStyleCnt="0"/>
      <dgm:spPr/>
    </dgm:pt>
    <dgm:pt modelId="{E4834818-5792-4E97-8590-E934C765ADA5}" type="pres">
      <dgm:prSet presAssocID="{88998327-4467-4074-B8FC-1B4675CD0F2F}" presName="bgRect" presStyleLbl="bgShp" presStyleIdx="1" presStyleCnt="5"/>
      <dgm:spPr/>
    </dgm:pt>
    <dgm:pt modelId="{526C6869-49D6-4C48-B3EF-8D84EE1E65E2}" type="pres">
      <dgm:prSet presAssocID="{88998327-4467-4074-B8FC-1B4675CD0F2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1C992AD-C716-4723-8822-E21FDAF757C1}" type="pres">
      <dgm:prSet presAssocID="{88998327-4467-4074-B8FC-1B4675CD0F2F}" presName="spaceRect" presStyleCnt="0"/>
      <dgm:spPr/>
    </dgm:pt>
    <dgm:pt modelId="{4E47420A-D4BF-4F12-892A-B650AF4C423D}" type="pres">
      <dgm:prSet presAssocID="{88998327-4467-4074-B8FC-1B4675CD0F2F}" presName="parTx" presStyleLbl="revTx" presStyleIdx="1" presStyleCnt="5">
        <dgm:presLayoutVars>
          <dgm:chMax val="0"/>
          <dgm:chPref val="0"/>
        </dgm:presLayoutVars>
      </dgm:prSet>
      <dgm:spPr/>
    </dgm:pt>
    <dgm:pt modelId="{584E28F0-367A-404C-A476-34FFEB69CCDC}" type="pres">
      <dgm:prSet presAssocID="{39F6B669-D4EA-4AF2-8F45-69CC87B6CE25}" presName="sibTrans" presStyleCnt="0"/>
      <dgm:spPr/>
    </dgm:pt>
    <dgm:pt modelId="{D8DBC7C0-E33D-46E4-A1B2-DA4D9439E3F2}" type="pres">
      <dgm:prSet presAssocID="{C4DCAEDB-80A9-4F84-84D7-EDBC8AEB70F2}" presName="compNode" presStyleCnt="0"/>
      <dgm:spPr/>
    </dgm:pt>
    <dgm:pt modelId="{68C86A71-F008-45C7-8297-21587306DF05}" type="pres">
      <dgm:prSet presAssocID="{C4DCAEDB-80A9-4F84-84D7-EDBC8AEB70F2}" presName="bgRect" presStyleLbl="bgShp" presStyleIdx="2" presStyleCnt="5"/>
      <dgm:spPr/>
    </dgm:pt>
    <dgm:pt modelId="{05CD9A19-B85F-484A-9B19-84E9FF510FE6}" type="pres">
      <dgm:prSet presAssocID="{C4DCAEDB-80A9-4F84-84D7-EDBC8AEB70F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BAF7CC7-77E0-4A24-AB80-325DF8AB9AFA}" type="pres">
      <dgm:prSet presAssocID="{C4DCAEDB-80A9-4F84-84D7-EDBC8AEB70F2}" presName="spaceRect" presStyleCnt="0"/>
      <dgm:spPr/>
    </dgm:pt>
    <dgm:pt modelId="{B2D23889-0779-4429-901D-A336D6EEA398}" type="pres">
      <dgm:prSet presAssocID="{C4DCAEDB-80A9-4F84-84D7-EDBC8AEB70F2}" presName="parTx" presStyleLbl="revTx" presStyleIdx="2" presStyleCnt="5">
        <dgm:presLayoutVars>
          <dgm:chMax val="0"/>
          <dgm:chPref val="0"/>
        </dgm:presLayoutVars>
      </dgm:prSet>
      <dgm:spPr/>
    </dgm:pt>
    <dgm:pt modelId="{7D38F6C5-EC8D-474B-925F-2CF73C64769B}" type="pres">
      <dgm:prSet presAssocID="{70864262-E9C9-415F-8E61-00C23457CEAF}" presName="sibTrans" presStyleCnt="0"/>
      <dgm:spPr/>
    </dgm:pt>
    <dgm:pt modelId="{9186692B-15A0-4A09-B531-B3F452D4A687}" type="pres">
      <dgm:prSet presAssocID="{F5AF3C83-6981-456C-97B5-F21ED6685497}" presName="compNode" presStyleCnt="0"/>
      <dgm:spPr/>
    </dgm:pt>
    <dgm:pt modelId="{05439B26-D946-4A05-982E-72F5EA5115EA}" type="pres">
      <dgm:prSet presAssocID="{F5AF3C83-6981-456C-97B5-F21ED6685497}" presName="bgRect" presStyleLbl="bgShp" presStyleIdx="3" presStyleCnt="5"/>
      <dgm:spPr/>
    </dgm:pt>
    <dgm:pt modelId="{225A76B8-1A13-4EAE-A54B-C4BB03B65EAB}" type="pres">
      <dgm:prSet presAssocID="{F5AF3C83-6981-456C-97B5-F21ED668549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6646B27-F6DB-407A-B116-31CB2245703B}" type="pres">
      <dgm:prSet presAssocID="{F5AF3C83-6981-456C-97B5-F21ED6685497}" presName="spaceRect" presStyleCnt="0"/>
      <dgm:spPr/>
    </dgm:pt>
    <dgm:pt modelId="{7F156312-C003-4051-BA7F-2C14B436931B}" type="pres">
      <dgm:prSet presAssocID="{F5AF3C83-6981-456C-97B5-F21ED6685497}" presName="parTx" presStyleLbl="revTx" presStyleIdx="3" presStyleCnt="5">
        <dgm:presLayoutVars>
          <dgm:chMax val="0"/>
          <dgm:chPref val="0"/>
        </dgm:presLayoutVars>
      </dgm:prSet>
      <dgm:spPr/>
    </dgm:pt>
    <dgm:pt modelId="{39C66848-5C98-4B19-A48A-0CFA76B5EB87}" type="pres">
      <dgm:prSet presAssocID="{0DB125C0-DC10-4A78-939E-7B4DA9BAAE6D}" presName="sibTrans" presStyleCnt="0"/>
      <dgm:spPr/>
    </dgm:pt>
    <dgm:pt modelId="{6DFC2083-A51E-4FB2-9D8D-C5EFA60AF55E}" type="pres">
      <dgm:prSet presAssocID="{D97ADB67-F825-4079-9702-1DB24756F4D4}" presName="compNode" presStyleCnt="0"/>
      <dgm:spPr/>
    </dgm:pt>
    <dgm:pt modelId="{00AC5206-2F32-406D-A5F3-049BE2D6040E}" type="pres">
      <dgm:prSet presAssocID="{D97ADB67-F825-4079-9702-1DB24756F4D4}" presName="bgRect" presStyleLbl="bgShp" presStyleIdx="4" presStyleCnt="5"/>
      <dgm:spPr/>
    </dgm:pt>
    <dgm:pt modelId="{39A4C254-3D6C-499D-9BCF-2B0EB72B4348}" type="pres">
      <dgm:prSet presAssocID="{D97ADB67-F825-4079-9702-1DB24756F4D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9302D136-5BAF-4871-A8F2-2334E108392B}" type="pres">
      <dgm:prSet presAssocID="{D97ADB67-F825-4079-9702-1DB24756F4D4}" presName="spaceRect" presStyleCnt="0"/>
      <dgm:spPr/>
    </dgm:pt>
    <dgm:pt modelId="{0140A2AB-3B99-4CFB-BF3C-570A880D0F54}" type="pres">
      <dgm:prSet presAssocID="{D97ADB67-F825-4079-9702-1DB24756F4D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DB43105-4F41-441A-8AF8-5E3CD0CC7CD8}" type="presOf" srcId="{F5AF3C83-6981-456C-97B5-F21ED6685497}" destId="{7F156312-C003-4051-BA7F-2C14B436931B}" srcOrd="0" destOrd="0" presId="urn:microsoft.com/office/officeart/2018/2/layout/IconVerticalSolidList"/>
    <dgm:cxn modelId="{8987E51A-8C9C-4018-9847-C07494E1A8E5}" type="presOf" srcId="{D97ADB67-F825-4079-9702-1DB24756F4D4}" destId="{0140A2AB-3B99-4CFB-BF3C-570A880D0F54}" srcOrd="0" destOrd="0" presId="urn:microsoft.com/office/officeart/2018/2/layout/IconVerticalSolidList"/>
    <dgm:cxn modelId="{1E0AA31C-47C6-4492-B86B-60AD1B220EBC}" type="presOf" srcId="{88998327-4467-4074-B8FC-1B4675CD0F2F}" destId="{4E47420A-D4BF-4F12-892A-B650AF4C423D}" srcOrd="0" destOrd="0" presId="urn:microsoft.com/office/officeart/2018/2/layout/IconVerticalSolidList"/>
    <dgm:cxn modelId="{3B50A33C-5767-42B5-A91D-496DBD09AA95}" type="presOf" srcId="{D23C8454-7B03-42D8-99FB-3AF01C49D68D}" destId="{BAC47354-0162-4893-8C3E-429FD53F1814}" srcOrd="0" destOrd="0" presId="urn:microsoft.com/office/officeart/2018/2/layout/IconVerticalSolidList"/>
    <dgm:cxn modelId="{FF5E3E70-661C-4261-BBC9-F5298C08B13E}" srcId="{D23C8454-7B03-42D8-99FB-3AF01C49D68D}" destId="{F5AF3C83-6981-456C-97B5-F21ED6685497}" srcOrd="3" destOrd="0" parTransId="{3FACC61C-9991-4412-9327-3ACA79593F52}" sibTransId="{0DB125C0-DC10-4A78-939E-7B4DA9BAAE6D}"/>
    <dgm:cxn modelId="{74D65B50-D7A9-4D28-ACA6-0AC3382A22BF}" srcId="{D23C8454-7B03-42D8-99FB-3AF01C49D68D}" destId="{D97ADB67-F825-4079-9702-1DB24756F4D4}" srcOrd="4" destOrd="0" parTransId="{E61B6790-4BFE-46D2-8B81-B99913CFE2F6}" sibTransId="{313AD7D0-45CF-4F2A-965A-6977D9925DF4}"/>
    <dgm:cxn modelId="{F340EE92-326A-4ADE-ACD2-0FBCD25376A2}" srcId="{D23C8454-7B03-42D8-99FB-3AF01C49D68D}" destId="{01866130-A4D5-4E90-83BC-E751A5300E65}" srcOrd="0" destOrd="0" parTransId="{EEEE7F97-6D94-435E-9C82-48D207CE4E96}" sibTransId="{AA7BBE6A-A207-4496-B2D7-0FCEA55C01FA}"/>
    <dgm:cxn modelId="{5D776CB6-82BB-4670-8BE9-FCA68899C404}" type="presOf" srcId="{C4DCAEDB-80A9-4F84-84D7-EDBC8AEB70F2}" destId="{B2D23889-0779-4429-901D-A336D6EEA398}" srcOrd="0" destOrd="0" presId="urn:microsoft.com/office/officeart/2018/2/layout/IconVerticalSolidList"/>
    <dgm:cxn modelId="{B08F4EB7-B56C-416D-BF71-E1670BDA8A0A}" type="presOf" srcId="{01866130-A4D5-4E90-83BC-E751A5300E65}" destId="{5F2A5483-7EF9-4088-9D3D-68989BA86690}" srcOrd="0" destOrd="0" presId="urn:microsoft.com/office/officeart/2018/2/layout/IconVerticalSolidList"/>
    <dgm:cxn modelId="{789014DB-7625-4492-AB93-F7E1F289274B}" srcId="{D23C8454-7B03-42D8-99FB-3AF01C49D68D}" destId="{C4DCAEDB-80A9-4F84-84D7-EDBC8AEB70F2}" srcOrd="2" destOrd="0" parTransId="{9C1131ED-0927-4C9C-AA4D-1A35F1843AED}" sibTransId="{70864262-E9C9-415F-8E61-00C23457CEAF}"/>
    <dgm:cxn modelId="{940826ED-0222-4A76-B3EB-DD330D32CA2E}" srcId="{D23C8454-7B03-42D8-99FB-3AF01C49D68D}" destId="{88998327-4467-4074-B8FC-1B4675CD0F2F}" srcOrd="1" destOrd="0" parTransId="{81427099-B862-4704-B83C-465817B8ABE1}" sibTransId="{39F6B669-D4EA-4AF2-8F45-69CC87B6CE25}"/>
    <dgm:cxn modelId="{30BBC718-A9B8-47D4-A300-750F7AC995C0}" type="presParOf" srcId="{BAC47354-0162-4893-8C3E-429FD53F1814}" destId="{71B1722E-E372-4863-8C4B-0D82A5B2B1A4}" srcOrd="0" destOrd="0" presId="urn:microsoft.com/office/officeart/2018/2/layout/IconVerticalSolidList"/>
    <dgm:cxn modelId="{9C5EA1E9-06F7-4C12-A419-C702E21972B0}" type="presParOf" srcId="{71B1722E-E372-4863-8C4B-0D82A5B2B1A4}" destId="{39754A34-F7D8-48C4-857B-050CFBF1A711}" srcOrd="0" destOrd="0" presId="urn:microsoft.com/office/officeart/2018/2/layout/IconVerticalSolidList"/>
    <dgm:cxn modelId="{A6CDCF98-5B9A-462E-8014-9BC740651BD2}" type="presParOf" srcId="{71B1722E-E372-4863-8C4B-0D82A5B2B1A4}" destId="{F7FDAF03-40E0-4F95-A881-D857AC862CA2}" srcOrd="1" destOrd="0" presId="urn:microsoft.com/office/officeart/2018/2/layout/IconVerticalSolidList"/>
    <dgm:cxn modelId="{8F9831D4-A56B-4716-AF17-763367875346}" type="presParOf" srcId="{71B1722E-E372-4863-8C4B-0D82A5B2B1A4}" destId="{17F8F612-F96F-4089-BFD5-085DA49F9635}" srcOrd="2" destOrd="0" presId="urn:microsoft.com/office/officeart/2018/2/layout/IconVerticalSolidList"/>
    <dgm:cxn modelId="{261AD55A-AC25-4FE3-AF26-1AA2732940DD}" type="presParOf" srcId="{71B1722E-E372-4863-8C4B-0D82A5B2B1A4}" destId="{5F2A5483-7EF9-4088-9D3D-68989BA86690}" srcOrd="3" destOrd="0" presId="urn:microsoft.com/office/officeart/2018/2/layout/IconVerticalSolidList"/>
    <dgm:cxn modelId="{7930BC99-9476-4745-9349-8CE5D2478E6A}" type="presParOf" srcId="{BAC47354-0162-4893-8C3E-429FD53F1814}" destId="{4F2417CF-00B4-4B1C-9FBF-28ACB61E7702}" srcOrd="1" destOrd="0" presId="urn:microsoft.com/office/officeart/2018/2/layout/IconVerticalSolidList"/>
    <dgm:cxn modelId="{2BF8A2FE-4313-4ABD-86B9-E731CBA650C8}" type="presParOf" srcId="{BAC47354-0162-4893-8C3E-429FD53F1814}" destId="{CDBC3D6F-8CC8-4C00-B4B9-9BFAE48D7D1A}" srcOrd="2" destOrd="0" presId="urn:microsoft.com/office/officeart/2018/2/layout/IconVerticalSolidList"/>
    <dgm:cxn modelId="{B4DC1EEB-D231-4714-94A6-69DEF16A607E}" type="presParOf" srcId="{CDBC3D6F-8CC8-4C00-B4B9-9BFAE48D7D1A}" destId="{E4834818-5792-4E97-8590-E934C765ADA5}" srcOrd="0" destOrd="0" presId="urn:microsoft.com/office/officeart/2018/2/layout/IconVerticalSolidList"/>
    <dgm:cxn modelId="{38268EB2-EB10-4F45-AF8D-DDFF9AB86FFE}" type="presParOf" srcId="{CDBC3D6F-8CC8-4C00-B4B9-9BFAE48D7D1A}" destId="{526C6869-49D6-4C48-B3EF-8D84EE1E65E2}" srcOrd="1" destOrd="0" presId="urn:microsoft.com/office/officeart/2018/2/layout/IconVerticalSolidList"/>
    <dgm:cxn modelId="{F05EAF9F-8F40-484E-A642-9A5B1AC9E7B3}" type="presParOf" srcId="{CDBC3D6F-8CC8-4C00-B4B9-9BFAE48D7D1A}" destId="{C1C992AD-C716-4723-8822-E21FDAF757C1}" srcOrd="2" destOrd="0" presId="urn:microsoft.com/office/officeart/2018/2/layout/IconVerticalSolidList"/>
    <dgm:cxn modelId="{AE59DEAD-C28C-4A60-A012-251234DE1853}" type="presParOf" srcId="{CDBC3D6F-8CC8-4C00-B4B9-9BFAE48D7D1A}" destId="{4E47420A-D4BF-4F12-892A-B650AF4C423D}" srcOrd="3" destOrd="0" presId="urn:microsoft.com/office/officeart/2018/2/layout/IconVerticalSolidList"/>
    <dgm:cxn modelId="{4840072D-D196-4043-B559-E2DBF85E9F1A}" type="presParOf" srcId="{BAC47354-0162-4893-8C3E-429FD53F1814}" destId="{584E28F0-367A-404C-A476-34FFEB69CCDC}" srcOrd="3" destOrd="0" presId="urn:microsoft.com/office/officeart/2018/2/layout/IconVerticalSolidList"/>
    <dgm:cxn modelId="{D824F802-337B-46F4-AEF3-A8F3C0ED6D1B}" type="presParOf" srcId="{BAC47354-0162-4893-8C3E-429FD53F1814}" destId="{D8DBC7C0-E33D-46E4-A1B2-DA4D9439E3F2}" srcOrd="4" destOrd="0" presId="urn:microsoft.com/office/officeart/2018/2/layout/IconVerticalSolidList"/>
    <dgm:cxn modelId="{42B82AAC-F511-494F-A617-CD552BEB89CF}" type="presParOf" srcId="{D8DBC7C0-E33D-46E4-A1B2-DA4D9439E3F2}" destId="{68C86A71-F008-45C7-8297-21587306DF05}" srcOrd="0" destOrd="0" presId="urn:microsoft.com/office/officeart/2018/2/layout/IconVerticalSolidList"/>
    <dgm:cxn modelId="{9C1CEED4-23AA-4499-9899-3DEC07282108}" type="presParOf" srcId="{D8DBC7C0-E33D-46E4-A1B2-DA4D9439E3F2}" destId="{05CD9A19-B85F-484A-9B19-84E9FF510FE6}" srcOrd="1" destOrd="0" presId="urn:microsoft.com/office/officeart/2018/2/layout/IconVerticalSolidList"/>
    <dgm:cxn modelId="{02856A61-D3F2-4D57-A5E5-3CB903F0C3D6}" type="presParOf" srcId="{D8DBC7C0-E33D-46E4-A1B2-DA4D9439E3F2}" destId="{8BAF7CC7-77E0-4A24-AB80-325DF8AB9AFA}" srcOrd="2" destOrd="0" presId="urn:microsoft.com/office/officeart/2018/2/layout/IconVerticalSolidList"/>
    <dgm:cxn modelId="{80A59BD1-360B-4E77-99FA-0150A914C0CB}" type="presParOf" srcId="{D8DBC7C0-E33D-46E4-A1B2-DA4D9439E3F2}" destId="{B2D23889-0779-4429-901D-A336D6EEA398}" srcOrd="3" destOrd="0" presId="urn:microsoft.com/office/officeart/2018/2/layout/IconVerticalSolidList"/>
    <dgm:cxn modelId="{4779003F-C609-4B50-80D9-1F1CE8736E60}" type="presParOf" srcId="{BAC47354-0162-4893-8C3E-429FD53F1814}" destId="{7D38F6C5-EC8D-474B-925F-2CF73C64769B}" srcOrd="5" destOrd="0" presId="urn:microsoft.com/office/officeart/2018/2/layout/IconVerticalSolidList"/>
    <dgm:cxn modelId="{DB13691A-B749-4200-AB57-B7107463050D}" type="presParOf" srcId="{BAC47354-0162-4893-8C3E-429FD53F1814}" destId="{9186692B-15A0-4A09-B531-B3F452D4A687}" srcOrd="6" destOrd="0" presId="urn:microsoft.com/office/officeart/2018/2/layout/IconVerticalSolidList"/>
    <dgm:cxn modelId="{6B3FB856-8F3B-40A3-B627-1D0AB696A5CE}" type="presParOf" srcId="{9186692B-15A0-4A09-B531-B3F452D4A687}" destId="{05439B26-D946-4A05-982E-72F5EA5115EA}" srcOrd="0" destOrd="0" presId="urn:microsoft.com/office/officeart/2018/2/layout/IconVerticalSolidList"/>
    <dgm:cxn modelId="{071FF38C-758C-4F8C-BFD5-4EFCCCC5C421}" type="presParOf" srcId="{9186692B-15A0-4A09-B531-B3F452D4A687}" destId="{225A76B8-1A13-4EAE-A54B-C4BB03B65EAB}" srcOrd="1" destOrd="0" presId="urn:microsoft.com/office/officeart/2018/2/layout/IconVerticalSolidList"/>
    <dgm:cxn modelId="{7799C6D0-C56B-4BB1-A33E-47851F70030C}" type="presParOf" srcId="{9186692B-15A0-4A09-B531-B3F452D4A687}" destId="{E6646B27-F6DB-407A-B116-31CB2245703B}" srcOrd="2" destOrd="0" presId="urn:microsoft.com/office/officeart/2018/2/layout/IconVerticalSolidList"/>
    <dgm:cxn modelId="{40259737-51D4-4FE0-984D-A9AE6EA3C81A}" type="presParOf" srcId="{9186692B-15A0-4A09-B531-B3F452D4A687}" destId="{7F156312-C003-4051-BA7F-2C14B436931B}" srcOrd="3" destOrd="0" presId="urn:microsoft.com/office/officeart/2018/2/layout/IconVerticalSolidList"/>
    <dgm:cxn modelId="{EFC1127D-121A-487C-A2B4-12361994211A}" type="presParOf" srcId="{BAC47354-0162-4893-8C3E-429FD53F1814}" destId="{39C66848-5C98-4B19-A48A-0CFA76B5EB87}" srcOrd="7" destOrd="0" presId="urn:microsoft.com/office/officeart/2018/2/layout/IconVerticalSolidList"/>
    <dgm:cxn modelId="{1E27EAE6-7F77-4F53-8763-D8B59EDF6826}" type="presParOf" srcId="{BAC47354-0162-4893-8C3E-429FD53F1814}" destId="{6DFC2083-A51E-4FB2-9D8D-C5EFA60AF55E}" srcOrd="8" destOrd="0" presId="urn:microsoft.com/office/officeart/2018/2/layout/IconVerticalSolidList"/>
    <dgm:cxn modelId="{E3E7CE6E-BB65-4C39-8E72-383EF9635CF4}" type="presParOf" srcId="{6DFC2083-A51E-4FB2-9D8D-C5EFA60AF55E}" destId="{00AC5206-2F32-406D-A5F3-049BE2D6040E}" srcOrd="0" destOrd="0" presId="urn:microsoft.com/office/officeart/2018/2/layout/IconVerticalSolidList"/>
    <dgm:cxn modelId="{D170F256-B29B-4172-A318-9861FEFF594C}" type="presParOf" srcId="{6DFC2083-A51E-4FB2-9D8D-C5EFA60AF55E}" destId="{39A4C254-3D6C-499D-9BCF-2B0EB72B4348}" srcOrd="1" destOrd="0" presId="urn:microsoft.com/office/officeart/2018/2/layout/IconVerticalSolidList"/>
    <dgm:cxn modelId="{86DA429B-6A89-4A76-A403-BF4CD96675CF}" type="presParOf" srcId="{6DFC2083-A51E-4FB2-9D8D-C5EFA60AF55E}" destId="{9302D136-5BAF-4871-A8F2-2334E108392B}" srcOrd="2" destOrd="0" presId="urn:microsoft.com/office/officeart/2018/2/layout/IconVerticalSolidList"/>
    <dgm:cxn modelId="{CCBF8A4F-9660-4AA8-AFB9-B57DCDEBD720}" type="presParOf" srcId="{6DFC2083-A51E-4FB2-9D8D-C5EFA60AF55E}" destId="{0140A2AB-3B99-4CFB-BF3C-570A880D0F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754A34-F7D8-48C4-857B-050CFBF1A711}">
      <dsp:nvSpPr>
        <dsp:cNvPr id="0" name=""/>
        <dsp:cNvSpPr/>
      </dsp:nvSpPr>
      <dsp:spPr>
        <a:xfrm>
          <a:off x="0" y="4048"/>
          <a:ext cx="11684000" cy="862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DAF03-40E0-4F95-A881-D857AC862CA2}">
      <dsp:nvSpPr>
        <dsp:cNvPr id="0" name=""/>
        <dsp:cNvSpPr/>
      </dsp:nvSpPr>
      <dsp:spPr>
        <a:xfrm>
          <a:off x="260830" y="198054"/>
          <a:ext cx="474237" cy="474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A5483-7EF9-4088-9D3D-68989BA86690}">
      <dsp:nvSpPr>
        <dsp:cNvPr id="0" name=""/>
        <dsp:cNvSpPr/>
      </dsp:nvSpPr>
      <dsp:spPr>
        <a:xfrm>
          <a:off x="995899" y="4048"/>
          <a:ext cx="10688100" cy="8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55" tIns="91255" rIns="91255" bIns="912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 implement intelligent algorithms that provide personalized job-candidate matching based on a comprehensive skill assessment.</a:t>
          </a:r>
        </a:p>
      </dsp:txBody>
      <dsp:txXfrm>
        <a:off x="995899" y="4048"/>
        <a:ext cx="10688100" cy="862250"/>
      </dsp:txXfrm>
    </dsp:sp>
    <dsp:sp modelId="{E4834818-5792-4E97-8590-E934C765ADA5}">
      <dsp:nvSpPr>
        <dsp:cNvPr id="0" name=""/>
        <dsp:cNvSpPr/>
      </dsp:nvSpPr>
      <dsp:spPr>
        <a:xfrm>
          <a:off x="0" y="1081861"/>
          <a:ext cx="11684000" cy="862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C6869-49D6-4C48-B3EF-8D84EE1E65E2}">
      <dsp:nvSpPr>
        <dsp:cNvPr id="0" name=""/>
        <dsp:cNvSpPr/>
      </dsp:nvSpPr>
      <dsp:spPr>
        <a:xfrm>
          <a:off x="260830" y="1275867"/>
          <a:ext cx="474237" cy="474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7420A-D4BF-4F12-892A-B650AF4C423D}">
      <dsp:nvSpPr>
        <dsp:cNvPr id="0" name=""/>
        <dsp:cNvSpPr/>
      </dsp:nvSpPr>
      <dsp:spPr>
        <a:xfrm>
          <a:off x="995899" y="1081861"/>
          <a:ext cx="10688100" cy="8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55" tIns="91255" rIns="91255" bIns="912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Detection of confident level by voice tone</a:t>
          </a:r>
        </a:p>
      </dsp:txBody>
      <dsp:txXfrm>
        <a:off x="995899" y="1081861"/>
        <a:ext cx="10688100" cy="862250"/>
      </dsp:txXfrm>
    </dsp:sp>
    <dsp:sp modelId="{68C86A71-F008-45C7-8297-21587306DF05}">
      <dsp:nvSpPr>
        <dsp:cNvPr id="0" name=""/>
        <dsp:cNvSpPr/>
      </dsp:nvSpPr>
      <dsp:spPr>
        <a:xfrm>
          <a:off x="0" y="2159674"/>
          <a:ext cx="11684000" cy="862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D9A19-B85F-484A-9B19-84E9FF510FE6}">
      <dsp:nvSpPr>
        <dsp:cNvPr id="0" name=""/>
        <dsp:cNvSpPr/>
      </dsp:nvSpPr>
      <dsp:spPr>
        <a:xfrm>
          <a:off x="260830" y="2353681"/>
          <a:ext cx="474237" cy="474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23889-0779-4429-901D-A336D6EEA398}">
      <dsp:nvSpPr>
        <dsp:cNvPr id="0" name=""/>
        <dsp:cNvSpPr/>
      </dsp:nvSpPr>
      <dsp:spPr>
        <a:xfrm>
          <a:off x="995899" y="2159674"/>
          <a:ext cx="10688100" cy="8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55" tIns="91255" rIns="91255" bIns="912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Detection of stress by facial expressions</a:t>
          </a:r>
        </a:p>
      </dsp:txBody>
      <dsp:txXfrm>
        <a:off x="995899" y="2159674"/>
        <a:ext cx="10688100" cy="862250"/>
      </dsp:txXfrm>
    </dsp:sp>
    <dsp:sp modelId="{05439B26-D946-4A05-982E-72F5EA5115EA}">
      <dsp:nvSpPr>
        <dsp:cNvPr id="0" name=""/>
        <dsp:cNvSpPr/>
      </dsp:nvSpPr>
      <dsp:spPr>
        <a:xfrm>
          <a:off x="0" y="3237487"/>
          <a:ext cx="11684000" cy="862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A76B8-1A13-4EAE-A54B-C4BB03B65EAB}">
      <dsp:nvSpPr>
        <dsp:cNvPr id="0" name=""/>
        <dsp:cNvSpPr/>
      </dsp:nvSpPr>
      <dsp:spPr>
        <a:xfrm>
          <a:off x="260830" y="3431494"/>
          <a:ext cx="474237" cy="474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56312-C003-4051-BA7F-2C14B436931B}">
      <dsp:nvSpPr>
        <dsp:cNvPr id="0" name=""/>
        <dsp:cNvSpPr/>
      </dsp:nvSpPr>
      <dsp:spPr>
        <a:xfrm>
          <a:off x="995899" y="3237487"/>
          <a:ext cx="10688100" cy="8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55" tIns="91255" rIns="91255" bIns="912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Detection of decision making skill by text analysis</a:t>
          </a:r>
        </a:p>
      </dsp:txBody>
      <dsp:txXfrm>
        <a:off x="995899" y="3237487"/>
        <a:ext cx="10688100" cy="862250"/>
      </dsp:txXfrm>
    </dsp:sp>
    <dsp:sp modelId="{00AC5206-2F32-406D-A5F3-049BE2D6040E}">
      <dsp:nvSpPr>
        <dsp:cNvPr id="0" name=""/>
        <dsp:cNvSpPr/>
      </dsp:nvSpPr>
      <dsp:spPr>
        <a:xfrm>
          <a:off x="0" y="4315301"/>
          <a:ext cx="11684000" cy="862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4C254-3D6C-499D-9BCF-2B0EB72B4348}">
      <dsp:nvSpPr>
        <dsp:cNvPr id="0" name=""/>
        <dsp:cNvSpPr/>
      </dsp:nvSpPr>
      <dsp:spPr>
        <a:xfrm>
          <a:off x="260830" y="4509307"/>
          <a:ext cx="474237" cy="4742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0A2AB-3B99-4CFB-BF3C-570A880D0F54}">
      <dsp:nvSpPr>
        <dsp:cNvPr id="0" name=""/>
        <dsp:cNvSpPr/>
      </dsp:nvSpPr>
      <dsp:spPr>
        <a:xfrm>
          <a:off x="995899" y="4315301"/>
          <a:ext cx="10688100" cy="8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55" tIns="91255" rIns="91255" bIns="912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Detection of engagement with their works</a:t>
          </a:r>
        </a:p>
      </dsp:txBody>
      <dsp:txXfrm>
        <a:off x="995899" y="4315301"/>
        <a:ext cx="10688100" cy="862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4/3/2025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437/Interspeech.2016-1426" TargetMode="External"/><Relationship Id="rId2" Type="http://schemas.openxmlformats.org/officeDocument/2006/relationships/hyperlink" Target="https://doi.org/10.1145/1873951.1874246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007/s12559-018-9522-2" TargetMode="External"/><Relationship Id="rId4" Type="http://schemas.openxmlformats.org/officeDocument/2006/relationships/hyperlink" Target="http://www.praat.or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4.png"/><Relationship Id="rId7" Type="http://schemas.openxmlformats.org/officeDocument/2006/relationships/image" Target="../media/image29.jpeg"/><Relationship Id="rId12" Type="http://schemas.openxmlformats.org/officeDocument/2006/relationships/image" Target="../media/image39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8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neuroscience/articles/10.3389/fnins.2022.947168/full" TargetMode="External"/><Relationship Id="rId2" Type="http://schemas.openxmlformats.org/officeDocument/2006/relationships/hyperlink" Target="https://ijarcce.com/papers/real-time-stress-detection-and-analysis-using-facial-emotion-recognition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l.acm.org/doi/10.1145/3639709" TargetMode="External"/><Relationship Id="rId4" Type="http://schemas.openxmlformats.org/officeDocument/2006/relationships/hyperlink" Target="https://www.ncbi.nlm.nih.gov/pmc/articles/PMC10004542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47.png"/><Relationship Id="rId3" Type="http://schemas.openxmlformats.org/officeDocument/2006/relationships/image" Target="../media/image24.png"/><Relationship Id="rId7" Type="http://schemas.openxmlformats.org/officeDocument/2006/relationships/image" Target="../media/image29.jpeg"/><Relationship Id="rId12" Type="http://schemas.openxmlformats.org/officeDocument/2006/relationships/image" Target="../media/image46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8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" TargetMode="External"/><Relationship Id="rId2" Type="http://schemas.openxmlformats.org/officeDocument/2006/relationships/hyperlink" Target="https://arxiv.org/abs/2006.07909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080/10447318.2021.1980763" TargetMode="External"/><Relationship Id="rId4" Type="http://schemas.openxmlformats.org/officeDocument/2006/relationships/hyperlink" Target="https://doi.org/10.1109/ICICS60529.2023.10330488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" TargetMode="External"/><Relationship Id="rId2" Type="http://schemas.openxmlformats.org/officeDocument/2006/relationships/hyperlink" Target="https://arxiv.org/abs/2006.07909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academia.edu/96376169" TargetMode="External"/><Relationship Id="rId4" Type="http://schemas.openxmlformats.org/officeDocument/2006/relationships/hyperlink" Target="https://www.researchgate.net/publication/376215963_New_User_Engagement_Prediction_Using_Machine_Learning_Algorithms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sambare/fer2013" TargetMode="External"/><Relationship Id="rId2" Type="http://schemas.openxmlformats.org/officeDocument/2006/relationships/hyperlink" Target="https://www.kaggle.com/datasets/swarupakulkarni/voice-based-confidence-recognizer?utm_source=chatgpt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aperswithcode.com/dataset/im-sportingbehaviors" TargetMode="External"/><Relationship Id="rId5" Type="http://schemas.openxmlformats.org/officeDocument/2006/relationships/hyperlink" Target="https://www.selectdataset.com/dataset/c5a2fbdb76db33f357c4f05a3f58a0fc" TargetMode="External"/><Relationship Id="rId4" Type="http://schemas.openxmlformats.org/officeDocument/2006/relationships/hyperlink" Target="https://groups.inf.ed.ac.uk/ami/download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9467" y="2438400"/>
            <a:ext cx="4724400" cy="1470025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</a:rPr>
              <a:t>AI Based Candidates Recommending System For a Company Vacancy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403A85-23EA-548A-85CD-0D092C25B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95400"/>
            <a:ext cx="5867400" cy="440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7B5D83-57AD-680B-A07A-24F340C0E3DF}"/>
              </a:ext>
            </a:extLst>
          </p:cNvPr>
          <p:cNvSpPr txBox="1"/>
          <p:nvPr/>
        </p:nvSpPr>
        <p:spPr>
          <a:xfrm>
            <a:off x="8305800" y="5040654"/>
            <a:ext cx="210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effectLst/>
              </a:rPr>
              <a:t>Group ID : R25-040</a:t>
            </a:r>
            <a:endParaRPr lang="en-US" dirty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F2AC-96CE-00EB-8EC6-B2C891E6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Team Members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F31534-A55C-9A79-C269-A73E832F0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853748"/>
              </p:ext>
            </p:extLst>
          </p:nvPr>
        </p:nvGraphicFramePr>
        <p:xfrm>
          <a:off x="1676400" y="1600200"/>
          <a:ext cx="8153400" cy="419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1606203176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136093410"/>
                    </a:ext>
                  </a:extLst>
                </a:gridCol>
              </a:tblGrid>
              <a:tr h="45998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Group ID          - 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R25-040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22122"/>
                  </a:ext>
                </a:extLst>
              </a:tr>
              <a:tr h="4663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Supervisor                 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dirty="0"/>
                        <a:t>-  </a:t>
                      </a:r>
                      <a:r>
                        <a:rPr lang="en-US" dirty="0"/>
                        <a:t>Prof. Samantha </a:t>
                      </a:r>
                      <a:r>
                        <a:rPr lang="en-US" dirty="0" err="1"/>
                        <a:t>Thelijjagoda</a:t>
                      </a:r>
                      <a:r>
                        <a:rPr lang="en-US" sz="1800" b="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19713"/>
                  </a:ext>
                </a:extLst>
              </a:tr>
              <a:tr h="4663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Co-supervisor            -  </a:t>
                      </a:r>
                      <a:r>
                        <a:rPr lang="en-US" dirty="0"/>
                        <a:t>Ms. Poorna </a:t>
                      </a:r>
                      <a:r>
                        <a:rPr lang="en-US" dirty="0" err="1"/>
                        <a:t>Panduwawala</a:t>
                      </a:r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455598"/>
                  </a:ext>
                </a:extLst>
              </a:tr>
              <a:tr h="4663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External-supervisor  -  </a:t>
                      </a:r>
                      <a:r>
                        <a:rPr lang="en-US" dirty="0"/>
                        <a:t>Prof. </a:t>
                      </a:r>
                      <a:r>
                        <a:rPr lang="en-US" dirty="0" err="1"/>
                        <a:t>Nishantha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Giguruwa</a:t>
                      </a:r>
                      <a:r>
                        <a:rPr lang="en-US" dirty="0"/>
                        <a:t> </a:t>
                      </a:r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69568"/>
                  </a:ext>
                </a:extLst>
              </a:tr>
              <a:tr h="46637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4605"/>
                  </a:ext>
                </a:extLst>
              </a:tr>
              <a:tr h="4663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K.T.A.D.K </a:t>
                      </a:r>
                      <a:r>
                        <a:rPr lang="en-US" dirty="0" err="1"/>
                        <a:t>Kasthurirathna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IT21815614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25210"/>
                  </a:ext>
                </a:extLst>
              </a:tr>
              <a:tr h="4663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R.S.K. De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IT21834424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090108"/>
                  </a:ext>
                </a:extLst>
              </a:tr>
              <a:tr h="4663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B.D.A.M Kumara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IT21819810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387177"/>
                  </a:ext>
                </a:extLst>
              </a:tr>
              <a:tr h="4663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S.U.D.A Gunasekara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IT21838620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341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2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5693-8B30-959F-7106-51DA7A90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3552-C80E-1620-A5E8-CCC2C29E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In today's competitive job market, finding the right candidate goes beyond just evaluating resumes. Traditional hiring methods often fail to capture crucial soft skills such as confident, stress level, decision-making abilities, and engagement, which are essential for job success. Innovative solutions that ensure a more efficient, unbiased, and effective hiring process are essential to identify candidates who truly align with their organizational needs and culture. </a:t>
            </a:r>
            <a:endParaRPr lang="en-US" sz="3200" dirty="0">
              <a:latin typeface="Calibri"/>
              <a:ea typeface="Cambri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33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20F1-1E04-0B24-AE7C-ED2FE950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Problem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493D86-F3F7-CF81-6A0A-7506C1B97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>
            <a:normAutofit/>
          </a:bodyPr>
          <a:lstStyle/>
          <a:p>
            <a:r>
              <a:rPr lang="en-US" dirty="0"/>
              <a:t>How can we go beyond the traditional method of candidate selection for a company vacancy, which often fail to assess critical soft skills?</a:t>
            </a:r>
          </a:p>
          <a:p>
            <a:r>
              <a:rPr lang="en-US" dirty="0"/>
              <a:t>The limitation results in mismatches between job roles and candidates, leading to increased turnover rates and inefficiencies in the hiring process.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Research Problem Identification and Formulation |Research Methods">
            <a:extLst>
              <a:ext uri="{FF2B5EF4-FFF2-40B4-BE49-F238E27FC236}">
                <a16:creationId xmlns:a16="http://schemas.microsoft.com/office/drawing/2014/main" id="{ED5CD71F-A64D-9EC7-BAA3-91600B6E2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199" y="3415000"/>
            <a:ext cx="4169071" cy="340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8B48-D18E-400D-EC92-8C6C0E21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Objectives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485F1CE-3AC6-B988-DC21-808A2B7C88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710886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097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1ADD-A21C-0C75-2468-F69693A3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</a:rPr>
              <a:t>Overall System Diagram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588F868-DE37-EB0D-BB03-BAF668B81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90600"/>
            <a:ext cx="9982199" cy="5562600"/>
          </a:xfrm>
        </p:spPr>
      </p:pic>
    </p:spTree>
    <p:extLst>
      <p:ext uri="{BB962C8B-B14F-4D97-AF65-F5344CB8AC3E}">
        <p14:creationId xmlns:p14="http://schemas.microsoft.com/office/powerpoint/2010/main" val="404897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Bachelor of Science (Hons) in Information Technology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Specializing in Information Technology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9218336-BA3E-4B51-01DF-798099A92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7962"/>
            <a:ext cx="10363200" cy="1362075"/>
          </a:xfrm>
        </p:spPr>
        <p:txBody>
          <a:bodyPr/>
          <a:lstStyle/>
          <a:p>
            <a:r>
              <a:rPr lang="en-US" dirty="0"/>
              <a:t>IT21834424 | De Silva R.S.K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6C46B-9E18-6AD4-7086-D750BE7ECA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5" t="4493" r="11983" b="14616"/>
          <a:stretch/>
        </p:blipFill>
        <p:spPr>
          <a:xfrm>
            <a:off x="10018299" y="76200"/>
            <a:ext cx="2126567" cy="283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EE0D-C9DA-13F2-0A91-E001EC9F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04A6A-3EEE-C438-6C4C-73E1829AE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it important to objectively assess a candidate’s confident level during the hiring process?</a:t>
            </a:r>
          </a:p>
          <a:p>
            <a:r>
              <a:rPr lang="en-US" dirty="0"/>
              <a:t>How can speech and tone analysis improve the accuracy and fairness of candidate evaluations compared to traditional interview methods?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4B5A41-962E-4B3C-1BFC-23EFC7F6034B}"/>
              </a:ext>
            </a:extLst>
          </p:cNvPr>
          <p:cNvSpPr/>
          <p:nvPr/>
        </p:nvSpPr>
        <p:spPr>
          <a:xfrm>
            <a:off x="2632435" y="6477000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25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8414-A86A-697F-BFC2-573796CA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8687-3D61-3148-64F6-F3A15236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speech and tone analysis be effectively utilized to predict a candidate's confidence level during an interview?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A558F-C001-9BD5-4B65-C0F15C48FCB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80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7CCD-C75E-2F1E-CAA6-44853DC1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FF750-9E32-4167-6059-EB5AA665CF6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786A35-A7C6-A400-9E67-F9A40E375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293" y="1487229"/>
            <a:ext cx="9285013" cy="4493141"/>
          </a:xfrm>
        </p:spPr>
      </p:pic>
      <p:pic>
        <p:nvPicPr>
          <p:cNvPr id="6" name="Picture 5" descr="A red x on a black background">
            <a:extLst>
              <a:ext uri="{FF2B5EF4-FFF2-40B4-BE49-F238E27FC236}">
                <a16:creationId xmlns:a16="http://schemas.microsoft.com/office/drawing/2014/main" id="{85C87123-6E50-D59E-0F43-4405BC2D7A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837" y="3306614"/>
            <a:ext cx="762000" cy="762000"/>
          </a:xfrm>
          <a:prstGeom prst="rect">
            <a:avLst/>
          </a:prstGeom>
        </p:spPr>
      </p:pic>
      <p:pic>
        <p:nvPicPr>
          <p:cNvPr id="7" name="Picture 6" descr="A red x on a black background">
            <a:extLst>
              <a:ext uri="{FF2B5EF4-FFF2-40B4-BE49-F238E27FC236}">
                <a16:creationId xmlns:a16="http://schemas.microsoft.com/office/drawing/2014/main" id="{A5203453-34AC-8CE7-A239-FE52983D0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411" y="2624869"/>
            <a:ext cx="762000" cy="762000"/>
          </a:xfrm>
          <a:prstGeom prst="rect">
            <a:avLst/>
          </a:prstGeom>
        </p:spPr>
      </p:pic>
      <p:pic>
        <p:nvPicPr>
          <p:cNvPr id="9" name="Picture 8" descr="A red x on a black background">
            <a:extLst>
              <a:ext uri="{FF2B5EF4-FFF2-40B4-BE49-F238E27FC236}">
                <a16:creationId xmlns:a16="http://schemas.microsoft.com/office/drawing/2014/main" id="{19927F7F-39B4-1F89-D923-A2192CC6C0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604" y="2616388"/>
            <a:ext cx="762000" cy="762000"/>
          </a:xfrm>
          <a:prstGeom prst="rect">
            <a:avLst/>
          </a:prstGeom>
        </p:spPr>
      </p:pic>
      <p:pic>
        <p:nvPicPr>
          <p:cNvPr id="10" name="Picture 9" descr="A red x on a black background">
            <a:extLst>
              <a:ext uri="{FF2B5EF4-FFF2-40B4-BE49-F238E27FC236}">
                <a16:creationId xmlns:a16="http://schemas.microsoft.com/office/drawing/2014/main" id="{FA2A1EE0-D379-FDD6-74F4-27FB3C9FF0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99" y="2627571"/>
            <a:ext cx="762000" cy="762000"/>
          </a:xfrm>
          <a:prstGeom prst="rect">
            <a:avLst/>
          </a:prstGeom>
        </p:spPr>
      </p:pic>
      <p:pic>
        <p:nvPicPr>
          <p:cNvPr id="11" name="Picture 10" descr="A red x on a black background">
            <a:extLst>
              <a:ext uri="{FF2B5EF4-FFF2-40B4-BE49-F238E27FC236}">
                <a16:creationId xmlns:a16="http://schemas.microsoft.com/office/drawing/2014/main" id="{8192BDC1-AD9E-37AC-D870-6B8261A402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531" y="3306614"/>
            <a:ext cx="762000" cy="762000"/>
          </a:xfrm>
          <a:prstGeom prst="rect">
            <a:avLst/>
          </a:prstGeom>
        </p:spPr>
      </p:pic>
      <p:pic>
        <p:nvPicPr>
          <p:cNvPr id="12" name="Picture 11" descr="A red x on a black background">
            <a:extLst>
              <a:ext uri="{FF2B5EF4-FFF2-40B4-BE49-F238E27FC236}">
                <a16:creationId xmlns:a16="http://schemas.microsoft.com/office/drawing/2014/main" id="{046827EA-846A-A7A9-CD95-A2404872F9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897" y="3893093"/>
            <a:ext cx="762000" cy="762000"/>
          </a:xfrm>
          <a:prstGeom prst="rect">
            <a:avLst/>
          </a:prstGeom>
        </p:spPr>
      </p:pic>
      <p:pic>
        <p:nvPicPr>
          <p:cNvPr id="13" name="Picture 12" descr="A red x on a black background">
            <a:extLst>
              <a:ext uri="{FF2B5EF4-FFF2-40B4-BE49-F238E27FC236}">
                <a16:creationId xmlns:a16="http://schemas.microsoft.com/office/drawing/2014/main" id="{23E1FAEE-3517-0714-0E84-0653969A5D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934" y="4533447"/>
            <a:ext cx="762000" cy="762000"/>
          </a:xfrm>
          <a:prstGeom prst="rect">
            <a:avLst/>
          </a:prstGeom>
        </p:spPr>
      </p:pic>
      <p:pic>
        <p:nvPicPr>
          <p:cNvPr id="14" name="Picture 13" descr="A red x on a black background">
            <a:extLst>
              <a:ext uri="{FF2B5EF4-FFF2-40B4-BE49-F238E27FC236}">
                <a16:creationId xmlns:a16="http://schemas.microsoft.com/office/drawing/2014/main" id="{65BF0D74-71A2-077B-33CA-EBA420F0BE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871" y="4573481"/>
            <a:ext cx="762000" cy="762000"/>
          </a:xfrm>
          <a:prstGeom prst="rect">
            <a:avLst/>
          </a:prstGeom>
        </p:spPr>
      </p:pic>
      <p:pic>
        <p:nvPicPr>
          <p:cNvPr id="15" name="Picture 14" descr="A red x on a black background">
            <a:extLst>
              <a:ext uri="{FF2B5EF4-FFF2-40B4-BE49-F238E27FC236}">
                <a16:creationId xmlns:a16="http://schemas.microsoft.com/office/drawing/2014/main" id="{7D7D375D-CC91-B25F-054F-E58F1B18E2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455" y="5218370"/>
            <a:ext cx="762000" cy="762000"/>
          </a:xfrm>
          <a:prstGeom prst="rect">
            <a:avLst/>
          </a:prstGeom>
        </p:spPr>
      </p:pic>
      <p:pic>
        <p:nvPicPr>
          <p:cNvPr id="16" name="Picture 15" descr="A red x on a black background">
            <a:extLst>
              <a:ext uri="{FF2B5EF4-FFF2-40B4-BE49-F238E27FC236}">
                <a16:creationId xmlns:a16="http://schemas.microsoft.com/office/drawing/2014/main" id="{3C627105-1184-C8DE-F1A4-BE1F44F3EE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99" y="5218370"/>
            <a:ext cx="762000" cy="762000"/>
          </a:xfrm>
          <a:prstGeom prst="rect">
            <a:avLst/>
          </a:prstGeom>
        </p:spPr>
      </p:pic>
      <p:pic>
        <p:nvPicPr>
          <p:cNvPr id="17" name="Picture 16" descr="A red x on a black background">
            <a:extLst>
              <a:ext uri="{FF2B5EF4-FFF2-40B4-BE49-F238E27FC236}">
                <a16:creationId xmlns:a16="http://schemas.microsoft.com/office/drawing/2014/main" id="{9CEE9737-F1D1-C385-8CDD-028565EBA7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780" y="5218370"/>
            <a:ext cx="762000" cy="762000"/>
          </a:xfrm>
          <a:prstGeom prst="rect">
            <a:avLst/>
          </a:prstGeom>
        </p:spPr>
      </p:pic>
      <p:pic>
        <p:nvPicPr>
          <p:cNvPr id="18" name="Picture 17" descr="A red x on a black background">
            <a:extLst>
              <a:ext uri="{FF2B5EF4-FFF2-40B4-BE49-F238E27FC236}">
                <a16:creationId xmlns:a16="http://schemas.microsoft.com/office/drawing/2014/main" id="{DDE03619-E7A5-D415-6BA0-61B8DF4223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606" y="1099072"/>
            <a:ext cx="378171" cy="378171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0954C979-2370-C15C-F5F8-459F7DE2D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149" y="543928"/>
            <a:ext cx="47554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Addressed by the research paper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Not addressed by the research paper </a:t>
            </a:r>
          </a:p>
        </p:txBody>
      </p:sp>
      <p:pic>
        <p:nvPicPr>
          <p:cNvPr id="22" name="Picture 21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874902E3-0116-FF29-49F1-5EEE29A150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943" y="2717337"/>
            <a:ext cx="609600" cy="609600"/>
          </a:xfrm>
          <a:prstGeom prst="rect">
            <a:avLst/>
          </a:prstGeom>
        </p:spPr>
      </p:pic>
      <p:pic>
        <p:nvPicPr>
          <p:cNvPr id="23" name="Picture 22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4D62363A-33E9-ABF1-0159-F2241E357C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965" y="3394467"/>
            <a:ext cx="609600" cy="609600"/>
          </a:xfrm>
          <a:prstGeom prst="rect">
            <a:avLst/>
          </a:prstGeom>
        </p:spPr>
      </p:pic>
      <p:pic>
        <p:nvPicPr>
          <p:cNvPr id="24" name="Picture 23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5411F8BA-1985-C296-58A4-9F8A6D4C4D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394" y="4047718"/>
            <a:ext cx="609600" cy="609600"/>
          </a:xfrm>
          <a:prstGeom prst="rect">
            <a:avLst/>
          </a:prstGeom>
        </p:spPr>
      </p:pic>
      <p:pic>
        <p:nvPicPr>
          <p:cNvPr id="25" name="Picture 24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5B309F3-6D74-76B2-2C8C-1A865F86E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408" y="4638326"/>
            <a:ext cx="609600" cy="609600"/>
          </a:xfrm>
          <a:prstGeom prst="rect">
            <a:avLst/>
          </a:prstGeom>
        </p:spPr>
      </p:pic>
      <p:pic>
        <p:nvPicPr>
          <p:cNvPr id="26" name="Picture 25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92577D67-E096-587D-4B84-D6B8CC04FC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414" y="4020670"/>
            <a:ext cx="609600" cy="609600"/>
          </a:xfrm>
          <a:prstGeom prst="rect">
            <a:avLst/>
          </a:prstGeom>
        </p:spPr>
      </p:pic>
      <p:pic>
        <p:nvPicPr>
          <p:cNvPr id="27" name="Picture 26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C9118D90-4547-AB87-16F3-74F125C754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688" y="3374496"/>
            <a:ext cx="609600" cy="609600"/>
          </a:xfrm>
          <a:prstGeom prst="rect">
            <a:avLst/>
          </a:prstGeom>
        </p:spPr>
      </p:pic>
      <p:pic>
        <p:nvPicPr>
          <p:cNvPr id="28" name="Picture 27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4EE8D312-BAA7-B977-0437-A724CBA8AB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688" y="4004067"/>
            <a:ext cx="609600" cy="609600"/>
          </a:xfrm>
          <a:prstGeom prst="rect">
            <a:avLst/>
          </a:prstGeom>
        </p:spPr>
      </p:pic>
      <p:pic>
        <p:nvPicPr>
          <p:cNvPr id="29" name="Picture 28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C72CDC52-6B5D-FDAE-EA96-1723478E79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541" y="4665963"/>
            <a:ext cx="609600" cy="609600"/>
          </a:xfrm>
          <a:prstGeom prst="rect">
            <a:avLst/>
          </a:prstGeom>
        </p:spPr>
      </p:pic>
      <p:pic>
        <p:nvPicPr>
          <p:cNvPr id="30" name="Picture 29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CDAEFF01-977F-481B-6081-EC4B42FC16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611" y="5309995"/>
            <a:ext cx="609600" cy="609600"/>
          </a:xfrm>
          <a:prstGeom prst="rect">
            <a:avLst/>
          </a:prstGeom>
        </p:spPr>
      </p:pic>
      <p:pic>
        <p:nvPicPr>
          <p:cNvPr id="31" name="Picture 30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D32293AF-B502-92BB-5780-2D6F2572D9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708836"/>
            <a:ext cx="609600" cy="609600"/>
          </a:xfrm>
          <a:prstGeom prst="rect">
            <a:avLst/>
          </a:prstGeom>
        </p:spPr>
      </p:pic>
      <p:pic>
        <p:nvPicPr>
          <p:cNvPr id="32" name="Picture 31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9C3A0379-C238-C1D6-02A3-38564434A1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573" y="3374496"/>
            <a:ext cx="609600" cy="609600"/>
          </a:xfrm>
          <a:prstGeom prst="rect">
            <a:avLst/>
          </a:prstGeom>
        </p:spPr>
      </p:pic>
      <p:pic>
        <p:nvPicPr>
          <p:cNvPr id="33" name="Picture 32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FC0769D0-30E4-316B-643B-3433A759DB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847" y="4004067"/>
            <a:ext cx="609600" cy="609600"/>
          </a:xfrm>
          <a:prstGeom prst="rect">
            <a:avLst/>
          </a:prstGeom>
        </p:spPr>
      </p:pic>
      <p:pic>
        <p:nvPicPr>
          <p:cNvPr id="34" name="Picture 33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3016CD66-3AA3-2076-0EC8-CC083C1A33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959" y="4665963"/>
            <a:ext cx="609600" cy="609600"/>
          </a:xfrm>
          <a:prstGeom prst="rect">
            <a:avLst/>
          </a:prstGeom>
        </p:spPr>
      </p:pic>
      <p:pic>
        <p:nvPicPr>
          <p:cNvPr id="35" name="Picture 34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8E0A7490-2A21-22EB-043F-21FB1F7164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53" y="5341225"/>
            <a:ext cx="609600" cy="609600"/>
          </a:xfrm>
          <a:prstGeom prst="rect">
            <a:avLst/>
          </a:prstGeom>
        </p:spPr>
      </p:pic>
      <p:pic>
        <p:nvPicPr>
          <p:cNvPr id="36" name="Picture 35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C33C306-D668-D95E-1907-90AA467442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508" y="865329"/>
            <a:ext cx="280527" cy="2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B767-791E-E60D-C9BA-B7618371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D069-C58A-2E21-21F5-8CC5C84F7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b="1" dirty="0"/>
              <a:t>Specific Objective</a:t>
            </a:r>
          </a:p>
          <a:p>
            <a:pPr marL="0" indent="0">
              <a:buNone/>
            </a:pPr>
            <a:r>
              <a:rPr lang="en-US" dirty="0"/>
              <a:t>Develop an AI-driven system that predicts a candidate's confidence level through speech and tone analysis during interviews.</a:t>
            </a: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r>
              <a:rPr lang="en-GB" sz="3200" b="1" dirty="0"/>
              <a:t>Sub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key acoustic features (e.g., pitch, intensity, modulation) that indicate confidence</a:t>
            </a:r>
            <a:r>
              <a:rPr lang="en-GB" sz="3200" dirty="0">
                <a:ea typeface="+mn-lt"/>
                <a:cs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Develop machine learning models to analyze speech data and classify confidence levels.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 the speech analysis model with an interview web application for real-time feedback.</a:t>
            </a:r>
          </a:p>
          <a:p>
            <a:r>
              <a:rPr lang="en-US" dirty="0"/>
              <a:t>Evaluate the accuracy and reliability of the proposed solution against human assessments.</a:t>
            </a:r>
          </a:p>
          <a:p>
            <a:pPr marL="0" indent="0">
              <a:buNone/>
            </a:pP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31EA-B3D7-2199-68B3-E8FE0E60F6D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48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CFB6-84C8-CD47-1ADA-D3B933A3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8C0A8-0344-9E3D-4C1C-A784E83DD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" y="1352550"/>
            <a:ext cx="9944100" cy="47625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2386CC-04DD-5E1F-41C9-026336BEFD0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5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648E-B248-D80E-4A42-B017E1C9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CA1718-BA7D-882A-4ACB-1EB2892C5DB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11684000" cy="51614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cs typeface="Calibri"/>
              </a:rPr>
              <a:t>Functional Requirements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The system must capture audio input during interviews.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The model should analyze speech characteristics and provide a confidence score.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The results should be displayed in a dashboard for recruiters.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endParaRPr lang="en-GB" sz="2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latin typeface="Calibri"/>
                <a:cs typeface="Calibri"/>
              </a:rPr>
              <a:t>Non-Functional Requirements</a:t>
            </a:r>
            <a:endParaRPr lang="en-GB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The system should process data in real-time with minimal latency.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Ensure data security and privacy for recorded speech samples.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The solution should be scalable to handle multiple concurrent interviews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GB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2400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86A66-B02F-F2F9-163B-CA0C5103893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292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D02A-BDEC-9721-FA7C-DB5436A8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Work Breakdown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E02663-5A8C-FAF8-5C14-9205015B512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B0823E5-54DB-B6F3-7552-649E43B1F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85" y="1143000"/>
            <a:ext cx="8913030" cy="5181600"/>
          </a:xfrm>
        </p:spPr>
      </p:pic>
    </p:spTree>
    <p:extLst>
      <p:ext uri="{BB962C8B-B14F-4D97-AF65-F5344CB8AC3E}">
        <p14:creationId xmlns:p14="http://schemas.microsoft.com/office/powerpoint/2010/main" val="81888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14B0-0E44-970D-A2BE-99F2F49D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Gantt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231EC4-9C91-4608-4B35-5774AD037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04" y="1143000"/>
            <a:ext cx="5607792" cy="51816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86C3AC-B84A-0BFA-2613-EB8DB35C008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61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C3FD-142B-E910-19AB-5A5C2A40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Tools &amp; Technologies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D6392-D9E1-9E73-A7ED-E282FC833D8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3074" name="Picture 2" descr="What is Python Coding? | Juni Learning">
            <a:extLst>
              <a:ext uri="{FF2B5EF4-FFF2-40B4-BE49-F238E27FC236}">
                <a16:creationId xmlns:a16="http://schemas.microsoft.com/office/drawing/2014/main" id="{745F98E2-049E-F1DC-120B-0890B2EBD7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1" y="1209678"/>
            <a:ext cx="21590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JavaScript? | Webopedia">
            <a:extLst>
              <a:ext uri="{FF2B5EF4-FFF2-40B4-BE49-F238E27FC236}">
                <a16:creationId xmlns:a16="http://schemas.microsoft.com/office/drawing/2014/main" id="{7650E44E-A9C6-7D51-020F-8D572DD19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097" y="1238515"/>
            <a:ext cx="2111903" cy="211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ensorFlow - Wikipedia">
            <a:extLst>
              <a:ext uri="{FF2B5EF4-FFF2-40B4-BE49-F238E27FC236}">
                <a16:creationId xmlns:a16="http://schemas.microsoft.com/office/drawing/2014/main" id="{C1779889-1E98-5802-BD90-E94574F03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72" y="2499519"/>
            <a:ext cx="2511097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yTorch: My First Foray into Deep Learning | by Zachary Pollatsek | Medium">
            <a:extLst>
              <a:ext uri="{FF2B5EF4-FFF2-40B4-BE49-F238E27FC236}">
                <a16:creationId xmlns:a16="http://schemas.microsoft.com/office/drawing/2014/main" id="{D059BD82-219D-6F1A-5CB9-61F338D18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804" y="1849173"/>
            <a:ext cx="1644641" cy="82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ibrosa">
            <a:extLst>
              <a:ext uri="{FF2B5EF4-FFF2-40B4-BE49-F238E27FC236}">
                <a16:creationId xmlns:a16="http://schemas.microsoft.com/office/drawing/2014/main" id="{1F49D236-090C-D33B-41E4-3FB9D1484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369" y="3274485"/>
            <a:ext cx="3048000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irebase Brand Guidelines">
            <a:extLst>
              <a:ext uri="{FF2B5EF4-FFF2-40B4-BE49-F238E27FC236}">
                <a16:creationId xmlns:a16="http://schemas.microsoft.com/office/drawing/2014/main" id="{D9791382-D2AF-A0AE-AAF0-81A2FC123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530" y="3306269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What is React?. React is an open-source JavaScript… | by Sanjana Human In  Tech | Medium">
            <a:extLst>
              <a:ext uri="{FF2B5EF4-FFF2-40B4-BE49-F238E27FC236}">
                <a16:creationId xmlns:a16="http://schemas.microsoft.com/office/drawing/2014/main" id="{F68387B9-F391-0974-E12A-C79E2D0DD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744" y="1385210"/>
            <a:ext cx="2809346" cy="137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Logo PNG vector in SVG, PDF, AI, CDR format">
            <a:extLst>
              <a:ext uri="{FF2B5EF4-FFF2-40B4-BE49-F238E27FC236}">
                <a16:creationId xmlns:a16="http://schemas.microsoft.com/office/drawing/2014/main" id="{A62030A4-9F29-EE90-2B54-BE166DB03D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7552" y="4586124"/>
            <a:ext cx="1573350" cy="1111054"/>
          </a:xfrm>
          <a:prstGeom prst="rect">
            <a:avLst/>
          </a:prstGeom>
        </p:spPr>
      </p:pic>
      <p:pic>
        <p:nvPicPr>
          <p:cNvPr id="3088" name="Picture 16" descr="What is AWS and What can you do with it | by Kunal Yadav | Medium">
            <a:extLst>
              <a:ext uri="{FF2B5EF4-FFF2-40B4-BE49-F238E27FC236}">
                <a16:creationId xmlns:a16="http://schemas.microsoft.com/office/drawing/2014/main" id="{AFBA8A74-0934-98FA-5A20-822158C46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769" y="4798615"/>
            <a:ext cx="2844800" cy="149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reen leaf with brown text&#10;&#10;Description automatically generated">
            <a:extLst>
              <a:ext uri="{FF2B5EF4-FFF2-40B4-BE49-F238E27FC236}">
                <a16:creationId xmlns:a16="http://schemas.microsoft.com/office/drawing/2014/main" id="{70A979CD-A13F-D1D8-856D-0E7E83A735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392" y="4146114"/>
            <a:ext cx="1710496" cy="171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90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97C9-2E87-BF18-A019-079E5775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B7845-DF59-AF4B-03A2-4554FDFF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[1] F. </a:t>
            </a:r>
            <a:r>
              <a:rPr lang="en-US" sz="2400" dirty="0" err="1"/>
              <a:t>Eyben</a:t>
            </a:r>
            <a:r>
              <a:rPr lang="en-US" sz="2400" dirty="0"/>
              <a:t>, M. </a:t>
            </a:r>
            <a:r>
              <a:rPr lang="en-US" sz="2400" dirty="0" err="1"/>
              <a:t>Wöllmer</a:t>
            </a:r>
            <a:r>
              <a:rPr lang="en-US" sz="2400" dirty="0"/>
              <a:t>, and B. Schuller, "</a:t>
            </a:r>
            <a:r>
              <a:rPr lang="en-US" sz="2400" dirty="0" err="1"/>
              <a:t>openSMILE</a:t>
            </a:r>
            <a:r>
              <a:rPr lang="en-US" sz="2400" dirty="0"/>
              <a:t> – The Munich Versatile and Fast Open-Source Audio Feature Extractor," in </a:t>
            </a:r>
            <a:r>
              <a:rPr lang="en-US" sz="2400" i="1" dirty="0"/>
              <a:t>Proceedings of the 18th ACM International Conference on Multimedia</a:t>
            </a:r>
            <a:r>
              <a:rPr lang="en-US" sz="2400" dirty="0"/>
              <a:t>, 2010, pp. 1459–1462. </a:t>
            </a:r>
            <a:r>
              <a:rPr lang="en-US" sz="24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https://doi.org/10.1145/1873951.1874246</a:t>
            </a:r>
            <a:endParaRPr lang="en-US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/>
              <a:t>[2] J. D. Rojas and J. A. </a:t>
            </a:r>
            <a:r>
              <a:rPr lang="en-US" sz="2400" dirty="0" err="1"/>
              <a:t>Bilmes</a:t>
            </a:r>
            <a:r>
              <a:rPr lang="en-US" sz="2400" dirty="0"/>
              <a:t>, "Predicting Confidence and Doubt in Accented Speakers: Human Perception and Machine Learning Experiments," in </a:t>
            </a:r>
            <a:r>
              <a:rPr lang="en-US" sz="2400" i="1" dirty="0"/>
              <a:t>Proceedings of </a:t>
            </a:r>
            <a:r>
              <a:rPr lang="en-US" sz="2400" i="1" dirty="0" err="1"/>
              <a:t>Interspeech</a:t>
            </a:r>
            <a:r>
              <a:rPr lang="en-US" sz="2400" i="1" dirty="0"/>
              <a:t> 2016</a:t>
            </a:r>
            <a:r>
              <a:rPr lang="en-US" sz="2400" dirty="0"/>
              <a:t>, 2016, pp. 2150–2154. 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https://doi.org/10.21437/Interspeech.2016-1426</a:t>
            </a:r>
            <a:endParaRPr lang="en-US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/>
              <a:t>[3] P. Boersma and D. </a:t>
            </a:r>
            <a:r>
              <a:rPr lang="en-US" sz="2400" dirty="0" err="1"/>
              <a:t>Weenink</a:t>
            </a:r>
            <a:r>
              <a:rPr lang="en-US" sz="2400" dirty="0"/>
              <a:t>, "</a:t>
            </a:r>
            <a:r>
              <a:rPr lang="en-US" sz="2400" dirty="0" err="1"/>
              <a:t>Praat</a:t>
            </a:r>
            <a:r>
              <a:rPr lang="en-US" sz="2400" dirty="0"/>
              <a:t>: Doing Phonetics by Computer,"  </a:t>
            </a:r>
            <a:r>
              <a:rPr lang="en-US" sz="24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http://www.praat.org/</a:t>
            </a:r>
            <a:endParaRPr lang="en-US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/>
              <a:t>[4] B. Schuller </a:t>
            </a:r>
            <a:r>
              <a:rPr lang="en-US" sz="2400" i="1" dirty="0"/>
              <a:t>et al.</a:t>
            </a:r>
            <a:r>
              <a:rPr lang="en-US" sz="2400" dirty="0"/>
              <a:t>, "Speech Emotion Recognition: State of the Art and Remaining Challenges," </a:t>
            </a:r>
            <a:r>
              <a:rPr lang="en-US" sz="2400" i="1" dirty="0"/>
              <a:t>Cognitive Computation</a:t>
            </a:r>
            <a:r>
              <a:rPr lang="en-US" sz="2400" dirty="0"/>
              <a:t>, vol. 10, no. 4, pp. 1–19, 2018.  </a:t>
            </a:r>
            <a:r>
              <a:rPr lang="en-US" sz="24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https://doi.org/10.1007/s12559-018-9522-2</a:t>
            </a:r>
            <a:endParaRPr lang="en-US" sz="2400" dirty="0">
              <a:solidFill>
                <a:srgbClr val="00B0F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FF6A87-2A63-69E2-C58A-5EA74DE751F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IT21834424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De Silva R.S.K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01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9C72-3171-E5C8-E0D6-FFEF9273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44BAF6-B355-CFE7-F30C-A708FAE88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Bachelor of Science (Hons) in Information Technology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Specializing in Information Technology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A6ACA7-DD1B-AB7D-9C35-29E1CCBFB4B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EA249B-21EA-DA72-7B9D-30214F70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7962"/>
            <a:ext cx="10363200" cy="1362075"/>
          </a:xfrm>
        </p:spPr>
        <p:txBody>
          <a:bodyPr>
            <a:normAutofit/>
          </a:bodyPr>
          <a:lstStyle/>
          <a:p>
            <a:r>
              <a:rPr lang="en-US" dirty="0"/>
              <a:t>IT21815614 | K.T.A.D.K </a:t>
            </a:r>
            <a:r>
              <a:rPr lang="en-US" dirty="0" err="1"/>
              <a:t>Kasthurirathna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6FC04-B9AD-A5AC-C0BB-68F88B1620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96162"/>
            <a:ext cx="2099035" cy="279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78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BDE8-6B25-FCA7-C798-8905CC8B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6730-5CFF-4E85-BDC7-46A143A5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stress affect to their work during the working time?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can we predict candidates' stress levels when facing serious job-related problems during an interview?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3C8306-E85E-8D8E-9868-996D7F4E646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340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BAA0-2EF7-61A6-6268-926E1A83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7A6-BCE5-21BE-2BBD-7E2ED7B4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"How can a machine learning model be designed to analyze facial expressions captured through a webcam to predict candidates' stress levels during interviews?"</a:t>
            </a:r>
          </a:p>
          <a:p>
            <a:endParaRPr lang="en-US" dirty="0"/>
          </a:p>
          <a:p>
            <a:r>
              <a:rPr lang="en-US" dirty="0"/>
              <a:t>"What are the key facial expression features (e.g., eye movement, eyebrow position, mouth shape) that can be used to accurately predict stress levels in candidates during real-time interviews?"</a:t>
            </a:r>
          </a:p>
          <a:p>
            <a:endParaRPr lang="en-US" dirty="0"/>
          </a:p>
          <a:p>
            <a:r>
              <a:rPr lang="en-US" dirty="0"/>
              <a:t>"How can real-time stress detection be integrated into an AI-based interview system to evaluate candidates' ability to handle high-pressure scenarios?"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82ECB-3E4D-B452-9E07-FAC9377C590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14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D679-8780-C14C-9BC1-FA0B492A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Gap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1240FF-FC02-318E-A4E9-BA2F4F2CE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2500" y="1676400"/>
            <a:ext cx="7848599" cy="4493748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E4A7F8-6D14-41D9-C146-E88A72F338E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98DA13-EB26-817C-8347-4F37619F4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763653"/>
            <a:ext cx="4648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Addressed by the research paper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Not addressed by the research paper </a:t>
            </a:r>
          </a:p>
        </p:txBody>
      </p:sp>
      <p:pic>
        <p:nvPicPr>
          <p:cNvPr id="8" name="Picture 7" descr="A red x on a black background">
            <a:extLst>
              <a:ext uri="{FF2B5EF4-FFF2-40B4-BE49-F238E27FC236}">
                <a16:creationId xmlns:a16="http://schemas.microsoft.com/office/drawing/2014/main" id="{A9B8A1B0-2E5E-B4D1-84D4-B586FD07C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134" y="2683072"/>
            <a:ext cx="762000" cy="762000"/>
          </a:xfrm>
          <a:prstGeom prst="rect">
            <a:avLst/>
          </a:prstGeom>
        </p:spPr>
      </p:pic>
      <p:pic>
        <p:nvPicPr>
          <p:cNvPr id="9" name="Picture 8" descr="A red x on a black background">
            <a:extLst>
              <a:ext uri="{FF2B5EF4-FFF2-40B4-BE49-F238E27FC236}">
                <a16:creationId xmlns:a16="http://schemas.microsoft.com/office/drawing/2014/main" id="{077F3E41-26F8-5944-B42C-1DA0CC2B1D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34" y="2702860"/>
            <a:ext cx="762000" cy="762000"/>
          </a:xfrm>
          <a:prstGeom prst="rect">
            <a:avLst/>
          </a:prstGeom>
        </p:spPr>
      </p:pic>
      <p:pic>
        <p:nvPicPr>
          <p:cNvPr id="10" name="Picture 9" descr="A red x on a black background">
            <a:extLst>
              <a:ext uri="{FF2B5EF4-FFF2-40B4-BE49-F238E27FC236}">
                <a16:creationId xmlns:a16="http://schemas.microsoft.com/office/drawing/2014/main" id="{FAF08DFE-B3D5-9D69-0198-035791C241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218" y="2706993"/>
            <a:ext cx="762000" cy="762000"/>
          </a:xfrm>
          <a:prstGeom prst="rect">
            <a:avLst/>
          </a:prstGeom>
        </p:spPr>
      </p:pic>
      <p:pic>
        <p:nvPicPr>
          <p:cNvPr id="11" name="Picture 10" descr="A red x on a black background">
            <a:extLst>
              <a:ext uri="{FF2B5EF4-FFF2-40B4-BE49-F238E27FC236}">
                <a16:creationId xmlns:a16="http://schemas.microsoft.com/office/drawing/2014/main" id="{DA914F20-E401-3B22-F425-EEDA51399F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34" y="3362841"/>
            <a:ext cx="762000" cy="762000"/>
          </a:xfrm>
          <a:prstGeom prst="rect">
            <a:avLst/>
          </a:prstGeom>
        </p:spPr>
      </p:pic>
      <p:pic>
        <p:nvPicPr>
          <p:cNvPr id="12" name="Picture 11" descr="A red x on a black background">
            <a:extLst>
              <a:ext uri="{FF2B5EF4-FFF2-40B4-BE49-F238E27FC236}">
                <a16:creationId xmlns:a16="http://schemas.microsoft.com/office/drawing/2014/main" id="{8CCB5B4D-33C2-9A99-6C91-2D203E36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967" y="3318901"/>
            <a:ext cx="762000" cy="762000"/>
          </a:xfrm>
          <a:prstGeom prst="rect">
            <a:avLst/>
          </a:prstGeom>
        </p:spPr>
      </p:pic>
      <p:pic>
        <p:nvPicPr>
          <p:cNvPr id="13" name="Picture 12" descr="A red x on a black background">
            <a:extLst>
              <a:ext uri="{FF2B5EF4-FFF2-40B4-BE49-F238E27FC236}">
                <a16:creationId xmlns:a16="http://schemas.microsoft.com/office/drawing/2014/main" id="{E20FE6E3-71EE-0523-508B-CF76D1101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00" y="3322638"/>
            <a:ext cx="762000" cy="762000"/>
          </a:xfrm>
          <a:prstGeom prst="rect">
            <a:avLst/>
          </a:prstGeom>
        </p:spPr>
      </p:pic>
      <p:pic>
        <p:nvPicPr>
          <p:cNvPr id="14" name="Picture 13" descr="A red x on a black background">
            <a:extLst>
              <a:ext uri="{FF2B5EF4-FFF2-40B4-BE49-F238E27FC236}">
                <a16:creationId xmlns:a16="http://schemas.microsoft.com/office/drawing/2014/main" id="{41AA488E-2372-0D6A-A495-8B592B8D6E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3962915"/>
            <a:ext cx="762000" cy="762000"/>
          </a:xfrm>
          <a:prstGeom prst="rect">
            <a:avLst/>
          </a:prstGeom>
        </p:spPr>
      </p:pic>
      <p:pic>
        <p:nvPicPr>
          <p:cNvPr id="15" name="Picture 14" descr="A red x on a black background">
            <a:extLst>
              <a:ext uri="{FF2B5EF4-FFF2-40B4-BE49-F238E27FC236}">
                <a16:creationId xmlns:a16="http://schemas.microsoft.com/office/drawing/2014/main" id="{CDA93C19-9285-F081-E98B-D6874A2C1E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282" y="3957287"/>
            <a:ext cx="762000" cy="762000"/>
          </a:xfrm>
          <a:prstGeom prst="rect">
            <a:avLst/>
          </a:prstGeom>
        </p:spPr>
      </p:pic>
      <p:pic>
        <p:nvPicPr>
          <p:cNvPr id="16" name="Picture 15" descr="A red x on a black background">
            <a:extLst>
              <a:ext uri="{FF2B5EF4-FFF2-40B4-BE49-F238E27FC236}">
                <a16:creationId xmlns:a16="http://schemas.microsoft.com/office/drawing/2014/main" id="{ED9886FE-F750-2519-F606-A31D6B83A5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560" y="3949335"/>
            <a:ext cx="762000" cy="762000"/>
          </a:xfrm>
          <a:prstGeom prst="rect">
            <a:avLst/>
          </a:prstGeom>
        </p:spPr>
      </p:pic>
      <p:pic>
        <p:nvPicPr>
          <p:cNvPr id="17" name="Picture 16" descr="A red x on a black background">
            <a:extLst>
              <a:ext uri="{FF2B5EF4-FFF2-40B4-BE49-F238E27FC236}">
                <a16:creationId xmlns:a16="http://schemas.microsoft.com/office/drawing/2014/main" id="{2CF3911F-E8ED-A8BC-3462-14E7F7EF4D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650" y="4784822"/>
            <a:ext cx="762000" cy="762000"/>
          </a:xfrm>
          <a:prstGeom prst="rect">
            <a:avLst/>
          </a:prstGeom>
        </p:spPr>
      </p:pic>
      <p:pic>
        <p:nvPicPr>
          <p:cNvPr id="18" name="Picture 17" descr="A red x on a black background">
            <a:extLst>
              <a:ext uri="{FF2B5EF4-FFF2-40B4-BE49-F238E27FC236}">
                <a16:creationId xmlns:a16="http://schemas.microsoft.com/office/drawing/2014/main" id="{D5C5CAD0-DCFB-A815-90C6-81E28BEA5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784822"/>
            <a:ext cx="762000" cy="762000"/>
          </a:xfrm>
          <a:prstGeom prst="rect">
            <a:avLst/>
          </a:prstGeom>
        </p:spPr>
      </p:pic>
      <p:pic>
        <p:nvPicPr>
          <p:cNvPr id="19" name="Picture 18" descr="A red x on a black background">
            <a:extLst>
              <a:ext uri="{FF2B5EF4-FFF2-40B4-BE49-F238E27FC236}">
                <a16:creationId xmlns:a16="http://schemas.microsoft.com/office/drawing/2014/main" id="{C3D5F0E5-B710-E2B6-D521-8AC3C0B8F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150" y="4798548"/>
            <a:ext cx="762000" cy="762000"/>
          </a:xfrm>
          <a:prstGeom prst="rect">
            <a:avLst/>
          </a:prstGeom>
        </p:spPr>
      </p:pic>
      <p:pic>
        <p:nvPicPr>
          <p:cNvPr id="20" name="Picture 19" descr="A red x on a black background">
            <a:extLst>
              <a:ext uri="{FF2B5EF4-FFF2-40B4-BE49-F238E27FC236}">
                <a16:creationId xmlns:a16="http://schemas.microsoft.com/office/drawing/2014/main" id="{872B5F64-CFF7-2E92-8AEA-13FE2BB46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4798548"/>
            <a:ext cx="762000" cy="762000"/>
          </a:xfrm>
          <a:prstGeom prst="rect">
            <a:avLst/>
          </a:prstGeom>
        </p:spPr>
      </p:pic>
      <p:pic>
        <p:nvPicPr>
          <p:cNvPr id="21" name="Picture 20" descr="A red x on a black background">
            <a:extLst>
              <a:ext uri="{FF2B5EF4-FFF2-40B4-BE49-F238E27FC236}">
                <a16:creationId xmlns:a16="http://schemas.microsoft.com/office/drawing/2014/main" id="{7FA38995-2623-CB78-B9C7-03AB505162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00" y="5470622"/>
            <a:ext cx="762000" cy="762000"/>
          </a:xfrm>
          <a:prstGeom prst="rect">
            <a:avLst/>
          </a:prstGeom>
        </p:spPr>
      </p:pic>
      <p:pic>
        <p:nvPicPr>
          <p:cNvPr id="22" name="Picture 21" descr="A red x on a black background">
            <a:extLst>
              <a:ext uri="{FF2B5EF4-FFF2-40B4-BE49-F238E27FC236}">
                <a16:creationId xmlns:a16="http://schemas.microsoft.com/office/drawing/2014/main" id="{B7BB4B71-7B2F-66F1-048E-B9CD676B21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5470622"/>
            <a:ext cx="762000" cy="762000"/>
          </a:xfrm>
          <a:prstGeom prst="rect">
            <a:avLst/>
          </a:prstGeom>
        </p:spPr>
      </p:pic>
      <p:pic>
        <p:nvPicPr>
          <p:cNvPr id="23" name="Picture 22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2C038CEC-0C2E-3384-49C4-ECED3B1255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00" y="2768939"/>
            <a:ext cx="609600" cy="609600"/>
          </a:xfrm>
          <a:prstGeom prst="rect">
            <a:avLst/>
          </a:prstGeom>
        </p:spPr>
      </p:pic>
      <p:pic>
        <p:nvPicPr>
          <p:cNvPr id="24" name="Picture 23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2C8726D9-5F29-5684-5A34-7515A2C235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140" y="2768939"/>
            <a:ext cx="609600" cy="609600"/>
          </a:xfrm>
          <a:prstGeom prst="rect">
            <a:avLst/>
          </a:prstGeom>
        </p:spPr>
      </p:pic>
      <p:pic>
        <p:nvPicPr>
          <p:cNvPr id="25" name="Picture 24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D33C14DB-522A-973E-FD08-45F9D139AA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392" y="3414859"/>
            <a:ext cx="609600" cy="609600"/>
          </a:xfrm>
          <a:prstGeom prst="rect">
            <a:avLst/>
          </a:prstGeom>
        </p:spPr>
      </p:pic>
      <p:pic>
        <p:nvPicPr>
          <p:cNvPr id="26" name="Picture 25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61A7EB79-B942-A49A-8CCE-15004A23E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82" y="3439041"/>
            <a:ext cx="609600" cy="609600"/>
          </a:xfrm>
          <a:prstGeom prst="rect">
            <a:avLst/>
          </a:prstGeom>
        </p:spPr>
      </p:pic>
      <p:pic>
        <p:nvPicPr>
          <p:cNvPr id="27" name="Picture 26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2BA73F1F-8CC5-9C4C-5F75-1D4D770320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167" y="4059628"/>
            <a:ext cx="609600" cy="609600"/>
          </a:xfrm>
          <a:prstGeom prst="rect">
            <a:avLst/>
          </a:prstGeom>
        </p:spPr>
      </p:pic>
      <p:pic>
        <p:nvPicPr>
          <p:cNvPr id="28" name="Picture 27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C116658-DD36-313A-766B-E169D4A160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49" y="4080901"/>
            <a:ext cx="609600" cy="609600"/>
          </a:xfrm>
          <a:prstGeom prst="rect">
            <a:avLst/>
          </a:prstGeom>
        </p:spPr>
      </p:pic>
      <p:pic>
        <p:nvPicPr>
          <p:cNvPr id="29" name="Picture 28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761CA42-4307-33A6-7C24-3197CDE62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49" y="4887624"/>
            <a:ext cx="609600" cy="609600"/>
          </a:xfrm>
          <a:prstGeom prst="rect">
            <a:avLst/>
          </a:prstGeom>
        </p:spPr>
      </p:pic>
      <p:pic>
        <p:nvPicPr>
          <p:cNvPr id="30" name="Picture 29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A8A58D8F-8E8D-0970-49BD-3F69088C0A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392" y="5546822"/>
            <a:ext cx="609600" cy="609600"/>
          </a:xfrm>
          <a:prstGeom prst="rect">
            <a:avLst/>
          </a:prstGeom>
        </p:spPr>
      </p:pic>
      <p:pic>
        <p:nvPicPr>
          <p:cNvPr id="31" name="Picture 30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C425071E-2B3B-151D-B795-653B004263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983" y="5516660"/>
            <a:ext cx="609600" cy="609600"/>
          </a:xfrm>
          <a:prstGeom prst="rect">
            <a:avLst/>
          </a:prstGeom>
        </p:spPr>
      </p:pic>
      <p:pic>
        <p:nvPicPr>
          <p:cNvPr id="32" name="Picture 31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DFD6011-73C3-5A9F-24A5-CF06D18D9F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49" y="5514481"/>
            <a:ext cx="609600" cy="609600"/>
          </a:xfrm>
          <a:prstGeom prst="rect">
            <a:avLst/>
          </a:prstGeom>
        </p:spPr>
      </p:pic>
      <p:pic>
        <p:nvPicPr>
          <p:cNvPr id="33" name="Picture 32" descr="A green circle with a white tick in it&#10;&#10;Description automatically generated">
            <a:extLst>
              <a:ext uri="{FF2B5EF4-FFF2-40B4-BE49-F238E27FC236}">
                <a16:creationId xmlns:a16="http://schemas.microsoft.com/office/drawing/2014/main" id="{BC319456-1E23-9988-EB67-4F7023B526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948" y="1055528"/>
            <a:ext cx="370171" cy="370171"/>
          </a:xfrm>
          <a:prstGeom prst="rect">
            <a:avLst/>
          </a:prstGeom>
        </p:spPr>
      </p:pic>
      <p:pic>
        <p:nvPicPr>
          <p:cNvPr id="34" name="Picture 33" descr="A red x on a black background">
            <a:extLst>
              <a:ext uri="{FF2B5EF4-FFF2-40B4-BE49-F238E27FC236}">
                <a16:creationId xmlns:a16="http://schemas.microsoft.com/office/drawing/2014/main" id="{E8415BCC-BC2A-473A-45B8-96B2BB5612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503" y="1265178"/>
            <a:ext cx="483247" cy="48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9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5614-5D99-A833-8BD1-219CC1FB6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3369-B8BE-61E1-1E07-D6A72CAF4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200" b="1" dirty="0"/>
              <a:t>Specific Objective</a:t>
            </a:r>
          </a:p>
          <a:p>
            <a:pPr marL="0" indent="0">
              <a:buNone/>
            </a:pPr>
            <a:r>
              <a:rPr lang="en-US" dirty="0"/>
              <a:t>To develop and implement a real-time system for predicting stress levels in candidates through facial expression analysis.</a:t>
            </a:r>
          </a:p>
          <a:p>
            <a:pPr marL="0" indent="0">
              <a:buNone/>
            </a:pPr>
            <a:r>
              <a:rPr lang="en-GB" sz="3200" b="1" dirty="0"/>
              <a:t>Sub Objective</a:t>
            </a:r>
          </a:p>
          <a:p>
            <a:r>
              <a:rPr lang="en-US" dirty="0"/>
              <a:t>To identify specific facial expression features, such as eye movements, mouth shape, and eyebrow positions, that are indicative of stress during interviews.</a:t>
            </a:r>
          </a:p>
          <a:p>
            <a:r>
              <a:rPr lang="en-US" dirty="0"/>
              <a:t>To design and train a machine learning model for analyzing facial expression features to predict stress levels accurately.</a:t>
            </a:r>
          </a:p>
          <a:p>
            <a:r>
              <a:rPr lang="en-US" dirty="0"/>
              <a:t>To validate the performance of the stress prediction model using real-time data captured through a webcam.</a:t>
            </a:r>
          </a:p>
          <a:p>
            <a:r>
              <a:rPr lang="en-US" dirty="0"/>
              <a:t>To integrate the stress detection model into an AI-based interview system that assesses candidates' stress responses in high-pressure scenarios.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DD2C1-D44A-18BB-EEC9-4B5D69F3D4B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571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1FED-2241-2C21-4183-CBDA93DA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B085F-207E-B225-EB72-BF31DFF1778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54AB12-F662-99B6-6762-054CE588D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65" y="1143000"/>
            <a:ext cx="9573469" cy="5181600"/>
          </a:xfrm>
        </p:spPr>
      </p:pic>
    </p:spTree>
    <p:extLst>
      <p:ext uri="{BB962C8B-B14F-4D97-AF65-F5344CB8AC3E}">
        <p14:creationId xmlns:p14="http://schemas.microsoft.com/office/powerpoint/2010/main" val="451341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F203-08AD-C4D8-AA7E-EE0CD2DB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AF33C-CC82-F590-0AA5-78C0B9505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3200" b="1" dirty="0">
                <a:cs typeface="Calibri"/>
              </a:rPr>
              <a:t>Functional Requirements</a:t>
            </a:r>
          </a:p>
          <a:p>
            <a:r>
              <a:rPr lang="en-US" b="1" dirty="0"/>
              <a:t>Real-Time Facial Expression Analysis: </a:t>
            </a:r>
            <a:r>
              <a:rPr lang="en-US" dirty="0"/>
              <a:t>The system should capture and analyze facial expressions of candidates in real time using a webcam.</a:t>
            </a:r>
          </a:p>
          <a:p>
            <a:pPr marL="0" indent="0">
              <a:buNone/>
            </a:pPr>
            <a:endParaRPr lang="en-US" sz="26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/>
              <a:t>Stress Level Prediction : </a:t>
            </a:r>
            <a:r>
              <a:rPr lang="en-US" dirty="0"/>
              <a:t>The system should accurately predict the candidate's stress level based on facial indicators such as eye movement, eyebrow position, and mouth shape.</a:t>
            </a:r>
          </a:p>
          <a:p>
            <a:pPr marL="0" indent="0">
              <a:buNone/>
            </a:pPr>
            <a:r>
              <a:rPr lang="en-US" b="1" dirty="0"/>
              <a:t>     </a:t>
            </a:r>
            <a:endParaRPr lang="en-US" sz="2600" dirty="0"/>
          </a:p>
          <a:p>
            <a:r>
              <a:rPr lang="en-US" b="1" dirty="0"/>
              <a:t>Machine Learning Integration : </a:t>
            </a:r>
            <a:r>
              <a:rPr lang="en-US" dirty="0"/>
              <a:t>The system should integrate a trained machine learning model to analyze facial features and output stress levels.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Facial Feature Detection : </a:t>
            </a:r>
            <a:r>
              <a:rPr lang="en-US" dirty="0"/>
              <a:t>The system should detect and extract key facial features (e.g., eye movements, frown lines) to identify stress-related patterns.</a:t>
            </a:r>
          </a:p>
          <a:p>
            <a:endParaRPr lang="en-US" b="1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32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B3E039-986F-EB72-0A64-17AF1891DCB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570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B3FC45-A6B0-0FB8-7223-D6F16B811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3200" b="1" dirty="0">
                <a:cs typeface="Calibri"/>
              </a:rPr>
              <a:t>Non-Functional Requirements</a:t>
            </a:r>
          </a:p>
          <a:p>
            <a:r>
              <a:rPr lang="en-US" b="1" dirty="0"/>
              <a:t>Performance : </a:t>
            </a:r>
            <a:r>
              <a:rPr lang="en-US" dirty="0"/>
              <a:t>The system should process and analyze facial data within a response time of less than 2 seconds to ensure real-time operation.</a:t>
            </a:r>
          </a:p>
          <a:p>
            <a:pPr marL="0" indent="0">
              <a:buNone/>
            </a:pPr>
            <a:endParaRPr lang="en-US" sz="26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/>
              <a:t>Accuracy : </a:t>
            </a:r>
            <a:r>
              <a:rPr lang="en-US" dirty="0"/>
              <a:t>The stress detection model should achieve at least 90% accuracy in predicting stress levels based on facial expressions.</a:t>
            </a:r>
          </a:p>
          <a:p>
            <a:pPr marL="0" indent="0">
              <a:buNone/>
            </a:pPr>
            <a:r>
              <a:rPr lang="en-US" b="1" dirty="0"/>
              <a:t>     </a:t>
            </a:r>
            <a:endParaRPr lang="en-US" sz="2600" dirty="0"/>
          </a:p>
          <a:p>
            <a:r>
              <a:rPr lang="en-US" b="1" dirty="0"/>
              <a:t>Scalability : </a:t>
            </a:r>
            <a:r>
              <a:rPr lang="en-US" dirty="0"/>
              <a:t>The system should handle simultaneous analysis of multiple candidates in a group interview setting without performance degradation.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Usability : </a:t>
            </a:r>
            <a:r>
              <a:rPr lang="en-US" dirty="0"/>
              <a:t>The user interface for the system should be intuitive and easy for recruiters to interpret stress-level predictions and reports.</a:t>
            </a:r>
          </a:p>
          <a:p>
            <a:endParaRPr lang="en-US" dirty="0"/>
          </a:p>
          <a:p>
            <a:endParaRPr lang="en-US" b="1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32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35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A8BB-58B7-0539-68CF-0CA29DEC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Work Breakdown Structure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CE0B2C-23DD-8E05-EF69-1597E1DA9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85" y="1143000"/>
            <a:ext cx="8913030" cy="51816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19C0B7-8656-F5EC-D3ED-4A86A6F439B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73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0F43-4E81-BEC8-50A6-6F4D5012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Gantt 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2793B-D8D0-A5C4-68F6-2D75E91EDCD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881131E4-73F3-66F6-1FD5-A76A36EF3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04" y="1143000"/>
            <a:ext cx="5607792" cy="5181600"/>
          </a:xfrm>
        </p:spPr>
      </p:pic>
    </p:spTree>
    <p:extLst>
      <p:ext uri="{BB962C8B-B14F-4D97-AF65-F5344CB8AC3E}">
        <p14:creationId xmlns:p14="http://schemas.microsoft.com/office/powerpoint/2010/main" val="2765513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660F-6698-975D-A533-B573CE28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3437-8330-83CE-B00E-E75A63D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Tools &amp; Technologies</a:t>
            </a:r>
          </a:p>
        </p:txBody>
      </p:sp>
      <p:pic>
        <p:nvPicPr>
          <p:cNvPr id="3074" name="Picture 2" descr="What is Python Coding? | Juni Learning">
            <a:extLst>
              <a:ext uri="{FF2B5EF4-FFF2-40B4-BE49-F238E27FC236}">
                <a16:creationId xmlns:a16="http://schemas.microsoft.com/office/drawing/2014/main" id="{D4DEA610-5A6E-9690-F06B-CD8E910BF1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1" y="1209678"/>
            <a:ext cx="21590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JavaScript? | Webopedia">
            <a:extLst>
              <a:ext uri="{FF2B5EF4-FFF2-40B4-BE49-F238E27FC236}">
                <a16:creationId xmlns:a16="http://schemas.microsoft.com/office/drawing/2014/main" id="{2B1B153C-8736-7482-7512-6E0F2B26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097" y="1238515"/>
            <a:ext cx="2111903" cy="211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ensorFlow - Wikipedia">
            <a:extLst>
              <a:ext uri="{FF2B5EF4-FFF2-40B4-BE49-F238E27FC236}">
                <a16:creationId xmlns:a16="http://schemas.microsoft.com/office/drawing/2014/main" id="{176FA99A-54F1-0E28-A806-DCF30E041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72" y="2499519"/>
            <a:ext cx="2511097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yTorch: My First Foray into Deep Learning | by Zachary Pollatsek | Medium">
            <a:extLst>
              <a:ext uri="{FF2B5EF4-FFF2-40B4-BE49-F238E27FC236}">
                <a16:creationId xmlns:a16="http://schemas.microsoft.com/office/drawing/2014/main" id="{12178364-B797-587C-9464-FC7982D4F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804" y="1849173"/>
            <a:ext cx="1644641" cy="82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irebase Brand Guidelines">
            <a:extLst>
              <a:ext uri="{FF2B5EF4-FFF2-40B4-BE49-F238E27FC236}">
                <a16:creationId xmlns:a16="http://schemas.microsoft.com/office/drawing/2014/main" id="{9B6EA853-BC08-9FDD-1CA5-A08EEA0C6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530" y="3306269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What is React?. React is an open-source JavaScript… | by Sanjana Human In  Tech | Medium">
            <a:extLst>
              <a:ext uri="{FF2B5EF4-FFF2-40B4-BE49-F238E27FC236}">
                <a16:creationId xmlns:a16="http://schemas.microsoft.com/office/drawing/2014/main" id="{099179AB-4498-8DA3-73F8-C5CF893F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744" y="1385210"/>
            <a:ext cx="2809346" cy="137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Logo PNG vector in SVG, PDF, AI, CDR format">
            <a:extLst>
              <a:ext uri="{FF2B5EF4-FFF2-40B4-BE49-F238E27FC236}">
                <a16:creationId xmlns:a16="http://schemas.microsoft.com/office/drawing/2014/main" id="{3BBB923B-3090-946E-2043-78C408A8F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7552" y="4586124"/>
            <a:ext cx="1573350" cy="1111054"/>
          </a:xfrm>
          <a:prstGeom prst="rect">
            <a:avLst/>
          </a:prstGeom>
        </p:spPr>
      </p:pic>
      <p:pic>
        <p:nvPicPr>
          <p:cNvPr id="3088" name="Picture 16" descr="What is AWS and What can you do with it | by Kunal Yadav | Medium">
            <a:extLst>
              <a:ext uri="{FF2B5EF4-FFF2-40B4-BE49-F238E27FC236}">
                <a16:creationId xmlns:a16="http://schemas.microsoft.com/office/drawing/2014/main" id="{73B8BB83-FFB3-DDCD-E3FC-46B834711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81" y="4551918"/>
            <a:ext cx="2844800" cy="149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reen leaf with brown text&#10;&#10;Description automatically generated">
            <a:extLst>
              <a:ext uri="{FF2B5EF4-FFF2-40B4-BE49-F238E27FC236}">
                <a16:creationId xmlns:a16="http://schemas.microsoft.com/office/drawing/2014/main" id="{BC977657-CC58-0241-6BB1-74AD3EE7B7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392" y="4146114"/>
            <a:ext cx="1710496" cy="17104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2CB2AD-4388-4FA9-9988-4B347FD8D67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7" name="Picture 2" descr="Scientific Image Processing with Python OpenCV | RC Learning Portal">
            <a:extLst>
              <a:ext uri="{FF2B5EF4-FFF2-40B4-BE49-F238E27FC236}">
                <a16:creationId xmlns:a16="http://schemas.microsoft.com/office/drawing/2014/main" id="{F5A88BA9-9FB2-70B2-7357-032D5A51F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81" y="3137676"/>
            <a:ext cx="3379831" cy="109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y Journey towards becoming a Kaggle Master | by Paras Varshney | Towards  Data Science">
            <a:extLst>
              <a:ext uri="{FF2B5EF4-FFF2-40B4-BE49-F238E27FC236}">
                <a16:creationId xmlns:a16="http://schemas.microsoft.com/office/drawing/2014/main" id="{F41FB561-6B6A-AB11-8AE0-38DB8A88B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2826499"/>
            <a:ext cx="1836580" cy="137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928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E7DC-0A70-2FB5-A166-2111ACD0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AB44-8894-861A-90C7-561F00B5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[1] A. S. Rathore, S. Mehta, and P. Gupta, "Real-Time Stress Detection and Analysis using Facial Emotion Recognition," International Journal of Advanced Research in Computer and Communication Engineering, vol. 10, no. 5, pp. 45-50, May 2021.  </a:t>
            </a:r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https://ijarcce.com/papers/real-time-stress-detection-and-analysis-using-facial-emotion-recognition/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/>
              <a:t>[2] J. Zhang, Y. Shen, and H. Wang, "Real-Time Mental Stress Detection Using Multimodality Expressions," Frontiers in Neuroscience, vol. 16, no. 947168, pp. 1-10, Nov. 2022. </a:t>
            </a:r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https://www.frontiersin.org/journals/neuroscience/articles/10.3389/fnins.2022.947168/full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/>
              <a:t>[3] D. Thomas, R. Lee, and A. Park, "Real-Time Emotion Detection by Quantitative Facial Motion Analysis," Journal of Emotion and Computing, vol. 8, no. 2, pp. 45-52, Mar. 2023.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https://www.ncbi.nlm.nih.gov/pmc/articles/PMC10004542/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/>
              <a:t>[4] L. C. Smith and D. N. Patel, "Stress Detection of Autistic Adults during Simulated Job Interviews," Proceedings of the ACM Digital Library, vol. 22, no. 7, pp. 120-129, Oct. 2023.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https://dl.acm.org/doi/10.1145/3639709</a:t>
            </a:r>
            <a:r>
              <a:rPr lang="en-US" dirty="0">
                <a:solidFill>
                  <a:srgbClr val="00B0F0"/>
                </a:solidFill>
              </a:rPr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AB32E-0144-0338-7B80-072719123C0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IT21815614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K.T.A.D.K </a:t>
            </a:r>
            <a:r>
              <a:rPr lang="en-US" dirty="0" err="1">
                <a:solidFill>
                  <a:schemeClr val="tx1"/>
                </a:solidFill>
              </a:rPr>
              <a:t>Kasthurirathna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929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525E-3410-5E93-D591-B8E71D06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4244D8-634C-78B8-0934-A1FFC6527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Bachelor of Science (Hons) in Information Technology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Specializing in Information Technology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C955-89CB-7218-6443-9E4A9E52E41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454010-414C-EFF2-A39E-0B369886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7962"/>
            <a:ext cx="10363200" cy="1362075"/>
          </a:xfrm>
        </p:spPr>
        <p:txBody>
          <a:bodyPr/>
          <a:lstStyle/>
          <a:p>
            <a:r>
              <a:rPr lang="en-US" dirty="0"/>
              <a:t>IT21838620 | S.U.D.A Gunasekara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4DA957-C366-FEAB-3669-CFC63BE82E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751" y="65848"/>
            <a:ext cx="2057400" cy="268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80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993C-D659-206F-FE01-06789E90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Background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968BA-9FE4-CD68-C5B4-005A88A4569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1D1F93-AE1E-B689-8F85-861BBA63F630}"/>
              </a:ext>
            </a:extLst>
          </p:cNvPr>
          <p:cNvSpPr>
            <a:spLocks noGrp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can candidate’s decision-making skills detect by analyzing speech to text approach ?</a:t>
            </a:r>
          </a:p>
          <a:p>
            <a:r>
              <a:rPr lang="en-US" dirty="0"/>
              <a:t>What are the potential advantages over face-to-face traditional interviewing methods ?</a:t>
            </a:r>
          </a:p>
          <a:p>
            <a:r>
              <a:rPr lang="en-US" dirty="0"/>
              <a:t>What kind of decision-making skills important for the job description ?</a:t>
            </a:r>
          </a:p>
        </p:txBody>
      </p:sp>
    </p:spTree>
    <p:extLst>
      <p:ext uri="{BB962C8B-B14F-4D97-AF65-F5344CB8AC3E}">
        <p14:creationId xmlns:p14="http://schemas.microsoft.com/office/powerpoint/2010/main" val="2622927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09F8-2620-309D-88EE-891C8951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F9A67-262B-D745-B55A-8D45F5767E1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E3F6DB-C185-30E5-5201-850D4EF07F57}"/>
              </a:ext>
            </a:extLst>
          </p:cNvPr>
          <p:cNvSpPr>
            <a:spLocks noGrp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can speech-to-text technology be leveraged to analyze decision-making skills in real-time job interviews?</a:t>
            </a:r>
          </a:p>
          <a:p>
            <a:r>
              <a:rPr lang="en-US" dirty="0"/>
              <a:t>How accurate are speech-to-text systems in capturing and analyzing decision-making content under varying linguistic and environmental conditions?</a:t>
            </a:r>
          </a:p>
          <a:p>
            <a:r>
              <a:rPr lang="en-US" dirty="0"/>
              <a:t>Can speech-to-text analysis be integrated into AI-based candidate recommendation systems for behavioral evaluation?</a:t>
            </a:r>
          </a:p>
        </p:txBody>
      </p:sp>
    </p:spTree>
    <p:extLst>
      <p:ext uri="{BB962C8B-B14F-4D97-AF65-F5344CB8AC3E}">
        <p14:creationId xmlns:p14="http://schemas.microsoft.com/office/powerpoint/2010/main" val="1006784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3B6E-D640-768F-41D2-1216C8AC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Gap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58928-F2DB-3D42-BE40-A1056C728B4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F93982FE-68D4-320B-8EF4-AFCAB36F2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289" y="1600200"/>
            <a:ext cx="9841421" cy="460860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9C60ACF-9804-7FFC-7DD1-CF4414510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691916"/>
            <a:ext cx="4648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Addressed by the research paper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Not addressed by the research paper </a:t>
            </a:r>
          </a:p>
        </p:txBody>
      </p:sp>
      <p:pic>
        <p:nvPicPr>
          <p:cNvPr id="7" name="Picture 6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38400"/>
            <a:ext cx="336071" cy="350448"/>
          </a:xfrm>
          <a:prstGeom prst="rect">
            <a:avLst/>
          </a:prstGeom>
        </p:spPr>
      </p:pic>
      <p:pic>
        <p:nvPicPr>
          <p:cNvPr id="8" name="Picture 7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623" y="3589867"/>
            <a:ext cx="336071" cy="350448"/>
          </a:xfrm>
          <a:prstGeom prst="rect">
            <a:avLst/>
          </a:prstGeom>
        </p:spPr>
      </p:pic>
      <p:pic>
        <p:nvPicPr>
          <p:cNvPr id="9" name="Picture 8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639" y="4678063"/>
            <a:ext cx="336071" cy="350448"/>
          </a:xfrm>
          <a:prstGeom prst="rect">
            <a:avLst/>
          </a:prstGeom>
        </p:spPr>
      </p:pic>
      <p:pic>
        <p:nvPicPr>
          <p:cNvPr id="10" name="Picture 9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678063"/>
            <a:ext cx="336071" cy="350448"/>
          </a:xfrm>
          <a:prstGeom prst="rect">
            <a:avLst/>
          </a:prstGeom>
        </p:spPr>
      </p:pic>
      <p:pic>
        <p:nvPicPr>
          <p:cNvPr id="11" name="Picture 10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097" y="5489437"/>
            <a:ext cx="336071" cy="350448"/>
          </a:xfrm>
          <a:prstGeom prst="rect">
            <a:avLst/>
          </a:prstGeom>
        </p:spPr>
      </p:pic>
      <p:pic>
        <p:nvPicPr>
          <p:cNvPr id="12" name="Picture 11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098" y="4678063"/>
            <a:ext cx="336071" cy="350448"/>
          </a:xfrm>
          <a:prstGeom prst="rect">
            <a:avLst/>
          </a:prstGeom>
        </p:spPr>
      </p:pic>
      <p:pic>
        <p:nvPicPr>
          <p:cNvPr id="13" name="Picture 12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029" y="3630794"/>
            <a:ext cx="336071" cy="350448"/>
          </a:xfrm>
          <a:prstGeom prst="rect">
            <a:avLst/>
          </a:prstGeom>
        </p:spPr>
      </p:pic>
      <p:pic>
        <p:nvPicPr>
          <p:cNvPr id="14" name="Picture 13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581400"/>
            <a:ext cx="336071" cy="350448"/>
          </a:xfrm>
          <a:prstGeom prst="rect">
            <a:avLst/>
          </a:prstGeom>
        </p:spPr>
      </p:pic>
      <p:pic>
        <p:nvPicPr>
          <p:cNvPr id="15" name="Picture 14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2429933"/>
            <a:ext cx="336071" cy="350448"/>
          </a:xfrm>
          <a:prstGeom prst="rect">
            <a:avLst/>
          </a:prstGeom>
        </p:spPr>
      </p:pic>
      <p:pic>
        <p:nvPicPr>
          <p:cNvPr id="16" name="Picture 15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438400"/>
            <a:ext cx="336071" cy="350448"/>
          </a:xfrm>
          <a:prstGeom prst="rect">
            <a:avLst/>
          </a:prstGeom>
        </p:spPr>
      </p:pic>
      <p:pic>
        <p:nvPicPr>
          <p:cNvPr id="17" name="Picture 16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D06344D7-3EE2-4419-9534-32FC4810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367" y="998328"/>
            <a:ext cx="336071" cy="350448"/>
          </a:xfrm>
          <a:prstGeom prst="rect">
            <a:avLst/>
          </a:prstGeom>
        </p:spPr>
      </p:pic>
      <p:pic>
        <p:nvPicPr>
          <p:cNvPr id="18" name="Picture 17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2447924"/>
            <a:ext cx="336071" cy="340924"/>
          </a:xfrm>
          <a:prstGeom prst="rect">
            <a:avLst/>
          </a:prstGeom>
        </p:spPr>
      </p:pic>
      <p:pic>
        <p:nvPicPr>
          <p:cNvPr id="19" name="Picture 18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204" y="2447924"/>
            <a:ext cx="336071" cy="340924"/>
          </a:xfrm>
          <a:prstGeom prst="rect">
            <a:avLst/>
          </a:prstGeom>
        </p:spPr>
      </p:pic>
      <p:pic>
        <p:nvPicPr>
          <p:cNvPr id="20" name="Picture 19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28" y="3581400"/>
            <a:ext cx="336071" cy="340924"/>
          </a:xfrm>
          <a:prstGeom prst="rect">
            <a:avLst/>
          </a:prstGeom>
        </p:spPr>
      </p:pic>
      <p:pic>
        <p:nvPicPr>
          <p:cNvPr id="21" name="Picture 20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203" y="3563580"/>
            <a:ext cx="336071" cy="340924"/>
          </a:xfrm>
          <a:prstGeom prst="rect">
            <a:avLst/>
          </a:prstGeom>
        </p:spPr>
      </p:pic>
      <p:pic>
        <p:nvPicPr>
          <p:cNvPr id="22" name="Picture 21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581766"/>
            <a:ext cx="336071" cy="340924"/>
          </a:xfrm>
          <a:prstGeom prst="rect">
            <a:avLst/>
          </a:prstGeom>
        </p:spPr>
      </p:pic>
      <p:pic>
        <p:nvPicPr>
          <p:cNvPr id="23" name="Picture 22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713" y="4608053"/>
            <a:ext cx="336071" cy="340924"/>
          </a:xfrm>
          <a:prstGeom prst="rect">
            <a:avLst/>
          </a:prstGeom>
        </p:spPr>
      </p:pic>
      <p:pic>
        <p:nvPicPr>
          <p:cNvPr id="24" name="Picture 23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199" y="5520267"/>
            <a:ext cx="336071" cy="340924"/>
          </a:xfrm>
          <a:prstGeom prst="rect">
            <a:avLst/>
          </a:prstGeom>
        </p:spPr>
      </p:pic>
      <p:pic>
        <p:nvPicPr>
          <p:cNvPr id="25" name="Picture 24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849" y="5494199"/>
            <a:ext cx="336071" cy="340924"/>
          </a:xfrm>
          <a:prstGeom prst="rect">
            <a:avLst/>
          </a:prstGeom>
        </p:spPr>
      </p:pic>
      <p:pic>
        <p:nvPicPr>
          <p:cNvPr id="26" name="Picture 25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639" y="5520267"/>
            <a:ext cx="336071" cy="340924"/>
          </a:xfrm>
          <a:prstGeom prst="rect">
            <a:avLst/>
          </a:prstGeom>
        </p:spPr>
      </p:pic>
      <p:pic>
        <p:nvPicPr>
          <p:cNvPr id="27" name="Picture 26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368" y="5502666"/>
            <a:ext cx="336071" cy="340924"/>
          </a:xfrm>
          <a:prstGeom prst="rect">
            <a:avLst/>
          </a:prstGeom>
        </p:spPr>
      </p:pic>
      <p:pic>
        <p:nvPicPr>
          <p:cNvPr id="28" name="Picture 27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A012229-E472-4444-86EF-0F935F21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367" y="1313616"/>
            <a:ext cx="336071" cy="34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60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6F4B-CBBD-C692-4133-4C3CAA87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E0360A-A096-0B3B-854D-F6682FF385D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D55816-9A72-C45F-6F6C-78D014DCD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b="1" dirty="0"/>
              <a:t>Specific Objective</a:t>
            </a:r>
          </a:p>
          <a:p>
            <a:pPr marL="0" indent="0">
              <a:buNone/>
            </a:pPr>
            <a:r>
              <a:rPr lang="en-US" dirty="0"/>
              <a:t>Develop 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robust framework for detecting and evaluating candidates' decision-making skills during interviews by analyzing speech-to-text data using advanced natural language processing (NLP) techniques and machine learning models, ensuring an objective, real-time, and reliable assessment method.</a:t>
            </a: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r>
              <a:rPr lang="en-GB" sz="3200" b="1" dirty="0"/>
              <a:t>Sub Objectives</a:t>
            </a:r>
          </a:p>
          <a:p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process speech-to-text data.</a:t>
            </a:r>
            <a:endParaRPr lang="en-US" sz="3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To analyze decision-making patterns in text</a:t>
            </a:r>
            <a:endParaRPr lang="en-US" sz="32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predict decision-making proficiency using AI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To design a scoring mechanism for decision-making skills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To validate the proposed decision-making evaluation system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824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58E-F56B-43A9-7A4E-84F06B21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7463BE-061E-9165-9C44-FA8DE7296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00" y="1143000"/>
            <a:ext cx="10444800" cy="51816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558635-0D6D-1345-8532-08AC2EE26E2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839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21FD-050E-32C2-ACBB-623CA92C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F6404-E29E-A12A-0B82-10779CE7204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C03E1C-EA5B-854C-B4E1-C90FB82B3F9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11684000" cy="66274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cs typeface="Calibri"/>
              </a:rPr>
              <a:t>Functional Requirements</a:t>
            </a:r>
          </a:p>
          <a:p>
            <a:r>
              <a:rPr lang="en-US" sz="2200" dirty="0">
                <a:effectLst/>
                <a:latin typeface="Calibri "/>
                <a:ea typeface="Calibri" panose="020F0502020204030204" pitchFamily="34" charset="0"/>
                <a:cs typeface="Times New Roman" panose="02020603050405020304" pitchFamily="18" charset="0"/>
              </a:rPr>
              <a:t>Speech-to-Text Conversion</a:t>
            </a:r>
          </a:p>
          <a:p>
            <a:r>
              <a:rPr lang="en-US" sz="2200" dirty="0">
                <a:effectLst/>
                <a:latin typeface="Calibri "/>
                <a:ea typeface="Calibri" panose="020F0502020204030204" pitchFamily="34" charset="0"/>
                <a:cs typeface="Times New Roman" panose="02020603050405020304" pitchFamily="18" charset="0"/>
              </a:rPr>
              <a:t>Decision-Making Detection</a:t>
            </a:r>
          </a:p>
          <a:p>
            <a:r>
              <a:rPr lang="en-US" sz="2200" kern="100" dirty="0">
                <a:effectLst/>
                <a:latin typeface="Calibri "/>
                <a:ea typeface="Calibri" panose="020F0502020204030204" pitchFamily="34" charset="0"/>
                <a:cs typeface="Times New Roman" panose="02020603050405020304" pitchFamily="18" charset="0"/>
              </a:rPr>
              <a:t>Contextual Analysis</a:t>
            </a:r>
          </a:p>
          <a:p>
            <a:r>
              <a:rPr lang="en-US" sz="2200" kern="100" dirty="0">
                <a:effectLst/>
                <a:latin typeface="Calibri "/>
                <a:ea typeface="Calibri" panose="020F0502020204030204" pitchFamily="34" charset="0"/>
                <a:cs typeface="Times New Roman" panose="02020603050405020304" pitchFamily="18" charset="0"/>
              </a:rPr>
              <a:t>Machine Learning Integration</a:t>
            </a:r>
          </a:p>
          <a:p>
            <a:r>
              <a:rPr lang="en-US" sz="2200" dirty="0">
                <a:effectLst/>
                <a:latin typeface="Calibri "/>
                <a:ea typeface="Calibri" panose="020F0502020204030204" pitchFamily="34" charset="0"/>
                <a:cs typeface="Times New Roman" panose="02020603050405020304" pitchFamily="18" charset="0"/>
              </a:rPr>
              <a:t>Real-time Analysis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latin typeface="Calibri"/>
                <a:cs typeface="Calibri"/>
              </a:rPr>
              <a:t>Non-Functional Requirements</a:t>
            </a:r>
            <a:endParaRPr lang="en-GB" dirty="0"/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Usability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Reliability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Compatibility</a:t>
            </a:r>
            <a:endParaRPr lang="en-US" sz="220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2400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4241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9E82-6A3F-1F89-8425-161E4783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Work Breakdown Structure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8CA526-3771-044B-C9B7-B402ED3A0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85" y="1143000"/>
            <a:ext cx="8913030" cy="51816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410550-F728-6D82-0B85-A8377380C14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59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EF4C-2030-5EE9-1B84-6822D13A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Gantt 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9C53D-D4B5-671F-5773-21BB51C3F0F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3903CF7-58B9-18FC-A34D-086BBE6F4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04" y="1143000"/>
            <a:ext cx="5607792" cy="5181600"/>
          </a:xfrm>
        </p:spPr>
      </p:pic>
    </p:spTree>
    <p:extLst>
      <p:ext uri="{BB962C8B-B14F-4D97-AF65-F5344CB8AC3E}">
        <p14:creationId xmlns:p14="http://schemas.microsoft.com/office/powerpoint/2010/main" val="1455243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92C3-91B3-9D13-4D84-085C13B0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82FF-CD2E-8CF6-07C7-153B3AAB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Tools &amp; Technologies</a:t>
            </a:r>
          </a:p>
        </p:txBody>
      </p:sp>
      <p:pic>
        <p:nvPicPr>
          <p:cNvPr id="3074" name="Picture 2" descr="What is Python Coding? | Juni Learning">
            <a:extLst>
              <a:ext uri="{FF2B5EF4-FFF2-40B4-BE49-F238E27FC236}">
                <a16:creationId xmlns:a16="http://schemas.microsoft.com/office/drawing/2014/main" id="{B92DF2FE-4624-D4A3-11B2-38B321619F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1" y="1209678"/>
            <a:ext cx="21590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JavaScript? | Webopedia">
            <a:extLst>
              <a:ext uri="{FF2B5EF4-FFF2-40B4-BE49-F238E27FC236}">
                <a16:creationId xmlns:a16="http://schemas.microsoft.com/office/drawing/2014/main" id="{B77B3645-9F86-A157-E313-4C181D135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097" y="1238515"/>
            <a:ext cx="2111903" cy="211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ensorFlow - Wikipedia">
            <a:extLst>
              <a:ext uri="{FF2B5EF4-FFF2-40B4-BE49-F238E27FC236}">
                <a16:creationId xmlns:a16="http://schemas.microsoft.com/office/drawing/2014/main" id="{1EE783A9-7B1D-56CF-2E5A-8EF48B3DD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72" y="2499519"/>
            <a:ext cx="2511097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yTorch: My First Foray into Deep Learning | by Zachary Pollatsek | Medium">
            <a:extLst>
              <a:ext uri="{FF2B5EF4-FFF2-40B4-BE49-F238E27FC236}">
                <a16:creationId xmlns:a16="http://schemas.microsoft.com/office/drawing/2014/main" id="{A3A171DB-A406-D2B9-FE69-CC84BDAB1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804" y="1849173"/>
            <a:ext cx="1644641" cy="82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irebase Brand Guidelines">
            <a:extLst>
              <a:ext uri="{FF2B5EF4-FFF2-40B4-BE49-F238E27FC236}">
                <a16:creationId xmlns:a16="http://schemas.microsoft.com/office/drawing/2014/main" id="{2356BD9E-5687-CE0C-7AF4-213D8D07B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530" y="3306269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What is React?. React is an open-source JavaScript… | by Sanjana Human In  Tech | Medium">
            <a:extLst>
              <a:ext uri="{FF2B5EF4-FFF2-40B4-BE49-F238E27FC236}">
                <a16:creationId xmlns:a16="http://schemas.microsoft.com/office/drawing/2014/main" id="{2599A351-8DA4-B906-C65E-2D5388DB2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744" y="1385210"/>
            <a:ext cx="2809346" cy="137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Logo PNG vector in SVG, PDF, AI, CDR format">
            <a:extLst>
              <a:ext uri="{FF2B5EF4-FFF2-40B4-BE49-F238E27FC236}">
                <a16:creationId xmlns:a16="http://schemas.microsoft.com/office/drawing/2014/main" id="{2B48192F-B528-9421-B715-19EF155D26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7552" y="4586124"/>
            <a:ext cx="1573350" cy="1111054"/>
          </a:xfrm>
          <a:prstGeom prst="rect">
            <a:avLst/>
          </a:prstGeom>
        </p:spPr>
      </p:pic>
      <p:pic>
        <p:nvPicPr>
          <p:cNvPr id="3088" name="Picture 16" descr="What is AWS and What can you do with it | by Kunal Yadav | Medium">
            <a:extLst>
              <a:ext uri="{FF2B5EF4-FFF2-40B4-BE49-F238E27FC236}">
                <a16:creationId xmlns:a16="http://schemas.microsoft.com/office/drawing/2014/main" id="{771F30D2-92E1-642C-F50B-BB7BDEBE2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81" y="4551918"/>
            <a:ext cx="2844800" cy="149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reen leaf with brown text&#10;&#10;Description automatically generated">
            <a:extLst>
              <a:ext uri="{FF2B5EF4-FFF2-40B4-BE49-F238E27FC236}">
                <a16:creationId xmlns:a16="http://schemas.microsoft.com/office/drawing/2014/main" id="{7D2B45BD-33C8-7F20-52BB-477138A8BC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392" y="4146114"/>
            <a:ext cx="1710496" cy="1710496"/>
          </a:xfrm>
          <a:prstGeom prst="rect">
            <a:avLst/>
          </a:prstGeom>
        </p:spPr>
      </p:pic>
      <p:pic>
        <p:nvPicPr>
          <p:cNvPr id="7" name="Picture 2" descr="Scientific Image Processing with Python OpenCV | RC Learning Portal">
            <a:extLst>
              <a:ext uri="{FF2B5EF4-FFF2-40B4-BE49-F238E27FC236}">
                <a16:creationId xmlns:a16="http://schemas.microsoft.com/office/drawing/2014/main" id="{D9B5D345-5B81-C6A6-CEC0-9289A2A77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81" y="3137676"/>
            <a:ext cx="3379831" cy="109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512850-B9E2-FF1F-DED7-49AF724C238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9" name="Picture 8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19CDDA47-358B-8123-F014-D3684FD1BA1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986" y="2752768"/>
            <a:ext cx="2276763" cy="1195300"/>
          </a:xfrm>
          <a:prstGeom prst="rect">
            <a:avLst/>
          </a:prstGeom>
        </p:spPr>
      </p:pic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ED768FDD-735C-6A69-C806-8549F1F7A7C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888" y="4195839"/>
            <a:ext cx="2139198" cy="196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21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BE5B-34E2-6DE3-9071-0D226F4A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1D9B-4D23-2FF6-967E-9090BD6CF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/>
              <a:t>[1] A. Agrawal, S. Chakraborty, and K. Ghosh, "Analyzing Behavioral Cues in Video Interviews for Candidate Assessment," </a:t>
            </a:r>
            <a:r>
              <a:rPr lang="en-US" sz="3100" i="1" dirty="0" err="1"/>
              <a:t>arXiv</a:t>
            </a:r>
            <a:r>
              <a:rPr lang="en-US" sz="3100" i="1" dirty="0"/>
              <a:t> preprint arXiv:2006.07909</a:t>
            </a:r>
            <a:r>
              <a:rPr lang="en-US" sz="3100" dirty="0"/>
              <a:t>, 2020. </a:t>
            </a:r>
            <a:r>
              <a:rPr lang="en-US" sz="31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https://arxiv.org/abs/2006.07909</a:t>
            </a:r>
            <a:r>
              <a:rPr lang="en-US" sz="3100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3100" dirty="0"/>
              <a:t>[2] B. </a:t>
            </a:r>
            <a:r>
              <a:rPr lang="en-US" sz="3100" dirty="0" err="1"/>
              <a:t>Niemitz</a:t>
            </a:r>
            <a:r>
              <a:rPr lang="en-US" sz="3100" dirty="0"/>
              <a:t> and A. </a:t>
            </a:r>
            <a:r>
              <a:rPr lang="en-US" sz="3100" dirty="0" err="1"/>
              <a:t>Wihler</a:t>
            </a:r>
            <a:r>
              <a:rPr lang="en-US" sz="3100" dirty="0"/>
              <a:t>, "The (null) effects of video questions on applicant reactions in asynchronous video interviews: Evidence from an actual hiring context," </a:t>
            </a:r>
            <a:r>
              <a:rPr lang="en-US" sz="3100" i="1" dirty="0"/>
              <a:t>International Journal of Selection and Assessment</a:t>
            </a:r>
            <a:r>
              <a:rPr lang="en-US" sz="3100" dirty="0"/>
              <a:t>, vol. 32, no. 1, pp. 1–15, 2024. 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</a:t>
            </a:r>
            <a:r>
              <a:rPr lang="en-US" sz="3100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3100" dirty="0"/>
              <a:t>[3] M. Abdullah, K. Alissa, and O. </a:t>
            </a:r>
            <a:r>
              <a:rPr lang="en-US" sz="3100" dirty="0" err="1"/>
              <a:t>Alzoubi</a:t>
            </a:r>
            <a:r>
              <a:rPr lang="en-US" sz="3100" dirty="0"/>
              <a:t>, "New user engagement prediction using machine learning algorithms," </a:t>
            </a:r>
            <a:r>
              <a:rPr lang="en-US" sz="3100" i="1" dirty="0"/>
              <a:t>2023 14th International Conference on Information and Communication Systems (ICICS)</a:t>
            </a:r>
            <a:r>
              <a:rPr lang="en-US" sz="3100" dirty="0"/>
              <a:t>, Irbid, Jordan, Nov. 21–23, 2023, pp. 1–6. </a:t>
            </a:r>
            <a:r>
              <a:rPr lang="en-US" sz="31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https://doi.org/10.1109/ICICS60529.2023.10330488</a:t>
            </a:r>
            <a:r>
              <a:rPr lang="en-US" sz="3100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3100" dirty="0"/>
              <a:t>[4] R. T. Khan, M. S. Rizvi, and S. A. Singh, "Predictive analytics for job candidate assessment: Developing a holistic scoring model," </a:t>
            </a:r>
            <a:r>
              <a:rPr lang="en-US" sz="3100" i="1" dirty="0"/>
              <a:t>International Journal of Human-Computer Interaction</a:t>
            </a:r>
            <a:r>
              <a:rPr lang="en-US" sz="3100" dirty="0"/>
              <a:t>, vol. 38, no. 5, pp. 112–125, 2022. 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https://doi.org/10.1080/10447318.2021.1980763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9B8B4F-5DA1-4083-CE66-16DA6617CFC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IT21838620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S.U.D.A Gunasekara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46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1212-F721-0EC9-2E4B-62BC3561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1FC531-BB07-91E4-F333-B23F63034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Bachelor of Science (Hons) in Information Technology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Specializing in Information Technology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3F96C-7F53-0005-DD3C-8FD1E9FE315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C616C55-4AC9-3C0C-C3D4-AC49F5D0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7962"/>
            <a:ext cx="10363200" cy="1362075"/>
          </a:xfrm>
        </p:spPr>
        <p:txBody>
          <a:bodyPr/>
          <a:lstStyle/>
          <a:p>
            <a:r>
              <a:rPr lang="en-US" dirty="0"/>
              <a:t>IT21819810 | B.D.A.M Kumara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CB32B-38F9-54C3-1B9B-774265E7B5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76" y="124606"/>
            <a:ext cx="2133600" cy="26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05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A270-1977-7814-ADA7-5BF55750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Background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B0E52-4AEB-C305-6175-D1592B25E6B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2FB277-0267-3242-9B8C-34FBEE2F5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/>
          <a:lstStyle/>
          <a:p>
            <a:r>
              <a:rPr lang="en-US" dirty="0"/>
              <a:t>How can video engagement analysis be utilized as an objective tool to assess candidates' soft skills?</a:t>
            </a:r>
          </a:p>
          <a:p>
            <a:r>
              <a:rPr lang="en-US" dirty="0"/>
              <a:t>what are the potential advantages over traditional interview methods?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43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07DA-E916-C89E-C59E-5B952D7B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CAA00-39B1-165E-DA80-5F9BEFABAED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83EE2F-1C6F-5E7E-D1F0-7C43D2EC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/>
          <a:lstStyle/>
          <a:p>
            <a:r>
              <a:rPr lang="en-US" dirty="0"/>
              <a:t>How can video engagement metrics help us understand a candidate's focus and engagement?</a:t>
            </a:r>
          </a:p>
          <a:p>
            <a:r>
              <a:rPr lang="en-US" dirty="0"/>
              <a:t>How does a candidate’s engagement with the video relate to their task performance?</a:t>
            </a:r>
          </a:p>
          <a:p>
            <a:r>
              <a:rPr lang="en-US" dirty="0"/>
              <a:t>How can AI tools predict engagement levels during the interview?</a:t>
            </a:r>
          </a:p>
          <a:p>
            <a:r>
              <a:rPr lang="en-US" dirty="0"/>
              <a:t>How can we create a scoring model that combines video engagement and task performance?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13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24BF-DDC2-B6A0-C4B9-B6B3F47A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Research Gap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29C3FC-5681-BE94-6C92-C6573D6F2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017" y="1762594"/>
            <a:ext cx="8840657" cy="449722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96214C-4304-C0F5-885C-C5775492EE4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7" name="Picture 6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0388F638-9849-3C14-E074-575F44807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90800"/>
            <a:ext cx="336071" cy="340924"/>
          </a:xfrm>
          <a:prstGeom prst="rect">
            <a:avLst/>
          </a:prstGeom>
        </p:spPr>
      </p:pic>
      <p:pic>
        <p:nvPicPr>
          <p:cNvPr id="8" name="Picture 7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2A88B9F2-E904-90C8-3D33-2390E6D01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595" y="2586238"/>
            <a:ext cx="336071" cy="340924"/>
          </a:xfrm>
          <a:prstGeom prst="rect">
            <a:avLst/>
          </a:prstGeom>
        </p:spPr>
      </p:pic>
      <p:pic>
        <p:nvPicPr>
          <p:cNvPr id="9" name="Picture 8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7BBF7AF2-39C5-076E-2DBB-26FD9546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356" y="2586238"/>
            <a:ext cx="336071" cy="340924"/>
          </a:xfrm>
          <a:prstGeom prst="rect">
            <a:avLst/>
          </a:prstGeom>
        </p:spPr>
      </p:pic>
      <p:pic>
        <p:nvPicPr>
          <p:cNvPr id="10" name="Picture 9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FA9B5131-D73E-4396-5AB0-81F0F9AF6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180" y="2586238"/>
            <a:ext cx="336071" cy="340924"/>
          </a:xfrm>
          <a:prstGeom prst="rect">
            <a:avLst/>
          </a:prstGeom>
        </p:spPr>
      </p:pic>
      <p:pic>
        <p:nvPicPr>
          <p:cNvPr id="11" name="Picture 10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5CF16BC5-6018-A363-1E3D-38C5C422E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09" y="2586238"/>
            <a:ext cx="336071" cy="340924"/>
          </a:xfrm>
          <a:prstGeom prst="rect">
            <a:avLst/>
          </a:prstGeom>
        </p:spPr>
      </p:pic>
      <p:pic>
        <p:nvPicPr>
          <p:cNvPr id="12" name="Picture 11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BD6684D5-81D2-CF20-5E71-2D32CB9A2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223" y="3562894"/>
            <a:ext cx="336071" cy="340924"/>
          </a:xfrm>
          <a:prstGeom prst="rect">
            <a:avLst/>
          </a:prstGeom>
        </p:spPr>
      </p:pic>
      <p:pic>
        <p:nvPicPr>
          <p:cNvPr id="13" name="Picture 12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A6765FF6-60D7-A261-99AE-203BF551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651" y="3562450"/>
            <a:ext cx="336071" cy="340924"/>
          </a:xfrm>
          <a:prstGeom prst="rect">
            <a:avLst/>
          </a:prstGeom>
        </p:spPr>
      </p:pic>
      <p:pic>
        <p:nvPicPr>
          <p:cNvPr id="14" name="Picture 13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7D874765-33C0-66CA-D42C-0E35DD64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179" y="3510066"/>
            <a:ext cx="336071" cy="340924"/>
          </a:xfrm>
          <a:prstGeom prst="rect">
            <a:avLst/>
          </a:prstGeom>
        </p:spPr>
      </p:pic>
      <p:pic>
        <p:nvPicPr>
          <p:cNvPr id="15" name="Picture 14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B502A24D-61CF-EB64-E2E9-35F72E4D0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573475"/>
            <a:ext cx="336071" cy="340924"/>
          </a:xfrm>
          <a:prstGeom prst="rect">
            <a:avLst/>
          </a:prstGeom>
        </p:spPr>
      </p:pic>
      <p:pic>
        <p:nvPicPr>
          <p:cNvPr id="16" name="Picture 15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BC1D200A-7694-5AED-0289-BA4DD8811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603" y="4808911"/>
            <a:ext cx="336071" cy="340924"/>
          </a:xfrm>
          <a:prstGeom prst="rect">
            <a:avLst/>
          </a:prstGeom>
        </p:spPr>
      </p:pic>
      <p:pic>
        <p:nvPicPr>
          <p:cNvPr id="17" name="Picture 16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1DCD3456-EC13-1329-F86F-3AAEBEBC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565" y="4808911"/>
            <a:ext cx="336071" cy="340924"/>
          </a:xfrm>
          <a:prstGeom prst="rect">
            <a:avLst/>
          </a:prstGeom>
        </p:spPr>
      </p:pic>
      <p:pic>
        <p:nvPicPr>
          <p:cNvPr id="18" name="Picture 17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2A8FBC6C-FB86-4937-5F67-83F987DF7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602" y="5550194"/>
            <a:ext cx="336071" cy="340924"/>
          </a:xfrm>
          <a:prstGeom prst="rect">
            <a:avLst/>
          </a:prstGeom>
        </p:spPr>
      </p:pic>
      <p:pic>
        <p:nvPicPr>
          <p:cNvPr id="19" name="Picture 18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CD164C64-55D1-E0B7-74D6-5C856CB3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600" y="5505368"/>
            <a:ext cx="336071" cy="340924"/>
          </a:xfrm>
          <a:prstGeom prst="rect">
            <a:avLst/>
          </a:prstGeom>
        </p:spPr>
      </p:pic>
      <p:pic>
        <p:nvPicPr>
          <p:cNvPr id="20" name="Picture 19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9F43E430-AC4F-CB02-F7BF-40CAC537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707" y="5545375"/>
            <a:ext cx="336071" cy="340924"/>
          </a:xfrm>
          <a:prstGeom prst="rect">
            <a:avLst/>
          </a:prstGeom>
        </p:spPr>
      </p:pic>
      <p:pic>
        <p:nvPicPr>
          <p:cNvPr id="21" name="Picture 20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584D8D67-16F8-C8C6-7C56-95CBE2C9D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002" y="4790821"/>
            <a:ext cx="336071" cy="340924"/>
          </a:xfrm>
          <a:prstGeom prst="rect">
            <a:avLst/>
          </a:prstGeom>
        </p:spPr>
      </p:pic>
      <p:pic>
        <p:nvPicPr>
          <p:cNvPr id="22" name="Picture 21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EF2AC904-85E4-C81B-FDB3-ACAFD5857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537" y="5538666"/>
            <a:ext cx="336071" cy="340924"/>
          </a:xfrm>
          <a:prstGeom prst="rect">
            <a:avLst/>
          </a:prstGeom>
        </p:spPr>
      </p:pic>
      <p:pic>
        <p:nvPicPr>
          <p:cNvPr id="23" name="Picture 22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E827A484-90FF-0AF8-20A2-9B4BA5918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100" y="4808911"/>
            <a:ext cx="336071" cy="340924"/>
          </a:xfrm>
          <a:prstGeom prst="rect">
            <a:avLst/>
          </a:prstGeom>
        </p:spPr>
      </p:pic>
      <p:pic>
        <p:nvPicPr>
          <p:cNvPr id="24" name="Picture 23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5737F582-FE04-5067-56B2-5A992FA95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965" y="2550363"/>
            <a:ext cx="336071" cy="350448"/>
          </a:xfrm>
          <a:prstGeom prst="rect">
            <a:avLst/>
          </a:prstGeom>
        </p:spPr>
      </p:pic>
      <p:pic>
        <p:nvPicPr>
          <p:cNvPr id="25" name="Picture 24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6BECA622-25E3-B061-E9B0-FB1063EF5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912" y="5517122"/>
            <a:ext cx="336071" cy="350448"/>
          </a:xfrm>
          <a:prstGeom prst="rect">
            <a:avLst/>
          </a:prstGeom>
        </p:spPr>
      </p:pic>
      <p:pic>
        <p:nvPicPr>
          <p:cNvPr id="26" name="Picture 25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3E3B41F5-B645-5803-B2A2-B543770FE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180" y="5510728"/>
            <a:ext cx="336071" cy="350448"/>
          </a:xfrm>
          <a:prstGeom prst="rect">
            <a:avLst/>
          </a:prstGeom>
        </p:spPr>
      </p:pic>
      <p:pic>
        <p:nvPicPr>
          <p:cNvPr id="27" name="Picture 26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AEDBD4C8-3081-A5A5-7ECE-D3D826CDC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965" y="3501042"/>
            <a:ext cx="336071" cy="350448"/>
          </a:xfrm>
          <a:prstGeom prst="rect">
            <a:avLst/>
          </a:prstGeom>
        </p:spPr>
      </p:pic>
      <p:pic>
        <p:nvPicPr>
          <p:cNvPr id="28" name="Picture 27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8C99D4EE-4D00-9D3C-6230-6B8225051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912" y="4774424"/>
            <a:ext cx="336071" cy="350448"/>
          </a:xfrm>
          <a:prstGeom prst="rect">
            <a:avLst/>
          </a:prstGeom>
        </p:spPr>
      </p:pic>
      <p:pic>
        <p:nvPicPr>
          <p:cNvPr id="29" name="Picture 28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C4769FA5-08CD-4B8D-2ECF-E3E13A8C2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08" y="4778531"/>
            <a:ext cx="336071" cy="350448"/>
          </a:xfrm>
          <a:prstGeom prst="rect">
            <a:avLst/>
          </a:prstGeom>
        </p:spPr>
      </p:pic>
      <p:pic>
        <p:nvPicPr>
          <p:cNvPr id="30" name="Picture 29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F13533C8-E926-A90C-114D-C598F883D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595" y="3563951"/>
            <a:ext cx="336071" cy="350448"/>
          </a:xfrm>
          <a:prstGeom prst="rect">
            <a:avLst/>
          </a:prstGeom>
        </p:spPr>
      </p:pic>
      <p:sp>
        <p:nvSpPr>
          <p:cNvPr id="33" name="Rectangle 2">
            <a:extLst>
              <a:ext uri="{FF2B5EF4-FFF2-40B4-BE49-F238E27FC236}">
                <a16:creationId xmlns:a16="http://schemas.microsoft.com/office/drawing/2014/main" id="{F0690A35-3D42-B937-A2AB-D612608D4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948" y="1016606"/>
            <a:ext cx="423403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Addressed by the research paper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Not addressed by the research paper </a:t>
            </a:r>
          </a:p>
        </p:txBody>
      </p:sp>
      <p:pic>
        <p:nvPicPr>
          <p:cNvPr id="34" name="Picture 33" descr="A red circle with a black x in it&#10;&#10;Description automatically generated">
            <a:extLst>
              <a:ext uri="{FF2B5EF4-FFF2-40B4-BE49-F238E27FC236}">
                <a16:creationId xmlns:a16="http://schemas.microsoft.com/office/drawing/2014/main" id="{CCA156EF-5E25-71C2-EA88-BA9E5AE9E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15" y="1332564"/>
            <a:ext cx="336071" cy="340924"/>
          </a:xfrm>
          <a:prstGeom prst="rect">
            <a:avLst/>
          </a:prstGeom>
        </p:spPr>
      </p:pic>
      <p:pic>
        <p:nvPicPr>
          <p:cNvPr id="35" name="Picture 34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02EA23E8-5FC0-E336-E396-D0ADC1B97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900" y="1016606"/>
            <a:ext cx="336071" cy="35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163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CB37-7951-4023-FCD2-ACD5A32D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490E-B3A5-C3E2-CD57-8928F2DBED9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3D92E6-8E9C-653D-566C-E271ED7F0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3200" b="1" dirty="0"/>
              <a:t>Specific Objective</a:t>
            </a:r>
          </a:p>
          <a:p>
            <a:pPr marL="0" indent="0">
              <a:buNone/>
            </a:pPr>
            <a:endParaRPr lang="en-GB" sz="3200" b="1" dirty="0"/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 develop a method for analyzing soft skills during interviews by combining video engagement metrics and task performance data, using AI tools to make the analysis more accurate.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3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200" b="1" dirty="0"/>
              <a:t>Sub Objectives</a:t>
            </a:r>
          </a:p>
          <a:p>
            <a:pPr>
              <a:lnSpc>
                <a:spcPct val="120000"/>
              </a:lnSpc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Analyze video engagement metrics, like video completion and skipping behavior.</a:t>
            </a:r>
            <a:endParaRPr lang="en-GB" sz="3200" dirty="0">
              <a:ea typeface="+mn-lt"/>
              <a:cs typeface="+mn-lt"/>
            </a:endParaRPr>
          </a:p>
          <a:p>
            <a:pPr>
              <a:lnSpc>
                <a:spcPct val="120000"/>
              </a:lnSpc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Measure how well candidates perform on multiple-choice questions, such as accuracy </a:t>
            </a:r>
          </a:p>
          <a:p>
            <a:pPr>
              <a:lnSpc>
                <a:spcPct val="120000"/>
              </a:lnSpc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Use AI to predict engagement levels (High, Moderate, Low).</a:t>
            </a:r>
          </a:p>
          <a:p>
            <a:pPr>
              <a:lnSpc>
                <a:spcPct val="120000"/>
              </a:lnSpc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Design a scoring system that combines video engagement (40%) and task performance (60%).</a:t>
            </a:r>
          </a:p>
          <a:p>
            <a:pPr>
              <a:lnSpc>
                <a:spcPct val="120000"/>
              </a:lnSpc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Test the method with real-world data.</a:t>
            </a:r>
          </a:p>
          <a:p>
            <a:pPr marL="0" indent="0">
              <a:buNone/>
            </a:pP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endParaRPr lang="en-GB" sz="3200" dirty="0">
              <a:latin typeface="+mj-lt"/>
              <a:cs typeface="Calibri Ligh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30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1119-027A-C089-D136-9BC66B5F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A1C89-8EF3-FA84-2700-5C5C3AC982A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7977820-BAC7-3774-B881-DC01807BB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33" y="1143000"/>
            <a:ext cx="9211733" cy="5181600"/>
          </a:xfrm>
        </p:spPr>
      </p:pic>
    </p:spTree>
    <p:extLst>
      <p:ext uri="{BB962C8B-B14F-4D97-AF65-F5344CB8AC3E}">
        <p14:creationId xmlns:p14="http://schemas.microsoft.com/office/powerpoint/2010/main" val="10928043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8D2A-A81E-E04F-99C3-3856D068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637EE-0034-24A9-56CC-859FB03A534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FFC1AF-BA22-8B71-5BD2-8BA8C0F42C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11684000" cy="66274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cs typeface="Calibri"/>
              </a:rPr>
              <a:t>Functional Requirements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 Interaction Tracking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MCQ Performance Monitoring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Metrics Computation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Integration</a:t>
            </a:r>
          </a:p>
          <a:p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Feedback</a:t>
            </a:r>
            <a:endParaRPr lang="en-GB" sz="2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2400" b="1" dirty="0">
                <a:latin typeface="Calibri"/>
                <a:cs typeface="Calibri"/>
              </a:rPr>
              <a:t>Non-Functional Requirements</a:t>
            </a:r>
            <a:endParaRPr lang="en-GB" dirty="0"/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Performance</a:t>
            </a:r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Usability</a:t>
            </a:r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Reliability</a:t>
            </a:r>
          </a:p>
          <a:p>
            <a:r>
              <a:rPr lang="en-US" sz="2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Compatibility</a:t>
            </a:r>
            <a:endParaRPr lang="en-GB" sz="22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2400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3621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D8DE-4342-92A4-B5B2-63128446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Work Breakdown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D21522-8264-C610-E656-D0DCE8504F1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Content Placeholder 10" descr="A diagram of a software development&#10;&#10;Description automatically generated">
            <a:extLst>
              <a:ext uri="{FF2B5EF4-FFF2-40B4-BE49-F238E27FC236}">
                <a16:creationId xmlns:a16="http://schemas.microsoft.com/office/drawing/2014/main" id="{0E5D7C4C-7084-8C24-B218-2C375C60A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85" y="1143000"/>
            <a:ext cx="8913030" cy="5181600"/>
          </a:xfrm>
        </p:spPr>
      </p:pic>
    </p:spTree>
    <p:extLst>
      <p:ext uri="{BB962C8B-B14F-4D97-AF65-F5344CB8AC3E}">
        <p14:creationId xmlns:p14="http://schemas.microsoft.com/office/powerpoint/2010/main" val="848442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6E51-7C76-41EC-8C0B-2719564C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Gannt 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FC5F2-B6AE-6790-5BC5-F4BF1B533EE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BD6E09F0-A943-472F-05B3-CC7604B37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04" y="1143000"/>
            <a:ext cx="5607792" cy="5181600"/>
          </a:xfrm>
        </p:spPr>
      </p:pic>
    </p:spTree>
    <p:extLst>
      <p:ext uri="{BB962C8B-B14F-4D97-AF65-F5344CB8AC3E}">
        <p14:creationId xmlns:p14="http://schemas.microsoft.com/office/powerpoint/2010/main" val="1528097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CC76-5B74-8E16-C3B8-D8C4205F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Tools &amp; Technologies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52308-A8BB-5968-1208-A91D1AEF68B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Picture 24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390E93E-C9E2-9AB6-4539-317FA6FF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94" y="1761860"/>
            <a:ext cx="1251398" cy="1540784"/>
          </a:xfrm>
          <a:prstGeom prst="rect">
            <a:avLst/>
          </a:prstGeom>
        </p:spPr>
      </p:pic>
      <p:pic>
        <p:nvPicPr>
          <p:cNvPr id="6" name="Picture 25" descr="A blue and yellow snake logo&#10;&#10;Description automatically generated">
            <a:extLst>
              <a:ext uri="{FF2B5EF4-FFF2-40B4-BE49-F238E27FC236}">
                <a16:creationId xmlns:a16="http://schemas.microsoft.com/office/drawing/2014/main" id="{8E9785EC-74A5-4F85-C347-F0BA6284B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540" y="1964536"/>
            <a:ext cx="1251398" cy="1374767"/>
          </a:xfrm>
          <a:prstGeom prst="rect">
            <a:avLst/>
          </a:prstGeom>
        </p:spPr>
      </p:pic>
      <p:pic>
        <p:nvPicPr>
          <p:cNvPr id="7" name="Picture 6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58E473D-4A10-1E2A-861F-3D150769C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136" y="1440654"/>
            <a:ext cx="2057641" cy="2057641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088FA93-AF1D-FCA0-8DB3-63D5DAED0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263" y="3599608"/>
            <a:ext cx="1536700" cy="1536700"/>
          </a:xfrm>
          <a:prstGeom prst="rect">
            <a:avLst/>
          </a:prstGeom>
        </p:spPr>
      </p:pic>
      <p:pic>
        <p:nvPicPr>
          <p:cNvPr id="9" name="Picture 8" descr="A green leaf with brown text&#10;&#10;Description automatically generated">
            <a:extLst>
              <a:ext uri="{FF2B5EF4-FFF2-40B4-BE49-F238E27FC236}">
                <a16:creationId xmlns:a16="http://schemas.microsoft.com/office/drawing/2014/main" id="{400D53E9-0007-9A2A-A831-0886FD8251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437" y="3233017"/>
            <a:ext cx="2057641" cy="2057641"/>
          </a:xfrm>
          <a:prstGeom prst="rect">
            <a:avLst/>
          </a:prstGeom>
        </p:spPr>
      </p:pic>
      <p:pic>
        <p:nvPicPr>
          <p:cNvPr id="10" name="Picture 9" descr="A logo with a smile&#10;&#10;Description automatically generated">
            <a:extLst>
              <a:ext uri="{FF2B5EF4-FFF2-40B4-BE49-F238E27FC236}">
                <a16:creationId xmlns:a16="http://schemas.microsoft.com/office/drawing/2014/main" id="{C224AD33-7F4F-A695-DCF1-5582BEF57D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975" y="3498295"/>
            <a:ext cx="2166608" cy="1218717"/>
          </a:xfrm>
          <a:prstGeom prst="rect">
            <a:avLst/>
          </a:prstGeom>
        </p:spPr>
      </p:pic>
      <p:pic>
        <p:nvPicPr>
          <p:cNvPr id="11" name="Picture 12" descr="Firebase Brand Guidelines">
            <a:extLst>
              <a:ext uri="{FF2B5EF4-FFF2-40B4-BE49-F238E27FC236}">
                <a16:creationId xmlns:a16="http://schemas.microsoft.com/office/drawing/2014/main" id="{38501CEB-77AA-ED75-57EE-22525C90D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895" y="3605285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455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D686-06DA-D6F3-7CEC-21B3E070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3853FE-99D8-3FCA-3834-66EF8E82562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IT21819810</a:t>
            </a:r>
            <a:r>
              <a:rPr lang="en-US" sz="1800" dirty="0">
                <a:solidFill>
                  <a:schemeClr val="tx1"/>
                </a:solidFill>
              </a:rPr>
              <a:t>  |   B.D.A.M Kumara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025-040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CEDC55-AF5B-BFA6-915E-C949ACC5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[1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] A. Agrawal, S. Chakraborty, and K. Ghosh, "Analyzing Behavioral Cues in Video Interviews for Candidate Assessment," </a:t>
            </a:r>
            <a:r>
              <a:rPr lang="en-US" sz="18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arXiv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preprint arXiv:2006.07909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2020. 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u="sng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https://arxiv.org/abs/2006.07909</a:t>
            </a:r>
            <a:r>
              <a:rPr lang="en-US" sz="18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[2] B.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Niemitz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A.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Wihler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"The (null) effects of video questions on applicant reactions in asynchronous video interviews: Evidence from an actual hiring context," Int. J. Select. Assess., vol. 32, no. 1, pp. 1–15, 2024.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u="sng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</a:t>
            </a:r>
            <a:endParaRPr lang="en-US" sz="1800" u="sng" kern="100" dirty="0">
              <a:solidFill>
                <a:srgbClr val="00B0F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[3]M. Abdullah, K. Alissa, and O.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Alzoubi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"New user engagement prediction using machine learning algorithms," 2023 14th International Conference on Information and Communication Systems (ICICS), Irbid, Jordan, 21-23 Nov. 2023, pp. 1-6. </a:t>
            </a:r>
            <a:r>
              <a:rPr lang="en-US" sz="18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https://doi.org/10.1109/ICICS60529.2023.10330488. ISBN: 979-8-3503-0786-3, ISSN: 2573-3346.</a:t>
            </a:r>
            <a:endParaRPr lang="en-US" sz="1800" kern="100" dirty="0">
              <a:solidFill>
                <a:srgbClr val="00B0F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[4]R. T. Khan, M. S. Rizvi, and S. A. Singh, "Predictive analytics for job candidate assessment: Developing a holistic scoring model," Int. J. Hum.-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Interact., vol. 38, no. 5, pp. 112–125, 2022,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10.1080/10447318.2021.1980763.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[5] A. Khan et al., "The Impact of Employee Engagement on Task Performance," 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International Journal of Business and Management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vol. 13, no. 5, pp. 74–84, 2018.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https://www.academia.edu/96376169.</a:t>
            </a:r>
            <a:endParaRPr lang="en-US" sz="1800" kern="100" dirty="0">
              <a:solidFill>
                <a:srgbClr val="00B0F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4276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C1BA-EA05-CA58-808B-55A13330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cap="all" dirty="0" err="1">
                <a:solidFill>
                  <a:srgbClr val="002060"/>
                </a:solidFill>
                <a:latin typeface="Aptos" panose="020B0004020202020204" pitchFamily="34" charset="0"/>
                <a:cs typeface="+mj-cs"/>
              </a:rPr>
              <a:t>CommErcialization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0C442-CDB8-4191-9F1C-0C65A43DF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Our main target audience is </a:t>
            </a:r>
            <a:r>
              <a:rPr lang="en-US" dirty="0"/>
              <a:t>companies which hire candidates.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Market the system under affordable price with a web camera and a microphone.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3299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C05B-A428-A523-9D8A-76EB36F0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Data sets to be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CF92-E2F2-3AB4-591B-52E109F94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Detect Confident: (Kaggle) </a:t>
            </a:r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https://www.kaggle.com/datasets/swarupakulkarni/voice-based-confidence-recognizer?utm_source=chatgpt.com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Detect Stress Level: (Kaggle) </a:t>
            </a:r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https://www.kaggle.com/datasets/msambare/fer2013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Detect Decision Making Skill:(AMI  meeting groups) </a:t>
            </a:r>
            <a:r>
              <a:rPr lang="en-US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https://groups.inf.ed.ac.uk/ami/download/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Detect Engagement Skill:(Mendeley data) </a:t>
            </a:r>
            <a:r>
              <a:rPr lang="en-US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https://www.selectdataset.com/dataset/c5a2fbdb76db33f357c4f05a3f58a0fc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https://paperswithcode.com/dataset/im-sportingbehaviors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93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F11F61-FABF-29B5-EACF-AC104542F034}"/>
              </a:ext>
            </a:extLst>
          </p:cNvPr>
          <p:cNvSpPr/>
          <p:nvPr/>
        </p:nvSpPr>
        <p:spPr>
          <a:xfrm>
            <a:off x="3657600" y="1828800"/>
            <a:ext cx="5715000" cy="28956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9416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</Template>
  <TotalTime>1705</TotalTime>
  <Words>3127</Words>
  <Application>Microsoft Office PowerPoint</Application>
  <PresentationFormat>Widescreen</PresentationFormat>
  <Paragraphs>284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Adobe Devanagari</vt:lpstr>
      <vt:lpstr>Aptos</vt:lpstr>
      <vt:lpstr>Arial</vt:lpstr>
      <vt:lpstr>Calibri</vt:lpstr>
      <vt:lpstr>Calibri </vt:lpstr>
      <vt:lpstr>Calibri Light</vt:lpstr>
      <vt:lpstr>Cambria</vt:lpstr>
      <vt:lpstr>Wingdings</vt:lpstr>
      <vt:lpstr>Office Theme</vt:lpstr>
      <vt:lpstr>AI Based Candidates Recommending System For a Company Vacancy</vt:lpstr>
      <vt:lpstr>Team Members </vt:lpstr>
      <vt:lpstr>Introduction</vt:lpstr>
      <vt:lpstr>Research Problem</vt:lpstr>
      <vt:lpstr>Research Objectives</vt:lpstr>
      <vt:lpstr>Overall System Diagram </vt:lpstr>
      <vt:lpstr>IT21834424 | De Silva R.S.K</vt:lpstr>
      <vt:lpstr>Background</vt:lpstr>
      <vt:lpstr>Research Question</vt:lpstr>
      <vt:lpstr>Research Gap</vt:lpstr>
      <vt:lpstr>Objectives</vt:lpstr>
      <vt:lpstr>Proposed Solution</vt:lpstr>
      <vt:lpstr>Requirements</vt:lpstr>
      <vt:lpstr>Work Breakdown Structure</vt:lpstr>
      <vt:lpstr>Gantt Chart</vt:lpstr>
      <vt:lpstr>Tools &amp; Technologies</vt:lpstr>
      <vt:lpstr>References</vt:lpstr>
      <vt:lpstr>IT21815614 | K.T.A.D.K Kasthurirathna </vt:lpstr>
      <vt:lpstr>Background</vt:lpstr>
      <vt:lpstr>Research Question</vt:lpstr>
      <vt:lpstr>Research Gap</vt:lpstr>
      <vt:lpstr>Objectives</vt:lpstr>
      <vt:lpstr>Proposed Solution</vt:lpstr>
      <vt:lpstr>Requirements</vt:lpstr>
      <vt:lpstr>PowerPoint Presentation</vt:lpstr>
      <vt:lpstr>Work Breakdown Structure</vt:lpstr>
      <vt:lpstr>Gantt Chart</vt:lpstr>
      <vt:lpstr>Tools &amp; Technologies</vt:lpstr>
      <vt:lpstr>References</vt:lpstr>
      <vt:lpstr>IT21838620 | S.U.D.A Gunasekara </vt:lpstr>
      <vt:lpstr>Background</vt:lpstr>
      <vt:lpstr>Research Question</vt:lpstr>
      <vt:lpstr>Research Gap</vt:lpstr>
      <vt:lpstr>Objectives</vt:lpstr>
      <vt:lpstr>Proposed Solution</vt:lpstr>
      <vt:lpstr>Requirements</vt:lpstr>
      <vt:lpstr>Work Breakdown Structure</vt:lpstr>
      <vt:lpstr>Gantt Chart</vt:lpstr>
      <vt:lpstr>Tools &amp; Technologies</vt:lpstr>
      <vt:lpstr>References</vt:lpstr>
      <vt:lpstr>IT21819810 | B.D.A.M Kumara </vt:lpstr>
      <vt:lpstr>Background</vt:lpstr>
      <vt:lpstr>Research Question</vt:lpstr>
      <vt:lpstr>Research Gap</vt:lpstr>
      <vt:lpstr>Objectives</vt:lpstr>
      <vt:lpstr>Proposed Solution</vt:lpstr>
      <vt:lpstr>Requirements</vt:lpstr>
      <vt:lpstr>Work Breakdown Structure</vt:lpstr>
      <vt:lpstr>Gannt Chart</vt:lpstr>
      <vt:lpstr>Tools &amp; Technologies</vt:lpstr>
      <vt:lpstr>References</vt:lpstr>
      <vt:lpstr>CommErcialization</vt:lpstr>
      <vt:lpstr>Data sets to be used: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Sandali De Silva</dc:creator>
  <cp:lastModifiedBy>De Silva R.S.K it21834424</cp:lastModifiedBy>
  <cp:revision>28</cp:revision>
  <dcterms:created xsi:type="dcterms:W3CDTF">2025-01-25T11:05:06Z</dcterms:created>
  <dcterms:modified xsi:type="dcterms:W3CDTF">2025-04-02T20:47:25Z</dcterms:modified>
</cp:coreProperties>
</file>