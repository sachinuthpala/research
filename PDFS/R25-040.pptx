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18288000" cy="10287000"/>
  <p:notesSz cx="6858000" cy="9144000"/>
  <p:embeddedFontLst>
    <p:embeddedFont>
      <p:font typeface="Helvetica World" panose="020B0604020202020204" charset="-128"/>
      <p:regular r:id="rId80"/>
    </p:embeddedFont>
    <p:embeddedFont>
      <p:font typeface="Helvetica World Bold" panose="020B0604020202020204" charset="-128"/>
      <p:regular r:id="rId81"/>
    </p:embeddedFont>
    <p:embeddedFont>
      <p:font typeface="Canva Sans" panose="020B0604020202020204" charset="0"/>
      <p:regular r:id="rId82"/>
    </p:embeddedFont>
    <p:embeddedFont>
      <p:font typeface="Canva Sans Bold" panose="020B0604020202020204" charset="0"/>
      <p:regular r:id="rId83"/>
    </p:embeddedFont>
    <p:embeddedFont>
      <p:font typeface="Norwester" panose="020B0604020202020204" charset="0"/>
      <p:regular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86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2.png"/><Relationship Id="rId3" Type="http://schemas.openxmlformats.org/officeDocument/2006/relationships/image" Target="../media/image61.png"/><Relationship Id="rId7" Type="http://schemas.openxmlformats.org/officeDocument/2006/relationships/image" Target="../media/image38.png"/><Relationship Id="rId12" Type="http://schemas.openxmlformats.org/officeDocument/2006/relationships/image" Target="../media/image6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6.png"/><Relationship Id="rId5" Type="http://schemas.openxmlformats.org/officeDocument/2006/relationships/image" Target="../media/image40.png"/><Relationship Id="rId10" Type="http://schemas.openxmlformats.org/officeDocument/2006/relationships/image" Target="../media/image65.png"/><Relationship Id="rId4" Type="http://schemas.openxmlformats.org/officeDocument/2006/relationships/image" Target="../media/image62.png"/><Relationship Id="rId9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neuroscience/articles/10.3389/fnins.2022.947168/full" TargetMode="External"/><Relationship Id="rId2" Type="http://schemas.openxmlformats.org/officeDocument/2006/relationships/hyperlink" Target="https://ijarcce.com/papers/real-time-stress-detection-and-analysis-using-facial-emotion-recognition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dl.acm.org/doi/10.1145/3639709" TargetMode="External"/><Relationship Id="rId4" Type="http://schemas.openxmlformats.org/officeDocument/2006/relationships/hyperlink" Target="https://www.ncbi.nlm.nih.gov/pmc/articles/PMC10004542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3" Type="http://schemas.openxmlformats.org/officeDocument/2006/relationships/image" Target="../media/image40.png"/><Relationship Id="rId7" Type="http://schemas.openxmlformats.org/officeDocument/2006/relationships/image" Target="../media/image64.png"/><Relationship Id="rId12" Type="http://schemas.openxmlformats.org/officeDocument/2006/relationships/image" Target="../media/image8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62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38.png"/><Relationship Id="rId9" Type="http://schemas.openxmlformats.org/officeDocument/2006/relationships/image" Target="../media/image81.png"/><Relationship Id="rId1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jpeg"/><Relationship Id="rId13" Type="http://schemas.openxmlformats.org/officeDocument/2006/relationships/image" Target="../media/image99.jpeg"/><Relationship Id="rId3" Type="http://schemas.openxmlformats.org/officeDocument/2006/relationships/image" Target="../media/image89.jpeg"/><Relationship Id="rId7" Type="http://schemas.openxmlformats.org/officeDocument/2006/relationships/image" Target="../media/image93.jpeg"/><Relationship Id="rId12" Type="http://schemas.openxmlformats.org/officeDocument/2006/relationships/image" Target="../media/image9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jpeg"/><Relationship Id="rId11" Type="http://schemas.openxmlformats.org/officeDocument/2006/relationships/image" Target="../media/image97.jpeg"/><Relationship Id="rId5" Type="http://schemas.openxmlformats.org/officeDocument/2006/relationships/image" Target="../media/image91.jpeg"/><Relationship Id="rId15" Type="http://schemas.openxmlformats.org/officeDocument/2006/relationships/image" Target="../media/image101.jpeg"/><Relationship Id="rId10" Type="http://schemas.openxmlformats.org/officeDocument/2006/relationships/image" Target="../media/image96.jpeg"/><Relationship Id="rId4" Type="http://schemas.openxmlformats.org/officeDocument/2006/relationships/image" Target="../media/image90.jpeg"/><Relationship Id="rId9" Type="http://schemas.openxmlformats.org/officeDocument/2006/relationships/image" Target="../media/image95.jpeg"/><Relationship Id="rId14" Type="http://schemas.openxmlformats.org/officeDocument/2006/relationships/image" Target="../media/image100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jpeg"/><Relationship Id="rId4" Type="http://schemas.openxmlformats.org/officeDocument/2006/relationships/image" Target="../media/image103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0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80.png"/><Relationship Id="rId7" Type="http://schemas.openxmlformats.org/officeDocument/2006/relationships/image" Target="../media/image37.png"/><Relationship Id="rId12" Type="http://schemas.openxmlformats.org/officeDocument/2006/relationships/image" Target="../media/image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113.png"/><Relationship Id="rId5" Type="http://schemas.openxmlformats.org/officeDocument/2006/relationships/image" Target="../media/image32.png"/><Relationship Id="rId10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3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GjUAfEFv0/xpGNaqc0_JIBG4ydwF9T8Q/edit?utm_content=DAGjUAfEFv0&amp;utm_campaign=designshare&amp;utm_medium=link2&amp;utm_source=sharebutt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1728" y="1028700"/>
            <a:ext cx="7548907" cy="4986379"/>
          </a:xfrm>
          <a:custGeom>
            <a:avLst/>
            <a:gdLst/>
            <a:ahLst/>
            <a:cxnLst/>
            <a:rect l="l" t="t" r="r" b="b"/>
            <a:pathLst>
              <a:path w="7548907" h="4986379">
                <a:moveTo>
                  <a:pt x="0" y="0"/>
                </a:moveTo>
                <a:lnTo>
                  <a:pt x="7548907" y="0"/>
                </a:lnTo>
                <a:lnTo>
                  <a:pt x="7548907" y="4986379"/>
                </a:lnTo>
                <a:lnTo>
                  <a:pt x="0" y="498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35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05178" y="1209675"/>
            <a:ext cx="9096550" cy="727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AI BASED CANDIDATES RECOMMENDING SYSTEM FOR A COMPANY VACANCY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90667" y="7568154"/>
            <a:ext cx="620590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7AFFF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ID :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97620" y="6468842"/>
            <a:ext cx="359199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7AFFF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InsightHire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5337" y="3461546"/>
            <a:ext cx="4876873" cy="4426842"/>
          </a:xfrm>
          <a:custGeom>
            <a:avLst/>
            <a:gdLst/>
            <a:ahLst/>
            <a:cxnLst/>
            <a:rect l="l" t="t" r="r" b="b"/>
            <a:pathLst>
              <a:path w="4876873" h="4426842">
                <a:moveTo>
                  <a:pt x="0" y="0"/>
                </a:moveTo>
                <a:lnTo>
                  <a:pt x="4876873" y="0"/>
                </a:lnTo>
                <a:lnTo>
                  <a:pt x="4876873" y="4426841"/>
                </a:lnTo>
                <a:lnTo>
                  <a:pt x="0" y="4426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rnd">
            <a:noFill/>
            <a:prstDash val="lg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9328050"/>
            <a:ext cx="4893106" cy="958950"/>
          </a:xfrm>
          <a:custGeom>
            <a:avLst/>
            <a:gdLst/>
            <a:ahLst/>
            <a:cxnLst/>
            <a:rect l="l" t="t" r="r" b="b"/>
            <a:pathLst>
              <a:path w="4893106" h="958950">
                <a:moveTo>
                  <a:pt x="0" y="0"/>
                </a:moveTo>
                <a:lnTo>
                  <a:pt x="4893106" y="0"/>
                </a:lnTo>
                <a:lnTo>
                  <a:pt x="4893106" y="958950"/>
                </a:lnTo>
                <a:lnTo>
                  <a:pt x="0" y="958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162750" y="1257300"/>
            <a:ext cx="9096550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01437" y="2769562"/>
            <a:ext cx="10105761" cy="635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Finding the right candidate today goes beyond resumes. Traditional hiring methods often miss crucial soft skills like confidence, stress management, decision-making, engagement, presentation skills and hand behaviors—key factors for job success. To ensure a more efficient, unbiased, and effective hiring process, innovative solutions are essential in identifying candidates who truly fit organizational needs and culture.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51221" y="5143500"/>
            <a:ext cx="2342998" cy="234299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5998" y="0"/>
                  </a:moveTo>
                  <a:lnTo>
                    <a:pt x="736802" y="0"/>
                  </a:lnTo>
                  <a:cubicBezTo>
                    <a:pt x="778774" y="0"/>
                    <a:pt x="812800" y="34026"/>
                    <a:pt x="812800" y="75998"/>
                  </a:cubicBezTo>
                  <a:lnTo>
                    <a:pt x="812800" y="736802"/>
                  </a:lnTo>
                  <a:cubicBezTo>
                    <a:pt x="812800" y="778774"/>
                    <a:pt x="778774" y="812800"/>
                    <a:pt x="736802" y="812800"/>
                  </a:cubicBezTo>
                  <a:lnTo>
                    <a:pt x="75998" y="812800"/>
                  </a:lnTo>
                  <a:cubicBezTo>
                    <a:pt x="34026" y="812800"/>
                    <a:pt x="0" y="778774"/>
                    <a:pt x="0" y="736802"/>
                  </a:cubicBezTo>
                  <a:lnTo>
                    <a:pt x="0" y="75998"/>
                  </a:lnTo>
                  <a:cubicBezTo>
                    <a:pt x="0" y="34026"/>
                    <a:pt x="34026" y="0"/>
                    <a:pt x="75998" y="0"/>
                  </a:cubicBezTo>
                  <a:close/>
                </a:path>
              </a:pathLst>
            </a:custGeom>
            <a:blipFill>
              <a:blip r:embed="rId2"/>
              <a:stretch>
                <a:fillRect t="-16628" b="-166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08294" y="1028700"/>
            <a:ext cx="2623185" cy="262318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37168" y="5143500"/>
            <a:ext cx="2342998" cy="234299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5998" y="0"/>
                  </a:moveTo>
                  <a:lnTo>
                    <a:pt x="736802" y="0"/>
                  </a:lnTo>
                  <a:cubicBezTo>
                    <a:pt x="778774" y="0"/>
                    <a:pt x="812800" y="34026"/>
                    <a:pt x="812800" y="75998"/>
                  </a:cubicBezTo>
                  <a:lnTo>
                    <a:pt x="812800" y="736802"/>
                  </a:lnTo>
                  <a:cubicBezTo>
                    <a:pt x="812800" y="778774"/>
                    <a:pt x="778774" y="812800"/>
                    <a:pt x="736802" y="812800"/>
                  </a:cubicBezTo>
                  <a:lnTo>
                    <a:pt x="75998" y="812800"/>
                  </a:lnTo>
                  <a:cubicBezTo>
                    <a:pt x="34026" y="812800"/>
                    <a:pt x="0" y="778774"/>
                    <a:pt x="0" y="736802"/>
                  </a:cubicBezTo>
                  <a:lnTo>
                    <a:pt x="0" y="75998"/>
                  </a:lnTo>
                  <a:cubicBezTo>
                    <a:pt x="0" y="34026"/>
                    <a:pt x="34026" y="0"/>
                    <a:pt x="75998" y="0"/>
                  </a:cubicBezTo>
                  <a:close/>
                </a:path>
              </a:pathLst>
            </a:custGeom>
            <a:blipFill>
              <a:blip r:embed="rId4"/>
              <a:stretch>
                <a:fillRect b="-304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23116" y="5219636"/>
            <a:ext cx="2342998" cy="234299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5998" y="0"/>
                  </a:moveTo>
                  <a:lnTo>
                    <a:pt x="736802" y="0"/>
                  </a:lnTo>
                  <a:cubicBezTo>
                    <a:pt x="778774" y="0"/>
                    <a:pt x="812800" y="34026"/>
                    <a:pt x="812800" y="75998"/>
                  </a:cubicBezTo>
                  <a:lnTo>
                    <a:pt x="812800" y="736802"/>
                  </a:lnTo>
                  <a:cubicBezTo>
                    <a:pt x="812800" y="778774"/>
                    <a:pt x="778774" y="812800"/>
                    <a:pt x="736802" y="812800"/>
                  </a:cubicBezTo>
                  <a:lnTo>
                    <a:pt x="75998" y="812800"/>
                  </a:lnTo>
                  <a:cubicBezTo>
                    <a:pt x="34026" y="812800"/>
                    <a:pt x="0" y="778774"/>
                    <a:pt x="0" y="736802"/>
                  </a:cubicBezTo>
                  <a:lnTo>
                    <a:pt x="0" y="75998"/>
                  </a:lnTo>
                  <a:cubicBezTo>
                    <a:pt x="0" y="34026"/>
                    <a:pt x="34026" y="0"/>
                    <a:pt x="75998" y="0"/>
                  </a:cubicBezTo>
                  <a:close/>
                </a:path>
              </a:pathLst>
            </a:custGeom>
            <a:blipFill>
              <a:blip r:embed="rId5"/>
              <a:stretch>
                <a:fillRect b="-258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80489" y="1028700"/>
            <a:ext cx="2623185" cy="262318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6"/>
              <a:stretch>
                <a:fillRect b="-500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756199" y="1028700"/>
            <a:ext cx="2623185" cy="262318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solidFill>
              <a:srgbClr val="7AFFF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65273" y="5123981"/>
            <a:ext cx="2342998" cy="234299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5998" y="0"/>
                  </a:moveTo>
                  <a:lnTo>
                    <a:pt x="736802" y="0"/>
                  </a:lnTo>
                  <a:cubicBezTo>
                    <a:pt x="778774" y="0"/>
                    <a:pt x="812800" y="34026"/>
                    <a:pt x="812800" y="75998"/>
                  </a:cubicBezTo>
                  <a:lnTo>
                    <a:pt x="812800" y="736802"/>
                  </a:lnTo>
                  <a:cubicBezTo>
                    <a:pt x="812800" y="778774"/>
                    <a:pt x="778774" y="812800"/>
                    <a:pt x="736802" y="812800"/>
                  </a:cubicBezTo>
                  <a:lnTo>
                    <a:pt x="75998" y="812800"/>
                  </a:lnTo>
                  <a:cubicBezTo>
                    <a:pt x="34026" y="812800"/>
                    <a:pt x="0" y="778774"/>
                    <a:pt x="0" y="736802"/>
                  </a:cubicBezTo>
                  <a:lnTo>
                    <a:pt x="0" y="75998"/>
                  </a:lnTo>
                  <a:cubicBezTo>
                    <a:pt x="0" y="34026"/>
                    <a:pt x="34026" y="0"/>
                    <a:pt x="75998" y="0"/>
                  </a:cubicBezTo>
                  <a:close/>
                </a:path>
              </a:pathLst>
            </a:custGeom>
            <a:blipFill>
              <a:blip r:embed="rId7"/>
              <a:stretch>
                <a:fillRect t="-11811" b="-216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392745" y="2231633"/>
            <a:ext cx="4638039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OUR 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05367" y="7714629"/>
            <a:ext cx="2062810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 Silva R.S.K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Member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2745" y="5655958"/>
            <a:ext cx="4638039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Teamwork is the Key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72268" y="7734148"/>
            <a:ext cx="2062810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S.U.D.A Gunasekara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Member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03303" y="7714629"/>
            <a:ext cx="2062810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B.D.A.M Kumara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Member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315" y="7714629"/>
            <a:ext cx="2062810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K.T.A.D.K Kasthurirathna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Member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8481" y="3893198"/>
            <a:ext cx="2062810" cy="100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Prof. Samantha Thelijjagoda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Supervisor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60676" y="3893198"/>
            <a:ext cx="2062810" cy="100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Ms. Poorna Panduwawala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Co-supervisor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96490" y="3893198"/>
            <a:ext cx="2062810" cy="134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Prof. Nishantha Giguruwa 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7AFF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External-supervisor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506903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7275" y="3892032"/>
            <a:ext cx="7208499" cy="5880618"/>
          </a:xfrm>
          <a:custGeom>
            <a:avLst/>
            <a:gdLst/>
            <a:ahLst/>
            <a:cxnLst/>
            <a:rect l="l" t="t" r="r" b="b"/>
            <a:pathLst>
              <a:path w="7208499" h="5880618">
                <a:moveTo>
                  <a:pt x="0" y="0"/>
                </a:moveTo>
                <a:lnTo>
                  <a:pt x="7208499" y="0"/>
                </a:lnTo>
                <a:lnTo>
                  <a:pt x="7208499" y="5880618"/>
                </a:lnTo>
                <a:lnTo>
                  <a:pt x="0" y="5880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57300"/>
            <a:ext cx="9096550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55774" y="1558781"/>
            <a:ext cx="9095346" cy="689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9806" lvl="1" indent="-424903" algn="l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 can we go beyond the traditional method of candidate selection for a company vacancy, which often fail to assess critical soft skills?</a:t>
            </a:r>
          </a:p>
          <a:p>
            <a:pPr algn="l">
              <a:lnSpc>
                <a:spcPts val="5510"/>
              </a:lnSpc>
            </a:pPr>
            <a:endParaRPr lang="en-US" sz="3936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849806" lvl="1" indent="-424903" algn="l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limitation results in mismatches between job roles and candidates, leading to increased turnover rates and inefficiencies in the hiring process.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8592" y="1028700"/>
            <a:ext cx="7410708" cy="4447907"/>
            <a:chOff x="0" y="0"/>
            <a:chExt cx="6350000" cy="3811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2"/>
              <a:stretch>
                <a:fillRect t="-5502" b="-55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05560" y="6329654"/>
            <a:ext cx="7548788" cy="267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86387" y="6062954"/>
            <a:ext cx="7221316" cy="343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Detection of decision making skill by text analysis and eye engagement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Detection of presentation skills by  gestures with hands </a:t>
            </a:r>
          </a:p>
          <a:p>
            <a:pPr algn="l">
              <a:lnSpc>
                <a:spcPts val="2519"/>
              </a:lnSpc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519"/>
              </a:lnSpc>
              <a:spcBef>
                <a:spcPct val="0"/>
              </a:spcBef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3521" y="1411040"/>
            <a:ext cx="8012867" cy="511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implement intelligent algorithms that provide personalized job-candidate matching based on a comprehensive skill assessment.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Detection of confident level by voice tone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Detection of stress by facial expressions</a:t>
            </a:r>
          </a:p>
          <a:p>
            <a:pPr algn="l">
              <a:lnSpc>
                <a:spcPts val="2519"/>
              </a:lnSpc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2519"/>
              </a:lnSpc>
            </a:pPr>
            <a:endParaRPr lang="en-US" sz="320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0117" y="3325516"/>
            <a:ext cx="17367767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  <a:spcBef>
                <a:spcPct val="0"/>
              </a:spcBef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 system overview diagram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19312" y="298630"/>
            <a:ext cx="16049376" cy="8959670"/>
          </a:xfrm>
          <a:custGeom>
            <a:avLst/>
            <a:gdLst/>
            <a:ahLst/>
            <a:cxnLst/>
            <a:rect l="l" t="t" r="r" b="b"/>
            <a:pathLst>
              <a:path w="16049376" h="8959670">
                <a:moveTo>
                  <a:pt x="0" y="0"/>
                </a:moveTo>
                <a:lnTo>
                  <a:pt x="16049376" y="0"/>
                </a:lnTo>
                <a:lnTo>
                  <a:pt x="16049376" y="8959670"/>
                </a:lnTo>
                <a:lnTo>
                  <a:pt x="0" y="895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" t="-339" r="-23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3481513" y="5992672"/>
            <a:ext cx="1598321" cy="769178"/>
            <a:chOff x="0" y="0"/>
            <a:chExt cx="420957" cy="2025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0957" cy="202582"/>
            </a:xfrm>
            <a:custGeom>
              <a:avLst/>
              <a:gdLst/>
              <a:ahLst/>
              <a:cxnLst/>
              <a:rect l="l" t="t" r="r" b="b"/>
              <a:pathLst>
                <a:path w="420957" h="202582">
                  <a:moveTo>
                    <a:pt x="0" y="0"/>
                  </a:moveTo>
                  <a:lnTo>
                    <a:pt x="420957" y="0"/>
                  </a:lnTo>
                  <a:lnTo>
                    <a:pt x="420957" y="202582"/>
                  </a:lnTo>
                  <a:lnTo>
                    <a:pt x="0" y="2025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0957" cy="24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37572" y="9577006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269000" y="5992672"/>
            <a:ext cx="1598321" cy="769178"/>
            <a:chOff x="0" y="0"/>
            <a:chExt cx="420957" cy="2025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0957" cy="202582"/>
            </a:xfrm>
            <a:custGeom>
              <a:avLst/>
              <a:gdLst/>
              <a:ahLst/>
              <a:cxnLst/>
              <a:rect l="l" t="t" r="r" b="b"/>
              <a:pathLst>
                <a:path w="420957" h="202582">
                  <a:moveTo>
                    <a:pt x="0" y="0"/>
                  </a:moveTo>
                  <a:lnTo>
                    <a:pt x="420957" y="0"/>
                  </a:lnTo>
                  <a:lnTo>
                    <a:pt x="420957" y="202582"/>
                  </a:lnTo>
                  <a:lnTo>
                    <a:pt x="0" y="2025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0957" cy="24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394037" y="5983614"/>
            <a:ext cx="1348246" cy="83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7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 HAND GESTURES IN REAL TIME, MEASURING THEIR IMPACT ON PRESENTATION QUALITY AND ENGAGEMENT LEVELS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00549" y="6068819"/>
            <a:ext cx="1360248" cy="664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7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 THE DECISION MAKING SKILL BY TEXT ANALYSIS AND ENGAGEMENT USING EYE ENGAGEMENT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568867" y="5963997"/>
            <a:ext cx="1598321" cy="769178"/>
            <a:chOff x="0" y="0"/>
            <a:chExt cx="420957" cy="2025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0957" cy="202582"/>
            </a:xfrm>
            <a:custGeom>
              <a:avLst/>
              <a:gdLst/>
              <a:ahLst/>
              <a:cxnLst/>
              <a:rect l="l" t="t" r="r" b="b"/>
              <a:pathLst>
                <a:path w="420957" h="202582">
                  <a:moveTo>
                    <a:pt x="0" y="0"/>
                  </a:moveTo>
                  <a:lnTo>
                    <a:pt x="420957" y="0"/>
                  </a:lnTo>
                  <a:lnTo>
                    <a:pt x="420957" y="202582"/>
                  </a:lnTo>
                  <a:lnTo>
                    <a:pt x="0" y="2025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20957" cy="24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568867" y="6106475"/>
            <a:ext cx="1360248" cy="49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7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OF CANDIDATE STRESS LEVEL USING FAIAL EXPRESSIONS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656221" y="5992672"/>
            <a:ext cx="1598321" cy="769178"/>
            <a:chOff x="0" y="0"/>
            <a:chExt cx="420957" cy="2025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0957" cy="202582"/>
            </a:xfrm>
            <a:custGeom>
              <a:avLst/>
              <a:gdLst/>
              <a:ahLst/>
              <a:cxnLst/>
              <a:rect l="l" t="t" r="r" b="b"/>
              <a:pathLst>
                <a:path w="420957" h="202582">
                  <a:moveTo>
                    <a:pt x="0" y="0"/>
                  </a:moveTo>
                  <a:lnTo>
                    <a:pt x="420957" y="0"/>
                  </a:lnTo>
                  <a:lnTo>
                    <a:pt x="420957" y="202582"/>
                  </a:lnTo>
                  <a:lnTo>
                    <a:pt x="0" y="2025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20957" cy="24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656169" y="6154023"/>
            <a:ext cx="1360248" cy="49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7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OF CANDIDATE CONFIDANCE LEVEL USING VOICE 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78821" y="7456673"/>
            <a:ext cx="108810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BACHELOR OF SCIENCE (HONS) IN INFORMATION TECHNOLOGY 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SPECIALIZING IN INFORMATION TECHNOLOGY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78821" y="1491710"/>
            <a:ext cx="953035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98950" y="3715957"/>
            <a:ext cx="10090100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COMPONENT 01: Predict the Confident</a:t>
            </a:r>
          </a:p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level through speech &amp; tone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34819" y="2525971"/>
            <a:ext cx="4144002" cy="414400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6628" b="-166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95929" y="1539849"/>
            <a:ext cx="13445869" cy="73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Why is it important to objectively assess a candidate’s confident level during the hiring process?</a:t>
            </a:r>
          </a:p>
          <a:p>
            <a:pPr algn="l">
              <a:lnSpc>
                <a:spcPts val="6719"/>
              </a:lnSpc>
            </a:pPr>
            <a:endParaRPr lang="en-US" sz="4800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can speech and tone analysis improve the accuracy and fairness of candidate evaluations compared to traditional interview methods?</a:t>
            </a:r>
          </a:p>
          <a:p>
            <a:pPr algn="ctr">
              <a:lnSpc>
                <a:spcPts val="4759"/>
              </a:lnSpc>
            </a:pPr>
            <a:endParaRPr lang="en-US" sz="4800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9328050"/>
            <a:ext cx="4893106" cy="958950"/>
          </a:xfrm>
          <a:custGeom>
            <a:avLst/>
            <a:gdLst/>
            <a:ahLst/>
            <a:cxnLst/>
            <a:rect l="l" t="t" r="r" b="b"/>
            <a:pathLst>
              <a:path w="4893106" h="958950">
                <a:moveTo>
                  <a:pt x="0" y="0"/>
                </a:moveTo>
                <a:lnTo>
                  <a:pt x="4893106" y="0"/>
                </a:lnTo>
                <a:lnTo>
                  <a:pt x="4893106" y="958950"/>
                </a:lnTo>
                <a:lnTo>
                  <a:pt x="0" y="958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5400000">
            <a:off x="-884448" y="4213658"/>
            <a:ext cx="6842975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BACKGROUND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8088" y="5500716"/>
            <a:ext cx="3651419" cy="2437322"/>
          </a:xfrm>
          <a:custGeom>
            <a:avLst/>
            <a:gdLst/>
            <a:ahLst/>
            <a:cxnLst/>
            <a:rect l="l" t="t" r="r" b="b"/>
            <a:pathLst>
              <a:path w="3651419" h="2437322">
                <a:moveTo>
                  <a:pt x="0" y="0"/>
                </a:moveTo>
                <a:lnTo>
                  <a:pt x="3651419" y="0"/>
                </a:lnTo>
                <a:lnTo>
                  <a:pt x="3651419" y="2437322"/>
                </a:lnTo>
                <a:lnTo>
                  <a:pt x="0" y="243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110428"/>
            <a:ext cx="9096550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QUESTION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48826" y="1767528"/>
            <a:ext cx="9515709" cy="555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can speech and tone analysis be effectively utilized to predict a candidate's confidence level during an interview?</a:t>
            </a:r>
          </a:p>
          <a:p>
            <a:pPr algn="ctr">
              <a:lnSpc>
                <a:spcPts val="4759"/>
              </a:lnSpc>
            </a:pPr>
            <a:endParaRPr lang="en-US" sz="5600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207459" y="2153505"/>
          <a:ext cx="14225782" cy="6748253"/>
        </p:xfrm>
        <a:graphic>
          <a:graphicData uri="http://schemas.openxmlformats.org/drawingml/2006/table">
            <a:tbl>
              <a:tblPr/>
              <a:tblGrid>
                <a:gridCol w="561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1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8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75548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[01]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[02]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[03]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[04]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PROPOSED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54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Confident level prediction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54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Real-time speech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454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Acoustic feature extraction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454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Integration with recruitment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454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Speech emotion recognition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4405285" y="3819590"/>
            <a:ext cx="872742" cy="872742"/>
          </a:xfrm>
          <a:custGeom>
            <a:avLst/>
            <a:gdLst/>
            <a:ahLst/>
            <a:cxnLst/>
            <a:rect l="l" t="t" r="r" b="b"/>
            <a:pathLst>
              <a:path w="872742" h="872742">
                <a:moveTo>
                  <a:pt x="0" y="0"/>
                </a:moveTo>
                <a:lnTo>
                  <a:pt x="872742" y="0"/>
                </a:lnTo>
                <a:lnTo>
                  <a:pt x="872742" y="872742"/>
                </a:lnTo>
                <a:lnTo>
                  <a:pt x="0" y="872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675812" y="3751021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656762" y="4790878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3"/>
                </a:lnTo>
                <a:lnTo>
                  <a:pt x="0" y="877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893005" y="4819453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3"/>
                </a:lnTo>
                <a:lnTo>
                  <a:pt x="0" y="877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144000" y="3789121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908240" y="5878361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675812" y="6885166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44000" y="6885166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675812" y="7925023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923474" y="7976201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144000" y="7976201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646137" y="1046973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676605" y="327343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4" y="0"/>
                </a:lnTo>
                <a:lnTo>
                  <a:pt x="847464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02990" y="621535"/>
            <a:ext cx="7880592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GAP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77548" y="514855"/>
            <a:ext cx="480095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ADDRESSED BY THE RESEARCH PAPER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96924" y="1216070"/>
            <a:ext cx="53304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NOT ADDRESSED BY THE RESEARCH PAPER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671997" y="5878361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178767" y="5878361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923474" y="3819590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174469" y="4849922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4405285" y="4849922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6138573" y="799143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4" y="0"/>
                </a:lnTo>
                <a:lnTo>
                  <a:pt x="847464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138573" y="694300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4" y="0"/>
                </a:lnTo>
                <a:lnTo>
                  <a:pt x="847464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6138573" y="5943142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4" y="0"/>
                </a:lnTo>
                <a:lnTo>
                  <a:pt x="847464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6103918" y="4819453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6103918" y="3819590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405285" y="7976201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0953943" y="698110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4405285" y="694300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4405285" y="5887886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96023" y="2313751"/>
            <a:ext cx="9096550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6391" y="1126464"/>
            <a:ext cx="6901807" cy="344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SPECIFIC OBJECTIVE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 AN AI-DRIVEN SYSTEM THAT PREDICTS A CANDIDATE'S CONFIDENCE LEVEL THROUGH SPEECH AND TONE ANALYSIS DURING INTERVIEWS.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36503" y="4962135"/>
            <a:ext cx="9688746" cy="378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38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Sub Objectives</a:t>
            </a:r>
          </a:p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Identify key acoustic features that indicate confidence.</a:t>
            </a:r>
          </a:p>
          <a:p>
            <a:pPr marL="690881" lvl="1" indent="-345440" algn="ctr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 machine learning models to analyze speech data and classify confidence levels.</a:t>
            </a:r>
          </a:p>
          <a:p>
            <a:pPr algn="ctr">
              <a:lnSpc>
                <a:spcPts val="4089"/>
              </a:lnSpc>
            </a:pPr>
            <a:endParaRPr lang="en-US" sz="3200">
              <a:solidFill>
                <a:srgbClr val="7AFFF5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3410676" y="5257410"/>
            <a:ext cx="3916111" cy="3645899"/>
            <a:chOff x="0" y="0"/>
            <a:chExt cx="6350000" cy="5911850"/>
          </a:xfrm>
        </p:grpSpPr>
        <p:sp>
          <p:nvSpPr>
            <p:cNvPr id="6" name="Freeform 6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2"/>
              <a:stretch>
                <a:fillRect l="-19885" r="-1988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25225" y="2408392"/>
            <a:ext cx="13054245" cy="6249720"/>
          </a:xfrm>
          <a:custGeom>
            <a:avLst/>
            <a:gdLst/>
            <a:ahLst/>
            <a:cxnLst/>
            <a:rect l="l" t="t" r="r" b="b"/>
            <a:pathLst>
              <a:path w="13054245" h="6249720">
                <a:moveTo>
                  <a:pt x="0" y="0"/>
                </a:moveTo>
                <a:lnTo>
                  <a:pt x="13054245" y="0"/>
                </a:lnTo>
                <a:lnTo>
                  <a:pt x="13054245" y="6249720"/>
                </a:lnTo>
                <a:lnTo>
                  <a:pt x="0" y="6249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25225" y="689133"/>
            <a:ext cx="12788196" cy="158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81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SYSTEM DIAGRAM 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22646" y="1214104"/>
            <a:ext cx="15642708" cy="7858792"/>
            <a:chOff x="0" y="0"/>
            <a:chExt cx="1617856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17856" cy="812800"/>
            </a:xfrm>
            <a:custGeom>
              <a:avLst/>
              <a:gdLst/>
              <a:ahLst/>
              <a:cxnLst/>
              <a:rect l="l" t="t" r="r" b="b"/>
              <a:pathLst>
                <a:path w="1617856" h="812800">
                  <a:moveTo>
                    <a:pt x="0" y="0"/>
                  </a:moveTo>
                  <a:lnTo>
                    <a:pt x="1617856" y="0"/>
                  </a:lnTo>
                  <a:lnTo>
                    <a:pt x="16178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826602" y="1782741"/>
            <a:ext cx="14634796" cy="6721519"/>
          </a:xfrm>
          <a:custGeom>
            <a:avLst/>
            <a:gdLst/>
            <a:ahLst/>
            <a:cxnLst/>
            <a:rect l="l" t="t" r="r" b="b"/>
            <a:pathLst>
              <a:path w="14634796" h="6721519">
                <a:moveTo>
                  <a:pt x="0" y="0"/>
                </a:moveTo>
                <a:lnTo>
                  <a:pt x="14634796" y="0"/>
                </a:lnTo>
                <a:lnTo>
                  <a:pt x="14634796" y="6721518"/>
                </a:lnTo>
                <a:lnTo>
                  <a:pt x="0" y="6721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36185" y="7567837"/>
            <a:ext cx="7225646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2600B1"/>
                </a:solidFill>
                <a:latin typeface="Norwester"/>
                <a:ea typeface="Norwester"/>
                <a:cs typeface="Norwester"/>
                <a:sym typeface="Norwester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4909" y="2707709"/>
            <a:ext cx="8979091" cy="5860360"/>
          </a:xfrm>
          <a:custGeom>
            <a:avLst/>
            <a:gdLst/>
            <a:ahLst/>
            <a:cxnLst/>
            <a:rect l="l" t="t" r="r" b="b"/>
            <a:pathLst>
              <a:path w="8979091" h="5860360">
                <a:moveTo>
                  <a:pt x="0" y="0"/>
                </a:moveTo>
                <a:lnTo>
                  <a:pt x="8979091" y="0"/>
                </a:lnTo>
                <a:lnTo>
                  <a:pt x="8979091" y="5860359"/>
                </a:lnTo>
                <a:lnTo>
                  <a:pt x="0" y="5860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293741" y="2707709"/>
            <a:ext cx="8815414" cy="5860360"/>
          </a:xfrm>
          <a:custGeom>
            <a:avLst/>
            <a:gdLst/>
            <a:ahLst/>
            <a:cxnLst/>
            <a:rect l="l" t="t" r="r" b="b"/>
            <a:pathLst>
              <a:path w="8815414" h="5860360">
                <a:moveTo>
                  <a:pt x="0" y="0"/>
                </a:moveTo>
                <a:lnTo>
                  <a:pt x="8815414" y="0"/>
                </a:lnTo>
                <a:lnTo>
                  <a:pt x="8815414" y="5860359"/>
                </a:lnTo>
                <a:lnTo>
                  <a:pt x="0" y="5860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909401" y="142505"/>
            <a:ext cx="5369600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2364034"/>
            <a:ext cx="8925497" cy="5845999"/>
          </a:xfrm>
          <a:custGeom>
            <a:avLst/>
            <a:gdLst/>
            <a:ahLst/>
            <a:cxnLst/>
            <a:rect l="l" t="t" r="r" b="b"/>
            <a:pathLst>
              <a:path w="8925497" h="5845999">
                <a:moveTo>
                  <a:pt x="0" y="0"/>
                </a:moveTo>
                <a:lnTo>
                  <a:pt x="8925497" y="0"/>
                </a:lnTo>
                <a:lnTo>
                  <a:pt x="8925497" y="5845999"/>
                </a:lnTo>
                <a:lnTo>
                  <a:pt x="0" y="584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16991" y="2364034"/>
            <a:ext cx="8704483" cy="5845999"/>
          </a:xfrm>
          <a:custGeom>
            <a:avLst/>
            <a:gdLst/>
            <a:ahLst/>
            <a:cxnLst/>
            <a:rect l="l" t="t" r="r" b="b"/>
            <a:pathLst>
              <a:path w="8704483" h="5845999">
                <a:moveTo>
                  <a:pt x="0" y="0"/>
                </a:moveTo>
                <a:lnTo>
                  <a:pt x="8704483" y="0"/>
                </a:lnTo>
                <a:lnTo>
                  <a:pt x="8704483" y="5845999"/>
                </a:lnTo>
                <a:lnTo>
                  <a:pt x="0" y="5845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909401" y="142505"/>
            <a:ext cx="5369600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36460" y="142505"/>
            <a:ext cx="10515481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592677" y="2409992"/>
            <a:ext cx="7372767" cy="5962237"/>
          </a:xfrm>
          <a:custGeom>
            <a:avLst/>
            <a:gdLst/>
            <a:ahLst/>
            <a:cxnLst/>
            <a:rect l="l" t="t" r="r" b="b"/>
            <a:pathLst>
              <a:path w="7372767" h="5962237">
                <a:moveTo>
                  <a:pt x="0" y="0"/>
                </a:moveTo>
                <a:lnTo>
                  <a:pt x="7372767" y="0"/>
                </a:lnTo>
                <a:lnTo>
                  <a:pt x="7372767" y="5962237"/>
                </a:lnTo>
                <a:lnTo>
                  <a:pt x="0" y="5962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950854" y="6508876"/>
            <a:ext cx="1802174" cy="1615743"/>
          </a:xfrm>
          <a:custGeom>
            <a:avLst/>
            <a:gdLst/>
            <a:ahLst/>
            <a:cxnLst/>
            <a:rect l="l" t="t" r="r" b="b"/>
            <a:pathLst>
              <a:path w="1802174" h="1615743">
                <a:moveTo>
                  <a:pt x="0" y="0"/>
                </a:moveTo>
                <a:lnTo>
                  <a:pt x="1802175" y="0"/>
                </a:lnTo>
                <a:lnTo>
                  <a:pt x="1802175" y="1615743"/>
                </a:lnTo>
                <a:lnTo>
                  <a:pt x="0" y="1615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82939" y="5832919"/>
            <a:ext cx="213800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CNN Method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6420" y="2327979"/>
            <a:ext cx="13713795" cy="6154066"/>
          </a:xfrm>
          <a:custGeom>
            <a:avLst/>
            <a:gdLst/>
            <a:ahLst/>
            <a:cxnLst/>
            <a:rect l="l" t="t" r="r" b="b"/>
            <a:pathLst>
              <a:path w="13713795" h="6154066">
                <a:moveTo>
                  <a:pt x="0" y="0"/>
                </a:moveTo>
                <a:lnTo>
                  <a:pt x="13713795" y="0"/>
                </a:lnTo>
                <a:lnTo>
                  <a:pt x="13713795" y="6154066"/>
                </a:lnTo>
                <a:lnTo>
                  <a:pt x="0" y="615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866283" y="5947897"/>
            <a:ext cx="1393017" cy="1256131"/>
          </a:xfrm>
          <a:custGeom>
            <a:avLst/>
            <a:gdLst/>
            <a:ahLst/>
            <a:cxnLst/>
            <a:rect l="l" t="t" r="r" b="b"/>
            <a:pathLst>
              <a:path w="1393017" h="1256131">
                <a:moveTo>
                  <a:pt x="0" y="0"/>
                </a:moveTo>
                <a:lnTo>
                  <a:pt x="1393017" y="0"/>
                </a:lnTo>
                <a:lnTo>
                  <a:pt x="1393017" y="1256130"/>
                </a:lnTo>
                <a:lnTo>
                  <a:pt x="0" y="125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36460" y="142505"/>
            <a:ext cx="10515481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49103" y="5076825"/>
            <a:ext cx="282737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CNN METHOD 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06458" y="1028700"/>
            <a:ext cx="10947885" cy="8134279"/>
          </a:xfrm>
          <a:custGeom>
            <a:avLst/>
            <a:gdLst/>
            <a:ahLst/>
            <a:cxnLst/>
            <a:rect l="l" t="t" r="r" b="b"/>
            <a:pathLst>
              <a:path w="10947885" h="8134279">
                <a:moveTo>
                  <a:pt x="0" y="0"/>
                </a:moveTo>
                <a:lnTo>
                  <a:pt x="10947886" y="0"/>
                </a:lnTo>
                <a:lnTo>
                  <a:pt x="10947886" y="8134279"/>
                </a:lnTo>
                <a:lnTo>
                  <a:pt x="0" y="8134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5400000">
            <a:off x="-897832" y="3868859"/>
            <a:ext cx="7225646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283367" y="3752813"/>
            <a:ext cx="8469979" cy="5505487"/>
          </a:xfrm>
          <a:custGeom>
            <a:avLst/>
            <a:gdLst/>
            <a:ahLst/>
            <a:cxnLst/>
            <a:rect l="l" t="t" r="r" b="b"/>
            <a:pathLst>
              <a:path w="8469979" h="5505487">
                <a:moveTo>
                  <a:pt x="0" y="0"/>
                </a:moveTo>
                <a:lnTo>
                  <a:pt x="8469979" y="0"/>
                </a:lnTo>
                <a:lnTo>
                  <a:pt x="8469979" y="5505487"/>
                </a:lnTo>
                <a:lnTo>
                  <a:pt x="0" y="55054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36262" y="524044"/>
            <a:ext cx="8707738" cy="5660030"/>
          </a:xfrm>
          <a:custGeom>
            <a:avLst/>
            <a:gdLst/>
            <a:ahLst/>
            <a:cxnLst/>
            <a:rect l="l" t="t" r="r" b="b"/>
            <a:pathLst>
              <a:path w="8707738" h="5660030">
                <a:moveTo>
                  <a:pt x="0" y="0"/>
                </a:moveTo>
                <a:lnTo>
                  <a:pt x="8707738" y="0"/>
                </a:lnTo>
                <a:lnTo>
                  <a:pt x="8707738" y="5660030"/>
                </a:lnTo>
                <a:lnTo>
                  <a:pt x="0" y="56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790131" y="7174071"/>
            <a:ext cx="3080895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869" y="430774"/>
            <a:ext cx="8998247" cy="117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87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REQUIREMENTS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869200" y="1608444"/>
          <a:ext cx="12628178" cy="7381007"/>
        </p:xfrm>
        <a:graphic>
          <a:graphicData uri="http://schemas.openxmlformats.org/drawingml/2006/table">
            <a:tbl>
              <a:tblPr/>
              <a:tblGrid>
                <a:gridCol w="6062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23396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FUNCTIONAL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NON FUNCTIONAL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832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The system must capture audio input during interviews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The system should process data in real-time with minimal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3864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The model should analyze speech characteristics and provide a confidence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Ensure data security and privacy for recorded speech samples.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424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The results should be displayed in a dashboard for recruiters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The solution should be scalable to handle multiple concurrent interviews.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624504" y="2484882"/>
            <a:ext cx="13137876" cy="6240491"/>
          </a:xfrm>
          <a:custGeom>
            <a:avLst/>
            <a:gdLst/>
            <a:ahLst/>
            <a:cxnLst/>
            <a:rect l="l" t="t" r="r" b="b"/>
            <a:pathLst>
              <a:path w="13137876" h="6240491">
                <a:moveTo>
                  <a:pt x="0" y="0"/>
                </a:moveTo>
                <a:lnTo>
                  <a:pt x="13137876" y="0"/>
                </a:lnTo>
                <a:lnTo>
                  <a:pt x="13137876" y="6240491"/>
                </a:lnTo>
                <a:lnTo>
                  <a:pt x="0" y="6240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66351" y="1209675"/>
            <a:ext cx="16029642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COMPLETED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26602" y="3460193"/>
            <a:ext cx="14634796" cy="4884363"/>
          </a:xfrm>
          <a:custGeom>
            <a:avLst/>
            <a:gdLst/>
            <a:ahLst/>
            <a:cxnLst/>
            <a:rect l="l" t="t" r="r" b="b"/>
            <a:pathLst>
              <a:path w="14634796" h="4884363">
                <a:moveTo>
                  <a:pt x="0" y="0"/>
                </a:moveTo>
                <a:lnTo>
                  <a:pt x="14634796" y="0"/>
                </a:lnTo>
                <a:lnTo>
                  <a:pt x="14634796" y="4884363"/>
                </a:lnTo>
                <a:lnTo>
                  <a:pt x="0" y="4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45590"/>
            <a:ext cx="16230600" cy="247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TO BE COMPLETED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814306" y="1698498"/>
          <a:ext cx="13145300" cy="7543408"/>
        </p:xfrm>
        <a:graphic>
          <a:graphicData uri="http://schemas.openxmlformats.org/drawingml/2006/table">
            <a:tbl>
              <a:tblPr/>
              <a:tblGrid>
                <a:gridCol w="644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5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696"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Predicted aspects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Non Predicted aspects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988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Confidence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Accent or Language Variation 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04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Speaker Emotion and Tone-Based Feedback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 Mic/Device Quality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988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Visualization of Confidence 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Environmental Noise Affecting Predictions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9888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Seamless Integration with Other UI Modules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Potential Misuse of Audio Data (Privacy Issues)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520827"/>
            <a:ext cx="16716511" cy="117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87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PREDICTED &amp; UNPREDICTED ASPECTS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13512" y="4892739"/>
            <a:ext cx="3355251" cy="1644874"/>
          </a:xfrm>
          <a:custGeom>
            <a:avLst/>
            <a:gdLst/>
            <a:ahLst/>
            <a:cxnLst/>
            <a:rect l="l" t="t" r="r" b="b"/>
            <a:pathLst>
              <a:path w="3355251" h="1644874">
                <a:moveTo>
                  <a:pt x="0" y="0"/>
                </a:moveTo>
                <a:lnTo>
                  <a:pt x="3355251" y="0"/>
                </a:lnTo>
                <a:lnTo>
                  <a:pt x="3355251" y="1644873"/>
                </a:lnTo>
                <a:lnTo>
                  <a:pt x="0" y="1644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7195" y="1858425"/>
            <a:ext cx="2636317" cy="1682892"/>
          </a:xfrm>
          <a:custGeom>
            <a:avLst/>
            <a:gdLst/>
            <a:ahLst/>
            <a:cxnLst/>
            <a:rect l="l" t="t" r="r" b="b"/>
            <a:pathLst>
              <a:path w="2636317" h="1682892">
                <a:moveTo>
                  <a:pt x="0" y="0"/>
                </a:moveTo>
                <a:lnTo>
                  <a:pt x="2636317" y="0"/>
                </a:lnTo>
                <a:lnTo>
                  <a:pt x="2636317" y="1682892"/>
                </a:lnTo>
                <a:lnTo>
                  <a:pt x="0" y="1682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858140" y="7291820"/>
            <a:ext cx="1874427" cy="1329535"/>
          </a:xfrm>
          <a:custGeom>
            <a:avLst/>
            <a:gdLst/>
            <a:ahLst/>
            <a:cxnLst/>
            <a:rect l="l" t="t" r="r" b="b"/>
            <a:pathLst>
              <a:path w="1874427" h="1329535">
                <a:moveTo>
                  <a:pt x="0" y="0"/>
                </a:moveTo>
                <a:lnTo>
                  <a:pt x="1874427" y="0"/>
                </a:lnTo>
                <a:lnTo>
                  <a:pt x="1874427" y="1329536"/>
                </a:lnTo>
                <a:lnTo>
                  <a:pt x="0" y="1329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576500" y="4035537"/>
            <a:ext cx="3016467" cy="1236752"/>
          </a:xfrm>
          <a:custGeom>
            <a:avLst/>
            <a:gdLst/>
            <a:ahLst/>
            <a:cxnLst/>
            <a:rect l="l" t="t" r="r" b="b"/>
            <a:pathLst>
              <a:path w="3016467" h="1236752">
                <a:moveTo>
                  <a:pt x="0" y="0"/>
                </a:moveTo>
                <a:lnTo>
                  <a:pt x="3016467" y="0"/>
                </a:lnTo>
                <a:lnTo>
                  <a:pt x="3016467" y="1236752"/>
                </a:lnTo>
                <a:lnTo>
                  <a:pt x="0" y="1236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084733" y="6077349"/>
            <a:ext cx="1748122" cy="1748122"/>
          </a:xfrm>
          <a:custGeom>
            <a:avLst/>
            <a:gdLst/>
            <a:ahLst/>
            <a:cxnLst/>
            <a:rect l="l" t="t" r="r" b="b"/>
            <a:pathLst>
              <a:path w="1748122" h="1748122">
                <a:moveTo>
                  <a:pt x="0" y="0"/>
                </a:moveTo>
                <a:lnTo>
                  <a:pt x="1748122" y="0"/>
                </a:lnTo>
                <a:lnTo>
                  <a:pt x="1748122" y="1748122"/>
                </a:lnTo>
                <a:lnTo>
                  <a:pt x="0" y="1748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941840" y="5454443"/>
            <a:ext cx="1496967" cy="1496967"/>
          </a:xfrm>
          <a:custGeom>
            <a:avLst/>
            <a:gdLst/>
            <a:ahLst/>
            <a:cxnLst/>
            <a:rect l="l" t="t" r="r" b="b"/>
            <a:pathLst>
              <a:path w="1496967" h="1496967">
                <a:moveTo>
                  <a:pt x="0" y="0"/>
                </a:moveTo>
                <a:lnTo>
                  <a:pt x="1496967" y="0"/>
                </a:lnTo>
                <a:lnTo>
                  <a:pt x="1496967" y="1496967"/>
                </a:lnTo>
                <a:lnTo>
                  <a:pt x="0" y="1496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902826" y="7082527"/>
            <a:ext cx="4177694" cy="2088847"/>
          </a:xfrm>
          <a:custGeom>
            <a:avLst/>
            <a:gdLst/>
            <a:ahLst/>
            <a:cxnLst/>
            <a:rect l="l" t="t" r="r" b="b"/>
            <a:pathLst>
              <a:path w="4177694" h="2088847">
                <a:moveTo>
                  <a:pt x="0" y="0"/>
                </a:moveTo>
                <a:lnTo>
                  <a:pt x="4177694" y="0"/>
                </a:lnTo>
                <a:lnTo>
                  <a:pt x="4177694" y="2088847"/>
                </a:lnTo>
                <a:lnTo>
                  <a:pt x="0" y="2088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661292" y="2029784"/>
            <a:ext cx="2515910" cy="2515910"/>
          </a:xfrm>
          <a:custGeom>
            <a:avLst/>
            <a:gdLst/>
            <a:ahLst/>
            <a:cxnLst/>
            <a:rect l="l" t="t" r="r" b="b"/>
            <a:pathLst>
              <a:path w="2515910" h="2515910">
                <a:moveTo>
                  <a:pt x="0" y="0"/>
                </a:moveTo>
                <a:lnTo>
                  <a:pt x="2515910" y="0"/>
                </a:lnTo>
                <a:lnTo>
                  <a:pt x="2515910" y="2515910"/>
                </a:lnTo>
                <a:lnTo>
                  <a:pt x="0" y="2515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248962" y="4892739"/>
            <a:ext cx="1704245" cy="1709059"/>
          </a:xfrm>
          <a:custGeom>
            <a:avLst/>
            <a:gdLst/>
            <a:ahLst/>
            <a:cxnLst/>
            <a:rect l="l" t="t" r="r" b="b"/>
            <a:pathLst>
              <a:path w="1704245" h="1709059">
                <a:moveTo>
                  <a:pt x="0" y="0"/>
                </a:moveTo>
                <a:lnTo>
                  <a:pt x="1704244" y="0"/>
                </a:lnTo>
                <a:lnTo>
                  <a:pt x="1704244" y="1709059"/>
                </a:lnTo>
                <a:lnTo>
                  <a:pt x="0" y="17090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451559" y="7291820"/>
            <a:ext cx="2034409" cy="1067302"/>
          </a:xfrm>
          <a:custGeom>
            <a:avLst/>
            <a:gdLst/>
            <a:ahLst/>
            <a:cxnLst/>
            <a:rect l="l" t="t" r="r" b="b"/>
            <a:pathLst>
              <a:path w="2034409" h="1067302">
                <a:moveTo>
                  <a:pt x="0" y="0"/>
                </a:moveTo>
                <a:lnTo>
                  <a:pt x="2034409" y="0"/>
                </a:lnTo>
                <a:lnTo>
                  <a:pt x="2034409" y="1067303"/>
                </a:lnTo>
                <a:lnTo>
                  <a:pt x="0" y="10673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470793" y="1000207"/>
            <a:ext cx="8942094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TOOLS &amp; TECHNOLOGIES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38250"/>
            <a:ext cx="9096550" cy="1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12058" y="2833370"/>
            <a:ext cx="14663884" cy="64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[1] F. EYBEN, M. WÖLLMER, AND B. SCHULLER, "OPENSMILE – THE MUNICH VERSATILE AND FAST OPEN-SOURCE AUDIO FEATURE EXTRACTOR," IN PROCEEDINGS OF THE 18TH ACM INTERNATIONAL CONFERENCE ON MULTIMEDIA, 2010, PP. 1459–1462. HTTPS://DOI.ORG/10.1145/1873951.1874246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[2] J. D. ROJAS AND J. A. BILMES, "PREDICTING CONFIDENCE AND DOUBT IN ACCENTED SPEAKERS: HUMAN PERCEPTION AND MACHINE LEARNING EXPERIMENTS," IN PROCEEDINGS OF INTERSPEECH 2016, 2016, PP. 2150–2154.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HTTPS://DOI.ORG/10.21437/INTERSPEECH.2016-1426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[3] P. BOERSMA AND D. WEENINK, "PRAAT: DOING PHONETICS BY COMPUTER," HTTP://WWW.PRAAT.ORG/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[4] B. SCHULLER ET AL., "SPEECH EMOTION RECOGNITION: STATE OF THE ART AND REMAINING CHALLENGES," COGNITIVE COMPUTATION, VOL. 10, NO. 4, PP. 1–19, 2018. HTTPS://DOI.ORG/10.1007/S12559-018-9522-2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120289" y="9432607"/>
            <a:ext cx="739806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IT21834424 | DE SILVA R.S.K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3481" y="2595975"/>
            <a:ext cx="3515326" cy="4684395"/>
          </a:xfrm>
          <a:custGeom>
            <a:avLst/>
            <a:gdLst/>
            <a:ahLst/>
            <a:cxnLst/>
            <a:rect l="l" t="t" r="r" b="b"/>
            <a:pathLst>
              <a:path w="3515326" h="4684395">
                <a:moveTo>
                  <a:pt x="0" y="0"/>
                </a:moveTo>
                <a:lnTo>
                  <a:pt x="3515325" y="0"/>
                </a:lnTo>
                <a:lnTo>
                  <a:pt x="3515325" y="4684394"/>
                </a:lnTo>
                <a:lnTo>
                  <a:pt x="0" y="4684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9" b="-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378821" y="7456673"/>
            <a:ext cx="108810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BACHELOR OF SCIENCE (HONS) IN INFORMATION TECHNOLOGY 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SPECIALIZING IN INFORMATION TECHNOLOGY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1888" y="1006252"/>
            <a:ext cx="13234869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76629" y="3766536"/>
            <a:ext cx="8734742" cy="1376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4"/>
              </a:lnSpc>
            </a:pPr>
            <a:r>
              <a:rPr lang="en-US" sz="393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COMPONENT 02: Predict the STRESS level </a:t>
            </a:r>
          </a:p>
          <a:p>
            <a:pPr algn="ctr">
              <a:lnSpc>
                <a:spcPts val="5514"/>
              </a:lnSpc>
            </a:pPr>
            <a:r>
              <a:rPr lang="en-US" sz="393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through facial expressions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5400000">
            <a:off x="-916430" y="4480172"/>
            <a:ext cx="6842975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95305" y="2151697"/>
            <a:ext cx="13988583" cy="589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DOES STRESS AFFECT TO THEIR WORK DURING THE WORKING TIME?</a:t>
            </a:r>
          </a:p>
          <a:p>
            <a:pPr algn="l">
              <a:lnSpc>
                <a:spcPts val="6719"/>
              </a:lnSpc>
            </a:pPr>
            <a:endParaRPr lang="en-US" sz="4800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036320" lvl="1" indent="-518160" algn="l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CAN WE PREDICT CANDIDATES' STRESS LEVELS WHEN FACING SERIOUS JOB-RELATED PROBLEMS DURING AN INTERVIEW?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143500"/>
            <a:ext cx="6361554" cy="3180777"/>
          </a:xfrm>
          <a:custGeom>
            <a:avLst/>
            <a:gdLst/>
            <a:ahLst/>
            <a:cxnLst/>
            <a:rect l="l" t="t" r="r" b="b"/>
            <a:pathLst>
              <a:path w="6361554" h="3180777">
                <a:moveTo>
                  <a:pt x="0" y="0"/>
                </a:moveTo>
                <a:lnTo>
                  <a:pt x="6361554" y="0"/>
                </a:lnTo>
                <a:lnTo>
                  <a:pt x="6361554" y="3180777"/>
                </a:lnTo>
                <a:lnTo>
                  <a:pt x="0" y="3180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712452"/>
            <a:ext cx="9096550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QUESTION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75174" y="6674756"/>
            <a:ext cx="7592867" cy="166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"HOW CAN REAL-TIME STRESS DETECTION BE INTEGRATED INTO AN AI-BASED INTERVIEW SYSTEM?"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22168" y="1169411"/>
            <a:ext cx="7637132" cy="166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"HOW CAN A MACHINE LEARNING MODEL BE DESIGNED TO ANALYZE FACIAL EXPRESSIONS"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79545" y="3641096"/>
            <a:ext cx="7384126" cy="222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"WHAT ARE THE KEY FACIAL EXPRESSION FEATURES THAT CAN BE USED TO ACCURATELY PREDICT STRESS LEVELS"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823347" y="625205"/>
          <a:ext cx="14225782" cy="8212706"/>
        </p:xfrm>
        <a:graphic>
          <a:graphicData uri="http://schemas.openxmlformats.org/drawingml/2006/table">
            <a:tbl>
              <a:tblPr/>
              <a:tblGrid>
                <a:gridCol w="561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1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8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4021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[01]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[02]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[03]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[04]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PROPOSED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993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Real-time stress detection using facial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93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Integration with webcam (non-wearable devices)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93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Stress level classification during interviews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993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Behavioral analysis under high-pressure scenarios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6713">
                <a:tc>
                  <a:txBody>
                    <a:bodyPr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Prediction of stress levels using ML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2608595" y="6744233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021702" y="6547430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2"/>
                </a:lnTo>
                <a:lnTo>
                  <a:pt x="0" y="60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 rot="-5400000">
            <a:off x="-2138554" y="3969236"/>
            <a:ext cx="6717444" cy="10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80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GAP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126024" y="3603389"/>
            <a:ext cx="480095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ADDRESSED BY THE RESEARCH PAPER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206999" y="3603389"/>
            <a:ext cx="53304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NOT ADDRESSED BY THE RESEARCH PAPER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957899" y="7797953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1"/>
                </a:lnTo>
                <a:lnTo>
                  <a:pt x="0" y="60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57899" y="6450688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2"/>
                </a:lnTo>
                <a:lnTo>
                  <a:pt x="0" y="60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6957899" y="4925175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2"/>
                </a:lnTo>
                <a:lnTo>
                  <a:pt x="0" y="60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957899" y="3669888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1"/>
                </a:lnTo>
                <a:lnTo>
                  <a:pt x="0" y="60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957899" y="2270586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1"/>
                </a:lnTo>
                <a:lnTo>
                  <a:pt x="0" y="60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205519" y="7797953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1" y="0"/>
                </a:lnTo>
                <a:lnTo>
                  <a:pt x="602801" y="602801"/>
                </a:lnTo>
                <a:lnTo>
                  <a:pt x="0" y="60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676605" y="7797953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1"/>
                </a:lnTo>
                <a:lnTo>
                  <a:pt x="0" y="60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5165886" y="4925175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2"/>
                </a:lnTo>
                <a:lnTo>
                  <a:pt x="0" y="60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627722" y="3518840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2" y="0"/>
                </a:lnTo>
                <a:lnTo>
                  <a:pt x="602802" y="602802"/>
                </a:lnTo>
                <a:lnTo>
                  <a:pt x="0" y="60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3427946" y="2252171"/>
            <a:ext cx="602802" cy="602802"/>
          </a:xfrm>
          <a:custGeom>
            <a:avLst/>
            <a:gdLst/>
            <a:ahLst/>
            <a:cxnLst/>
            <a:rect l="l" t="t" r="r" b="b"/>
            <a:pathLst>
              <a:path w="602802" h="602802">
                <a:moveTo>
                  <a:pt x="0" y="0"/>
                </a:moveTo>
                <a:lnTo>
                  <a:pt x="602801" y="0"/>
                </a:lnTo>
                <a:lnTo>
                  <a:pt x="602801" y="602802"/>
                </a:lnTo>
                <a:lnTo>
                  <a:pt x="0" y="602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471553" y="7734198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985206" y="3518840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985206" y="7734198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5165886" y="6312246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3471553" y="6312246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646137" y="6312246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985206" y="6366177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3446360" y="4925175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1676605" y="4943590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9985206" y="4943590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5175094" y="3518840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3446360" y="3518840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5175094" y="2279793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1646137" y="2289000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9985206" y="2270586"/>
            <a:ext cx="584387" cy="584387"/>
          </a:xfrm>
          <a:custGeom>
            <a:avLst/>
            <a:gdLst/>
            <a:ahLst/>
            <a:cxnLst/>
            <a:rect l="l" t="t" r="r" b="b"/>
            <a:pathLst>
              <a:path w="584387" h="584387">
                <a:moveTo>
                  <a:pt x="0" y="0"/>
                </a:moveTo>
                <a:lnTo>
                  <a:pt x="584387" y="0"/>
                </a:lnTo>
                <a:lnTo>
                  <a:pt x="584387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62750" y="1257300"/>
            <a:ext cx="9096550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5174" y="2225162"/>
            <a:ext cx="6720825" cy="4112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</a:pPr>
            <a:r>
              <a:rPr lang="en-US" sz="4227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SPECIFIC OBJECTIVE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TO DEVELOP AND IMPLEMENT A REAL TIME SYSTEM FOR PREDICTING STRESS LEVELS IN CANDIDATES THROUGH FACIAL EXPRESSION ANALYSIS.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5965825"/>
            <a:ext cx="7793773" cy="329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48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SUB OBJECTIVE</a:t>
            </a:r>
          </a:p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TO IDENTIFY SPECIFIC FACIAL EXPRESSION FEATURES THAT ARE INDICATIVE OF STRESS DURING INTERVIEWS.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3302633"/>
            <a:ext cx="7746325" cy="496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TO DESIGN AND TRAIN A MACHINE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 LEARNING MODEL FOR ANALYZING FACIAL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 EXPRESSION FEATURES TO PREDICT STRESS</a:t>
            </a:r>
          </a:p>
          <a:p>
            <a:pPr algn="ctr">
              <a:lnSpc>
                <a:spcPts val="5599"/>
              </a:lnSpc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LEVELS ACCURATELY.</a:t>
            </a:r>
          </a:p>
          <a:p>
            <a:pPr algn="ctr">
              <a:lnSpc>
                <a:spcPts val="5599"/>
              </a:lnSpc>
            </a:pPr>
            <a:endParaRPr lang="en-US" sz="2799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04519" lvl="1" indent="-302260" algn="ctr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TO VALIDATE THE PERFORMANCE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OF THE STRESS PREDICTION MODEL USING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REAL-TIME DATA CAPTURED THROUGH A </a:t>
            </a:r>
          </a:p>
          <a:p>
            <a:pPr algn="ctr">
              <a:lnSpc>
                <a:spcPts val="5599"/>
              </a:lnSpc>
            </a:pPr>
            <a:r>
              <a:rPr lang="en-US" sz="27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WEBCAM.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80743" y="2786503"/>
            <a:ext cx="11301259" cy="6116806"/>
          </a:xfrm>
          <a:custGeom>
            <a:avLst/>
            <a:gdLst/>
            <a:ahLst/>
            <a:cxnLst/>
            <a:rect l="l" t="t" r="r" b="b"/>
            <a:pathLst>
              <a:path w="11301259" h="6116806">
                <a:moveTo>
                  <a:pt x="0" y="0"/>
                </a:moveTo>
                <a:lnTo>
                  <a:pt x="11301259" y="0"/>
                </a:lnTo>
                <a:lnTo>
                  <a:pt x="11301259" y="6116806"/>
                </a:lnTo>
                <a:lnTo>
                  <a:pt x="0" y="6116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37274" y="653844"/>
            <a:ext cx="12788196" cy="207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80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SYSTEM DIAGRAM &amp; 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23256" y="3159424"/>
            <a:ext cx="9260307" cy="5741390"/>
          </a:xfrm>
          <a:custGeom>
            <a:avLst/>
            <a:gdLst/>
            <a:ahLst/>
            <a:cxnLst/>
            <a:rect l="l" t="t" r="r" b="b"/>
            <a:pathLst>
              <a:path w="9260307" h="5741390">
                <a:moveTo>
                  <a:pt x="0" y="0"/>
                </a:moveTo>
                <a:lnTo>
                  <a:pt x="9260307" y="0"/>
                </a:lnTo>
                <a:lnTo>
                  <a:pt x="9260307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48576" y="107632"/>
            <a:ext cx="4941451" cy="1651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datasets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194" y="1702117"/>
            <a:ext cx="12045791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07 LABELS EMOTIONS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DATASET SIMPLIFIES TRAINING BY FOCUSING ON KEY FACIAL PATTERNS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22646" y="1214104"/>
            <a:ext cx="15642708" cy="7858792"/>
            <a:chOff x="0" y="0"/>
            <a:chExt cx="1617856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17856" cy="812800"/>
            </a:xfrm>
            <a:custGeom>
              <a:avLst/>
              <a:gdLst/>
              <a:ahLst/>
              <a:cxnLst/>
              <a:rect l="l" t="t" r="r" b="b"/>
              <a:pathLst>
                <a:path w="1617856" h="812800">
                  <a:moveTo>
                    <a:pt x="0" y="0"/>
                  </a:moveTo>
                  <a:lnTo>
                    <a:pt x="1617856" y="0"/>
                  </a:lnTo>
                  <a:lnTo>
                    <a:pt x="16178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341366" y="2364020"/>
            <a:ext cx="11662417" cy="5558959"/>
          </a:xfrm>
          <a:custGeom>
            <a:avLst/>
            <a:gdLst/>
            <a:ahLst/>
            <a:cxnLst/>
            <a:rect l="l" t="t" r="r" b="b"/>
            <a:pathLst>
              <a:path w="11662417" h="5558959">
                <a:moveTo>
                  <a:pt x="0" y="0"/>
                </a:moveTo>
                <a:lnTo>
                  <a:pt x="11662418" y="0"/>
                </a:lnTo>
                <a:lnTo>
                  <a:pt x="11662418" y="5558960"/>
                </a:lnTo>
                <a:lnTo>
                  <a:pt x="0" y="5558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36185" y="7567837"/>
            <a:ext cx="7225646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2600B1"/>
                </a:solidFill>
                <a:latin typeface="Norwester"/>
                <a:ea typeface="Norwester"/>
                <a:cs typeface="Norwester"/>
                <a:sym typeface="Norwester"/>
              </a:rPr>
              <a:t>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09087" y="2192919"/>
            <a:ext cx="8334913" cy="5417694"/>
          </a:xfrm>
          <a:custGeom>
            <a:avLst/>
            <a:gdLst/>
            <a:ahLst/>
            <a:cxnLst/>
            <a:rect l="l" t="t" r="r" b="b"/>
            <a:pathLst>
              <a:path w="8334913" h="5417694">
                <a:moveTo>
                  <a:pt x="0" y="0"/>
                </a:moveTo>
                <a:lnTo>
                  <a:pt x="8334913" y="0"/>
                </a:lnTo>
                <a:lnTo>
                  <a:pt x="8334913" y="5417694"/>
                </a:lnTo>
                <a:lnTo>
                  <a:pt x="0" y="5417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414120" y="2192919"/>
            <a:ext cx="8334913" cy="5417694"/>
          </a:xfrm>
          <a:custGeom>
            <a:avLst/>
            <a:gdLst/>
            <a:ahLst/>
            <a:cxnLst/>
            <a:rect l="l" t="t" r="r" b="b"/>
            <a:pathLst>
              <a:path w="8334913" h="5417694">
                <a:moveTo>
                  <a:pt x="0" y="0"/>
                </a:moveTo>
                <a:lnTo>
                  <a:pt x="8334914" y="0"/>
                </a:lnTo>
                <a:lnTo>
                  <a:pt x="8334914" y="5417694"/>
                </a:lnTo>
                <a:lnTo>
                  <a:pt x="0" y="5417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583957" y="7901823"/>
            <a:ext cx="1071909" cy="961022"/>
          </a:xfrm>
          <a:custGeom>
            <a:avLst/>
            <a:gdLst/>
            <a:ahLst/>
            <a:cxnLst/>
            <a:rect l="l" t="t" r="r" b="b"/>
            <a:pathLst>
              <a:path w="1071909" h="961022">
                <a:moveTo>
                  <a:pt x="0" y="0"/>
                </a:moveTo>
                <a:lnTo>
                  <a:pt x="1071909" y="0"/>
                </a:lnTo>
                <a:lnTo>
                  <a:pt x="1071909" y="961022"/>
                </a:lnTo>
                <a:lnTo>
                  <a:pt x="0" y="9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36460" y="142505"/>
            <a:ext cx="10515481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14743" y="8094414"/>
            <a:ext cx="517695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RANDOM FOREST CLASSIFIER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86217" y="2192919"/>
            <a:ext cx="8143261" cy="5293120"/>
          </a:xfrm>
          <a:custGeom>
            <a:avLst/>
            <a:gdLst/>
            <a:ahLst/>
            <a:cxnLst/>
            <a:rect l="l" t="t" r="r" b="b"/>
            <a:pathLst>
              <a:path w="8143261" h="5293120">
                <a:moveTo>
                  <a:pt x="0" y="0"/>
                </a:moveTo>
                <a:lnTo>
                  <a:pt x="8143261" y="0"/>
                </a:lnTo>
                <a:lnTo>
                  <a:pt x="8143261" y="5293120"/>
                </a:lnTo>
                <a:lnTo>
                  <a:pt x="0" y="5293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94201" y="2192919"/>
            <a:ext cx="8143261" cy="5293120"/>
          </a:xfrm>
          <a:custGeom>
            <a:avLst/>
            <a:gdLst/>
            <a:ahLst/>
            <a:cxnLst/>
            <a:rect l="l" t="t" r="r" b="b"/>
            <a:pathLst>
              <a:path w="8143261" h="5293120">
                <a:moveTo>
                  <a:pt x="0" y="0"/>
                </a:moveTo>
                <a:lnTo>
                  <a:pt x="8143261" y="0"/>
                </a:lnTo>
                <a:lnTo>
                  <a:pt x="8143261" y="5293120"/>
                </a:lnTo>
                <a:lnTo>
                  <a:pt x="0" y="5293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429151" y="7960028"/>
            <a:ext cx="1188182" cy="1065266"/>
          </a:xfrm>
          <a:custGeom>
            <a:avLst/>
            <a:gdLst/>
            <a:ahLst/>
            <a:cxnLst/>
            <a:rect l="l" t="t" r="r" b="b"/>
            <a:pathLst>
              <a:path w="1188182" h="1065266">
                <a:moveTo>
                  <a:pt x="0" y="0"/>
                </a:moveTo>
                <a:lnTo>
                  <a:pt x="1188181" y="0"/>
                </a:lnTo>
                <a:lnTo>
                  <a:pt x="1188181" y="1065266"/>
                </a:lnTo>
                <a:lnTo>
                  <a:pt x="0" y="1065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36460" y="142505"/>
            <a:ext cx="10515481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73203" y="8152618"/>
            <a:ext cx="298192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SVM CLASSIFIER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2743" y="2196200"/>
            <a:ext cx="8191257" cy="5324317"/>
          </a:xfrm>
          <a:custGeom>
            <a:avLst/>
            <a:gdLst/>
            <a:ahLst/>
            <a:cxnLst/>
            <a:rect l="l" t="t" r="r" b="b"/>
            <a:pathLst>
              <a:path w="8191257" h="5324317">
                <a:moveTo>
                  <a:pt x="0" y="0"/>
                </a:moveTo>
                <a:lnTo>
                  <a:pt x="8191257" y="0"/>
                </a:lnTo>
                <a:lnTo>
                  <a:pt x="8191257" y="5324317"/>
                </a:lnTo>
                <a:lnTo>
                  <a:pt x="0" y="5324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464911" y="2192919"/>
            <a:ext cx="8055132" cy="5235836"/>
          </a:xfrm>
          <a:custGeom>
            <a:avLst/>
            <a:gdLst/>
            <a:ahLst/>
            <a:cxnLst/>
            <a:rect l="l" t="t" r="r" b="b"/>
            <a:pathLst>
              <a:path w="8055132" h="5235836">
                <a:moveTo>
                  <a:pt x="0" y="0"/>
                </a:moveTo>
                <a:lnTo>
                  <a:pt x="8055132" y="0"/>
                </a:lnTo>
                <a:lnTo>
                  <a:pt x="8055132" y="5235836"/>
                </a:lnTo>
                <a:lnTo>
                  <a:pt x="0" y="5235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626566" y="8103435"/>
            <a:ext cx="897879" cy="809648"/>
          </a:xfrm>
          <a:custGeom>
            <a:avLst/>
            <a:gdLst/>
            <a:ahLst/>
            <a:cxnLst/>
            <a:rect l="l" t="t" r="r" b="b"/>
            <a:pathLst>
              <a:path w="897879" h="809648">
                <a:moveTo>
                  <a:pt x="0" y="0"/>
                </a:moveTo>
                <a:lnTo>
                  <a:pt x="897879" y="0"/>
                </a:lnTo>
                <a:lnTo>
                  <a:pt x="897879" y="809648"/>
                </a:lnTo>
                <a:lnTo>
                  <a:pt x="0" y="809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36460" y="142505"/>
            <a:ext cx="10515481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38762" y="8168217"/>
            <a:ext cx="204096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CNN MODEL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353925" y="3641510"/>
            <a:ext cx="8390022" cy="5453514"/>
          </a:xfrm>
          <a:custGeom>
            <a:avLst/>
            <a:gdLst/>
            <a:ahLst/>
            <a:cxnLst/>
            <a:rect l="l" t="t" r="r" b="b"/>
            <a:pathLst>
              <a:path w="8390022" h="5453514">
                <a:moveTo>
                  <a:pt x="0" y="0"/>
                </a:moveTo>
                <a:lnTo>
                  <a:pt x="8390022" y="0"/>
                </a:lnTo>
                <a:lnTo>
                  <a:pt x="8390022" y="5453515"/>
                </a:lnTo>
                <a:lnTo>
                  <a:pt x="0" y="5453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64919" y="357434"/>
            <a:ext cx="8342537" cy="5422649"/>
          </a:xfrm>
          <a:custGeom>
            <a:avLst/>
            <a:gdLst/>
            <a:ahLst/>
            <a:cxnLst/>
            <a:rect l="l" t="t" r="r" b="b"/>
            <a:pathLst>
              <a:path w="8342537" h="5422649">
                <a:moveTo>
                  <a:pt x="0" y="0"/>
                </a:moveTo>
                <a:lnTo>
                  <a:pt x="8342537" y="0"/>
                </a:lnTo>
                <a:lnTo>
                  <a:pt x="8342537" y="5422649"/>
                </a:lnTo>
                <a:lnTo>
                  <a:pt x="0" y="542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7329" y="6399706"/>
            <a:ext cx="6842975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684433" y="844938"/>
            <a:ext cx="12376162" cy="8044505"/>
          </a:xfrm>
          <a:custGeom>
            <a:avLst/>
            <a:gdLst/>
            <a:ahLst/>
            <a:cxnLst/>
            <a:rect l="l" t="t" r="r" b="b"/>
            <a:pathLst>
              <a:path w="12376162" h="8044505">
                <a:moveTo>
                  <a:pt x="0" y="0"/>
                </a:moveTo>
                <a:lnTo>
                  <a:pt x="12376162" y="0"/>
                </a:lnTo>
                <a:lnTo>
                  <a:pt x="12376162" y="8044505"/>
                </a:lnTo>
                <a:lnTo>
                  <a:pt x="0" y="8044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621398" y="3732630"/>
            <a:ext cx="3194830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DEMO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21790" y="2458501"/>
            <a:ext cx="9588403" cy="6232462"/>
          </a:xfrm>
          <a:custGeom>
            <a:avLst/>
            <a:gdLst/>
            <a:ahLst/>
            <a:cxnLst/>
            <a:rect l="l" t="t" r="r" b="b"/>
            <a:pathLst>
              <a:path w="9588403" h="6232462">
                <a:moveTo>
                  <a:pt x="0" y="0"/>
                </a:moveTo>
                <a:lnTo>
                  <a:pt x="9588403" y="0"/>
                </a:lnTo>
                <a:lnTo>
                  <a:pt x="9588403" y="6232462"/>
                </a:lnTo>
                <a:lnTo>
                  <a:pt x="0" y="6232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45548" y="685002"/>
            <a:ext cx="9006919" cy="5854497"/>
          </a:xfrm>
          <a:custGeom>
            <a:avLst/>
            <a:gdLst/>
            <a:ahLst/>
            <a:cxnLst/>
            <a:rect l="l" t="t" r="r" b="b"/>
            <a:pathLst>
              <a:path w="9006919" h="5854497">
                <a:moveTo>
                  <a:pt x="0" y="0"/>
                </a:moveTo>
                <a:lnTo>
                  <a:pt x="9006919" y="0"/>
                </a:lnTo>
                <a:lnTo>
                  <a:pt x="9006919" y="5854498"/>
                </a:lnTo>
                <a:lnTo>
                  <a:pt x="0" y="5854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605011" y="2233159"/>
          <a:ext cx="9773328" cy="7034196"/>
        </p:xfrm>
        <a:graphic>
          <a:graphicData uri="http://schemas.openxmlformats.org/drawingml/2006/table">
            <a:tbl>
              <a:tblPr/>
              <a:tblGrid>
                <a:gridCol w="6067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23837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FUNCTIONAL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NON FUNCTIONAL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764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Real-Time Facial Expression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574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Stress Level Prediction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487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Machine Learning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Scalability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965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.Facial Feature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AFFF5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Usability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393251" y="2233159"/>
            <a:ext cx="4585355" cy="3286171"/>
          </a:xfrm>
          <a:custGeom>
            <a:avLst/>
            <a:gdLst/>
            <a:ahLst/>
            <a:cxnLst/>
            <a:rect l="l" t="t" r="r" b="b"/>
            <a:pathLst>
              <a:path w="4585355" h="3286171">
                <a:moveTo>
                  <a:pt x="0" y="0"/>
                </a:moveTo>
                <a:lnTo>
                  <a:pt x="4585355" y="0"/>
                </a:lnTo>
                <a:lnTo>
                  <a:pt x="4585355" y="3286171"/>
                </a:lnTo>
                <a:lnTo>
                  <a:pt x="0" y="328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56200" y="719812"/>
            <a:ext cx="8998247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REQUIREMENTS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333259" y="2233426"/>
            <a:ext cx="13640532" cy="7024874"/>
          </a:xfrm>
          <a:custGeom>
            <a:avLst/>
            <a:gdLst/>
            <a:ahLst/>
            <a:cxnLst/>
            <a:rect l="l" t="t" r="r" b="b"/>
            <a:pathLst>
              <a:path w="13640532" h="7024874">
                <a:moveTo>
                  <a:pt x="0" y="0"/>
                </a:moveTo>
                <a:lnTo>
                  <a:pt x="13640532" y="0"/>
                </a:lnTo>
                <a:lnTo>
                  <a:pt x="13640532" y="7024874"/>
                </a:lnTo>
                <a:lnTo>
                  <a:pt x="0" y="7024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75571" y="708602"/>
            <a:ext cx="16269998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COMPLETED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16021" y="3514394"/>
            <a:ext cx="14655958" cy="5221185"/>
          </a:xfrm>
          <a:custGeom>
            <a:avLst/>
            <a:gdLst/>
            <a:ahLst/>
            <a:cxnLst/>
            <a:rect l="l" t="t" r="r" b="b"/>
            <a:pathLst>
              <a:path w="14655958" h="5221185">
                <a:moveTo>
                  <a:pt x="0" y="0"/>
                </a:moveTo>
                <a:lnTo>
                  <a:pt x="14655958" y="0"/>
                </a:lnTo>
                <a:lnTo>
                  <a:pt x="14655958" y="5221185"/>
                </a:lnTo>
                <a:lnTo>
                  <a:pt x="0" y="5221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67045" y="902725"/>
            <a:ext cx="16230600" cy="247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TO BE COMPLETED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955754" y="2201995"/>
          <a:ext cx="13145300" cy="6552808"/>
        </p:xfrm>
        <a:graphic>
          <a:graphicData uri="http://schemas.openxmlformats.org/drawingml/2006/table">
            <a:tbl>
              <a:tblPr/>
              <a:tblGrid>
                <a:gridCol w="644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5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3286"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Predicted aspects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Non Predicted aspects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753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Stress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Individual Variation in Stress Response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7869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Emotion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Environment-Dependent 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059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Timely Notifications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 Compliance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059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Increased Accuracy Over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 Privacy Concerns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763310"/>
            <a:ext cx="16716511" cy="117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87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PREDICTED &amp; UNPREDICTED ASPECTS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4862089"/>
            <a:ext cx="3312042" cy="1623691"/>
          </a:xfrm>
          <a:custGeom>
            <a:avLst/>
            <a:gdLst/>
            <a:ahLst/>
            <a:cxnLst/>
            <a:rect l="l" t="t" r="r" b="b"/>
            <a:pathLst>
              <a:path w="3312042" h="1623691">
                <a:moveTo>
                  <a:pt x="0" y="0"/>
                </a:moveTo>
                <a:lnTo>
                  <a:pt x="3312042" y="0"/>
                </a:lnTo>
                <a:lnTo>
                  <a:pt x="3312042" y="1623691"/>
                </a:lnTo>
                <a:lnTo>
                  <a:pt x="0" y="1623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02422" y="2841115"/>
            <a:ext cx="3056523" cy="1951130"/>
          </a:xfrm>
          <a:custGeom>
            <a:avLst/>
            <a:gdLst/>
            <a:ahLst/>
            <a:cxnLst/>
            <a:rect l="l" t="t" r="r" b="b"/>
            <a:pathLst>
              <a:path w="3056523" h="1951130">
                <a:moveTo>
                  <a:pt x="0" y="0"/>
                </a:moveTo>
                <a:lnTo>
                  <a:pt x="3056523" y="0"/>
                </a:lnTo>
                <a:lnTo>
                  <a:pt x="3056523" y="1951130"/>
                </a:lnTo>
                <a:lnTo>
                  <a:pt x="0" y="195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88608" y="6427406"/>
            <a:ext cx="2977373" cy="2111858"/>
          </a:xfrm>
          <a:custGeom>
            <a:avLst/>
            <a:gdLst/>
            <a:ahLst/>
            <a:cxnLst/>
            <a:rect l="l" t="t" r="r" b="b"/>
            <a:pathLst>
              <a:path w="2977373" h="2111858">
                <a:moveTo>
                  <a:pt x="0" y="0"/>
                </a:moveTo>
                <a:lnTo>
                  <a:pt x="2977373" y="0"/>
                </a:lnTo>
                <a:lnTo>
                  <a:pt x="2977373" y="2111858"/>
                </a:lnTo>
                <a:lnTo>
                  <a:pt x="0" y="2111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130687" y="3910220"/>
            <a:ext cx="1759081" cy="1764050"/>
          </a:xfrm>
          <a:custGeom>
            <a:avLst/>
            <a:gdLst/>
            <a:ahLst/>
            <a:cxnLst/>
            <a:rect l="l" t="t" r="r" b="b"/>
            <a:pathLst>
              <a:path w="1759081" h="1764050">
                <a:moveTo>
                  <a:pt x="0" y="0"/>
                </a:moveTo>
                <a:lnTo>
                  <a:pt x="1759081" y="0"/>
                </a:lnTo>
                <a:lnTo>
                  <a:pt x="1759081" y="1764050"/>
                </a:lnTo>
                <a:lnTo>
                  <a:pt x="0" y="176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339970" y="1028700"/>
            <a:ext cx="2120572" cy="2120572"/>
          </a:xfrm>
          <a:custGeom>
            <a:avLst/>
            <a:gdLst/>
            <a:ahLst/>
            <a:cxnLst/>
            <a:rect l="l" t="t" r="r" b="b"/>
            <a:pathLst>
              <a:path w="2120572" h="2120572">
                <a:moveTo>
                  <a:pt x="0" y="0"/>
                </a:moveTo>
                <a:lnTo>
                  <a:pt x="2120572" y="0"/>
                </a:lnTo>
                <a:lnTo>
                  <a:pt x="2120572" y="2120572"/>
                </a:lnTo>
                <a:lnTo>
                  <a:pt x="0" y="2120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558891" y="6052809"/>
            <a:ext cx="3307601" cy="1653800"/>
          </a:xfrm>
          <a:custGeom>
            <a:avLst/>
            <a:gdLst/>
            <a:ahLst/>
            <a:cxnLst/>
            <a:rect l="l" t="t" r="r" b="b"/>
            <a:pathLst>
              <a:path w="3307601" h="1653800">
                <a:moveTo>
                  <a:pt x="0" y="0"/>
                </a:moveTo>
                <a:lnTo>
                  <a:pt x="3307601" y="0"/>
                </a:lnTo>
                <a:lnTo>
                  <a:pt x="3307601" y="1653801"/>
                </a:lnTo>
                <a:lnTo>
                  <a:pt x="0" y="165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517986" y="6969249"/>
            <a:ext cx="2040905" cy="2040905"/>
          </a:xfrm>
          <a:custGeom>
            <a:avLst/>
            <a:gdLst/>
            <a:ahLst/>
            <a:cxnLst/>
            <a:rect l="l" t="t" r="r" b="b"/>
            <a:pathLst>
              <a:path w="2040905" h="2040905">
                <a:moveTo>
                  <a:pt x="0" y="0"/>
                </a:moveTo>
                <a:lnTo>
                  <a:pt x="2040905" y="0"/>
                </a:lnTo>
                <a:lnTo>
                  <a:pt x="2040905" y="2040905"/>
                </a:lnTo>
                <a:lnTo>
                  <a:pt x="0" y="20409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020543" y="7451198"/>
            <a:ext cx="1558956" cy="1558956"/>
          </a:xfrm>
          <a:custGeom>
            <a:avLst/>
            <a:gdLst/>
            <a:ahLst/>
            <a:cxnLst/>
            <a:rect l="l" t="t" r="r" b="b"/>
            <a:pathLst>
              <a:path w="1558956" h="1558956">
                <a:moveTo>
                  <a:pt x="0" y="0"/>
                </a:moveTo>
                <a:lnTo>
                  <a:pt x="1558956" y="0"/>
                </a:lnTo>
                <a:lnTo>
                  <a:pt x="1558956" y="1558956"/>
                </a:lnTo>
                <a:lnTo>
                  <a:pt x="0" y="15589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443917" y="4126258"/>
            <a:ext cx="4106922" cy="1331975"/>
          </a:xfrm>
          <a:custGeom>
            <a:avLst/>
            <a:gdLst/>
            <a:ahLst/>
            <a:cxnLst/>
            <a:rect l="l" t="t" r="r" b="b"/>
            <a:pathLst>
              <a:path w="4106922" h="1331975">
                <a:moveTo>
                  <a:pt x="0" y="0"/>
                </a:moveTo>
                <a:lnTo>
                  <a:pt x="4106922" y="0"/>
                </a:lnTo>
                <a:lnTo>
                  <a:pt x="4106922" y="1331974"/>
                </a:lnTo>
                <a:lnTo>
                  <a:pt x="0" y="1331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659793" y="6969249"/>
            <a:ext cx="2810999" cy="1474721"/>
          </a:xfrm>
          <a:custGeom>
            <a:avLst/>
            <a:gdLst/>
            <a:ahLst/>
            <a:cxnLst/>
            <a:rect l="l" t="t" r="r" b="b"/>
            <a:pathLst>
              <a:path w="2810999" h="1474721">
                <a:moveTo>
                  <a:pt x="0" y="0"/>
                </a:moveTo>
                <a:lnTo>
                  <a:pt x="2811000" y="0"/>
                </a:lnTo>
                <a:lnTo>
                  <a:pt x="2811000" y="1474721"/>
                </a:lnTo>
                <a:lnTo>
                  <a:pt x="0" y="1474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367770" y="1054661"/>
            <a:ext cx="1819049" cy="1365798"/>
          </a:xfrm>
          <a:custGeom>
            <a:avLst/>
            <a:gdLst/>
            <a:ahLst/>
            <a:cxnLst/>
            <a:rect l="l" t="t" r="r" b="b"/>
            <a:pathLst>
              <a:path w="1819049" h="1365798">
                <a:moveTo>
                  <a:pt x="0" y="0"/>
                </a:moveTo>
                <a:lnTo>
                  <a:pt x="1819049" y="0"/>
                </a:lnTo>
                <a:lnTo>
                  <a:pt x="1819049" y="1365798"/>
                </a:lnTo>
                <a:lnTo>
                  <a:pt x="0" y="13657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470793" y="1000207"/>
            <a:ext cx="8788507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TOOLS &amp; TECHNOLOGIES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38250"/>
            <a:ext cx="9096550" cy="1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8754" y="2833370"/>
            <a:ext cx="15150491" cy="64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[1] A. S. Rathore, S. Mehta, and P. Gupta, "Real-Time Stress Detection and Analysis using Facial Emotion Recognition," International Journal of Advanced Research in Computer and Communication Engineering, vol. 10, no. 5, pp. 45-50, May 2021. </a:t>
            </a:r>
            <a:r>
              <a:rPr lang="en-US" sz="2799" u="sng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2" tooltip="https://ijarcce.com/papers/real-time-stress-detection-and-analysis-using-facial-emotion-recognition/"/>
              </a:rPr>
              <a:t>Add a little bit of body text</a:t>
            </a: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[2] J. Zhang, Y. Shen, and H. Wang, "Real-Time Mental Stress Detection Using Multimodality Expressions," Frontiers in Neuroscience, vol. 16, no. 947168, pp. 1-10, Nov. 2022. </a:t>
            </a:r>
            <a:r>
              <a:rPr lang="en-US" sz="2799" u="sng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3" tooltip="https://www.frontiersin.org/journals/neuroscience/articles/10.3389/fnins.2022.947168/full"/>
              </a:rPr>
              <a:t>Add a little bit of body text</a:t>
            </a: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[3] D. Thomas, R. Lee, and A. Park, "Real-Time Emotion Detection by Quantitative Facial Motion Analysis," Journal of Emotion and Computing, vol. 8, no. 2, pp. 45-52, Mar. 2023. </a:t>
            </a:r>
          </a:p>
          <a:p>
            <a:pPr algn="ctr">
              <a:lnSpc>
                <a:spcPts val="3919"/>
              </a:lnSpc>
            </a:pPr>
            <a:r>
              <a:rPr lang="en-US" sz="2799" u="sng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4" tooltip="https://www.ncbi.nlm.nih.gov/pmc/articles/PMC10004542/"/>
              </a:rPr>
              <a:t>Add a little bit of body text</a:t>
            </a: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[4] L. C. Smith and D. N. Patel, "Stress Detection of Autistic Adults during Simulated Job Interviews," Proceedings of the ACM Digital Library, vol. 22, no. 7, pp. 120-129, Oct. 2023.</a:t>
            </a:r>
          </a:p>
          <a:p>
            <a:pPr algn="ctr">
              <a:lnSpc>
                <a:spcPts val="3919"/>
              </a:lnSpc>
            </a:pPr>
            <a:r>
              <a:rPr lang="en-US" sz="2799" u="sng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  <a:hlinkClick r:id="rId5" tooltip="https://dl.acm.org/doi/10.1145/3639709"/>
              </a:rPr>
              <a:t>Add a little bit of body text</a:t>
            </a:r>
            <a:r>
              <a:rPr lang="en-US" sz="27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7AFFF5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593600" y="9432607"/>
            <a:ext cx="93676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IT21815614 | KASTHURIRATHNE K.T.A.D.K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62810" y="1028700"/>
            <a:ext cx="2670265" cy="3482954"/>
          </a:xfrm>
          <a:custGeom>
            <a:avLst/>
            <a:gdLst/>
            <a:ahLst/>
            <a:cxnLst/>
            <a:rect l="l" t="t" r="r" b="b"/>
            <a:pathLst>
              <a:path w="2670265" h="3482954">
                <a:moveTo>
                  <a:pt x="0" y="0"/>
                </a:moveTo>
                <a:lnTo>
                  <a:pt x="2670265" y="0"/>
                </a:lnTo>
                <a:lnTo>
                  <a:pt x="2670265" y="3482954"/>
                </a:lnTo>
                <a:lnTo>
                  <a:pt x="0" y="3482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71386" y="1491710"/>
            <a:ext cx="11345227" cy="102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dirty="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IT21838620 ~ S.U.D.A GUNASEKARA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279" y="4604959"/>
            <a:ext cx="18155721" cy="182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COMPONENT 03: Predict the decision making skill by text analysis AND ENGAGEMENT USING EYE ENGAGEMENT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0057" y="6870484"/>
            <a:ext cx="14507885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BACHELOR OF SCIENCE (HONS) IN INFORMATION TECHNOLOGY 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SPECIALIZING IN INFORMATION TECHNOLOGY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0952" y="1315465"/>
            <a:ext cx="10166878" cy="758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CAN A CANDIDATE’S DECISION-MAKING SKILLS BE DETECTED BY COMBINING TEXT ANALYSIS (SPEECH-TO-TEXT) AND EYE ENGAGEMENT DATA?</a:t>
            </a:r>
          </a:p>
          <a:p>
            <a:pPr algn="ctr">
              <a:lnSpc>
                <a:spcPts val="4665"/>
              </a:lnSpc>
              <a:spcBef>
                <a:spcPct val="0"/>
              </a:spcBef>
            </a:pPr>
            <a:endParaRPr lang="en-US" sz="3332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WHAT ARE THE POTENTIAL ADVANTAGES OF USING AUTOMATED TEXT AND EYE ENGAGEMENT ANALYSIS OVER TRADITIONAL FACE-TO-FACE INTERVIEW METHODS?</a:t>
            </a:r>
          </a:p>
          <a:p>
            <a:pPr algn="ctr">
              <a:lnSpc>
                <a:spcPts val="4665"/>
              </a:lnSpc>
              <a:spcBef>
                <a:spcPct val="0"/>
              </a:spcBef>
            </a:pPr>
            <a:endParaRPr lang="en-US" sz="3332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665"/>
              </a:lnSpc>
              <a:spcBef>
                <a:spcPct val="0"/>
              </a:spcBef>
            </a:pPr>
            <a:r>
              <a:rPr lang="en-US" sz="33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WHAT TYPES OF DECISION-MAKING SKILLS ARE MOST CRITICAL TO ASSESS FOR THE JOB ROLES TARGETED BY THIS SYSTEM?</a:t>
            </a:r>
          </a:p>
        </p:txBody>
      </p:sp>
      <p:sp>
        <p:nvSpPr>
          <p:cNvPr id="3" name="Freeform 3"/>
          <p:cNvSpPr/>
          <p:nvPr/>
        </p:nvSpPr>
        <p:spPr>
          <a:xfrm>
            <a:off x="14925045" y="650049"/>
            <a:ext cx="2909875" cy="2591990"/>
          </a:xfrm>
          <a:custGeom>
            <a:avLst/>
            <a:gdLst/>
            <a:ahLst/>
            <a:cxnLst/>
            <a:rect l="l" t="t" r="r" b="b"/>
            <a:pathLst>
              <a:path w="2909875" h="2591990">
                <a:moveTo>
                  <a:pt x="0" y="0"/>
                </a:moveTo>
                <a:lnTo>
                  <a:pt x="2909875" y="0"/>
                </a:lnTo>
                <a:lnTo>
                  <a:pt x="2909875" y="2591989"/>
                </a:lnTo>
                <a:lnTo>
                  <a:pt x="0" y="2591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5400000">
            <a:off x="-555354" y="4505896"/>
            <a:ext cx="6842975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BACKGROUND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2009" y="5882149"/>
            <a:ext cx="3985672" cy="2657115"/>
          </a:xfrm>
          <a:custGeom>
            <a:avLst/>
            <a:gdLst/>
            <a:ahLst/>
            <a:cxnLst/>
            <a:rect l="l" t="t" r="r" b="b"/>
            <a:pathLst>
              <a:path w="3985672" h="2657115">
                <a:moveTo>
                  <a:pt x="0" y="0"/>
                </a:moveTo>
                <a:lnTo>
                  <a:pt x="3985673" y="0"/>
                </a:lnTo>
                <a:lnTo>
                  <a:pt x="3985673" y="2657115"/>
                </a:lnTo>
                <a:lnTo>
                  <a:pt x="0" y="2657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526488"/>
            <a:ext cx="9096550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QUESTION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7755" y="971550"/>
            <a:ext cx="10125250" cy="784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“HOW CAN EYE ENGAGEMENT PATTERNS BE LEVERAGED TO ASSESS DECISION-MAKING BEHAVIORS DURING REAL-TIME JOB INTERVIEWS?”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“HOW RELIABLE ARE EYE ENGAGEMENT DETECTION SYSTEMS IN VARYING LIGHTING, ENVIRONMENTAL, AND CANDIDATE-SPECIFIC CONDITIONS (E.G., GLASSES, EYE SHAPE)?”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“CAN EYE ENGAGEMENT ANALYSIS BE INTEGRATED INTO AI-BASED CANDIDATE RECOMMENDATION SYSTEMS TO ENHANCE BEHAVIORAL EVALUATION?”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452723" y="2578296"/>
          <a:ext cx="14225782" cy="6541643"/>
        </p:xfrm>
        <a:graphic>
          <a:graphicData uri="http://schemas.openxmlformats.org/drawingml/2006/table">
            <a:tbl>
              <a:tblPr/>
              <a:tblGrid>
                <a:gridCol w="561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8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1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8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85053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[01]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[02]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[03]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[04]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PROPOSED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4726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Eye movement tracking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28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Analysis of decision-making from eye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4726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Use of ML for eye engagement insight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0856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Application in job interview scenarios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4580391" y="8075530"/>
            <a:ext cx="872742" cy="872742"/>
          </a:xfrm>
          <a:custGeom>
            <a:avLst/>
            <a:gdLst/>
            <a:ahLst/>
            <a:cxnLst/>
            <a:rect l="l" t="t" r="r" b="b"/>
            <a:pathLst>
              <a:path w="872742" h="872742">
                <a:moveTo>
                  <a:pt x="0" y="0"/>
                </a:moveTo>
                <a:lnTo>
                  <a:pt x="872742" y="0"/>
                </a:lnTo>
                <a:lnTo>
                  <a:pt x="872742" y="872741"/>
                </a:lnTo>
                <a:lnTo>
                  <a:pt x="0" y="872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921409" y="4296037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921409" y="5552811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222405" y="4296037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552497" y="5571667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207171" y="6885166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567732" y="6906799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921409" y="8040207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176702" y="8070339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517720" y="8075530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646137" y="1046973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676605" y="327343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4" y="0"/>
                </a:lnTo>
                <a:lnTo>
                  <a:pt x="847464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02990" y="621535"/>
            <a:ext cx="7880592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GAP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77548" y="514855"/>
            <a:ext cx="480095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ADDRESSED BY THE RESEARCH PAPER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96924" y="1216070"/>
            <a:ext cx="53304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NOT ADDRESSED BY THE RESEARCH PAPER</a:t>
            </a:r>
          </a:p>
        </p:txBody>
      </p:sp>
      <p:sp>
        <p:nvSpPr>
          <p:cNvPr id="18" name="Freeform 18"/>
          <p:cNvSpPr/>
          <p:nvPr/>
        </p:nvSpPr>
        <p:spPr>
          <a:xfrm>
            <a:off x="12921409" y="674317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207171" y="5552811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582966" y="4296037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378339" y="8055441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411837" y="6792499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411837" y="5544986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6411837" y="4296037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666116" y="5552811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4666116" y="674317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3" y="0"/>
                </a:lnTo>
                <a:lnTo>
                  <a:pt x="847463" y="847463"/>
                </a:lnTo>
                <a:lnTo>
                  <a:pt x="0" y="84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4644692" y="4326505"/>
            <a:ext cx="847463" cy="847463"/>
          </a:xfrm>
          <a:custGeom>
            <a:avLst/>
            <a:gdLst/>
            <a:ahLst/>
            <a:cxnLst/>
            <a:rect l="l" t="t" r="r" b="b"/>
            <a:pathLst>
              <a:path w="847463" h="847463">
                <a:moveTo>
                  <a:pt x="0" y="0"/>
                </a:moveTo>
                <a:lnTo>
                  <a:pt x="847464" y="0"/>
                </a:lnTo>
                <a:lnTo>
                  <a:pt x="847464" y="847464"/>
                </a:lnTo>
                <a:lnTo>
                  <a:pt x="0" y="847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32458" y="2100829"/>
          <a:ext cx="17420424" cy="7131228"/>
        </p:xfrm>
        <a:graphic>
          <a:graphicData uri="http://schemas.openxmlformats.org/drawingml/2006/table">
            <a:tbl>
              <a:tblPr/>
              <a:tblGrid>
                <a:gridCol w="7956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4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2965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Specific Objective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Sub Objective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8263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Develop a robust framework for detecting and evaluating candidates' decision-making skills during interviews by analysing speech-to-text data using advanced natural language processing (NLP) techniques and used machine learning models for eye engagement , ensuring real-time, and reliable assessment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 process speech-to-text data.</a:t>
                      </a:r>
                      <a:endParaRPr lang="en-US" sz="1100"/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 analyse decision-making patterns in text</a:t>
                      </a:r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 predict decision-making proficiency using AI</a:t>
                      </a:r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 design a scoring mechanism for eye engagement during the process.</a:t>
                      </a:r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 validate the proposed decision-making and eye engagement model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8363649" y="573170"/>
            <a:ext cx="1560701" cy="911059"/>
          </a:xfrm>
          <a:custGeom>
            <a:avLst/>
            <a:gdLst/>
            <a:ahLst/>
            <a:cxnLst/>
            <a:rect l="l" t="t" r="r" b="b"/>
            <a:pathLst>
              <a:path w="1560701" h="911059">
                <a:moveTo>
                  <a:pt x="0" y="0"/>
                </a:moveTo>
                <a:lnTo>
                  <a:pt x="1560702" y="0"/>
                </a:lnTo>
                <a:lnTo>
                  <a:pt x="1560702" y="911060"/>
                </a:lnTo>
                <a:lnTo>
                  <a:pt x="0" y="911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424017" y="447103"/>
            <a:ext cx="9096550" cy="1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OBJECTIVES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974855" y="2289071"/>
            <a:ext cx="8797680" cy="6598260"/>
          </a:xfrm>
          <a:custGeom>
            <a:avLst/>
            <a:gdLst/>
            <a:ahLst/>
            <a:cxnLst/>
            <a:rect l="l" t="t" r="r" b="b"/>
            <a:pathLst>
              <a:path w="8797680" h="6598260">
                <a:moveTo>
                  <a:pt x="0" y="0"/>
                </a:moveTo>
                <a:lnTo>
                  <a:pt x="8797681" y="0"/>
                </a:lnTo>
                <a:lnTo>
                  <a:pt x="8797681" y="6598260"/>
                </a:lnTo>
                <a:lnTo>
                  <a:pt x="0" y="6598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47491"/>
            <a:ext cx="16230600" cy="10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80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SYSTEM DIAGRAM &amp; 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6420" y="2327979"/>
            <a:ext cx="13713795" cy="6154066"/>
          </a:xfrm>
          <a:custGeom>
            <a:avLst/>
            <a:gdLst/>
            <a:ahLst/>
            <a:cxnLst/>
            <a:rect l="l" t="t" r="r" b="b"/>
            <a:pathLst>
              <a:path w="13713795" h="6154066">
                <a:moveTo>
                  <a:pt x="0" y="0"/>
                </a:moveTo>
                <a:lnTo>
                  <a:pt x="13713795" y="0"/>
                </a:lnTo>
                <a:lnTo>
                  <a:pt x="13713795" y="6154066"/>
                </a:lnTo>
                <a:lnTo>
                  <a:pt x="0" y="615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25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336460" y="142505"/>
            <a:ext cx="10515481" cy="205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0"/>
              </a:lnSpc>
            </a:pPr>
            <a:r>
              <a:rPr lang="en-US" sz="119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09868" y="9432607"/>
            <a:ext cx="8418909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FFFF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753879" y="2596014"/>
            <a:ext cx="12130887" cy="5094972"/>
          </a:xfrm>
          <a:custGeom>
            <a:avLst/>
            <a:gdLst/>
            <a:ahLst/>
            <a:cxnLst/>
            <a:rect l="l" t="t" r="r" b="b"/>
            <a:pathLst>
              <a:path w="12130887" h="5094972">
                <a:moveTo>
                  <a:pt x="0" y="0"/>
                </a:moveTo>
                <a:lnTo>
                  <a:pt x="12130887" y="0"/>
                </a:lnTo>
                <a:lnTo>
                  <a:pt x="12130887" y="5094972"/>
                </a:lnTo>
                <a:lnTo>
                  <a:pt x="0" y="509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5400000">
            <a:off x="-897832" y="3868859"/>
            <a:ext cx="7225646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9868" y="9432607"/>
            <a:ext cx="8418909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FFFF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273687" y="439234"/>
            <a:ext cx="7237332" cy="4704266"/>
          </a:xfrm>
          <a:custGeom>
            <a:avLst/>
            <a:gdLst/>
            <a:ahLst/>
            <a:cxnLst/>
            <a:rect l="l" t="t" r="r" b="b"/>
            <a:pathLst>
              <a:path w="7237332" h="4704266">
                <a:moveTo>
                  <a:pt x="0" y="0"/>
                </a:moveTo>
                <a:lnTo>
                  <a:pt x="7237332" y="0"/>
                </a:lnTo>
                <a:lnTo>
                  <a:pt x="7237332" y="4704266"/>
                </a:lnTo>
                <a:lnTo>
                  <a:pt x="0" y="470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72944" y="4522833"/>
            <a:ext cx="7285334" cy="4735467"/>
          </a:xfrm>
          <a:custGeom>
            <a:avLst/>
            <a:gdLst/>
            <a:ahLst/>
            <a:cxnLst/>
            <a:rect l="l" t="t" r="r" b="b"/>
            <a:pathLst>
              <a:path w="7285334" h="4735467">
                <a:moveTo>
                  <a:pt x="0" y="0"/>
                </a:moveTo>
                <a:lnTo>
                  <a:pt x="7285334" y="0"/>
                </a:lnTo>
                <a:lnTo>
                  <a:pt x="7285334" y="4735467"/>
                </a:lnTo>
                <a:lnTo>
                  <a:pt x="0" y="4735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 rot="-5400000">
            <a:off x="-1038224" y="3971153"/>
            <a:ext cx="7225646" cy="107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80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9868" y="9432607"/>
            <a:ext cx="8418909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endParaRPr lang="en-US" sz="3600">
              <a:solidFill>
                <a:srgbClr val="FFFFFF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80968" y="647079"/>
            <a:ext cx="8998247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REQUIREMENTS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796093" y="2453870"/>
          <a:ext cx="10951836" cy="6667500"/>
        </p:xfrm>
        <a:graphic>
          <a:graphicData uri="http://schemas.openxmlformats.org/drawingml/2006/table">
            <a:tbl>
              <a:tblPr/>
              <a:tblGrid>
                <a:gridCol w="580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4702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Functional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Non Functional Requirements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2798">
                <a:tc>
                  <a:txBody>
                    <a:bodyPr/>
                    <a:lstStyle/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Speech-to-Text Conversion</a:t>
                      </a:r>
                      <a:endParaRPr lang="en-US" sz="1100"/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Decision-Making Detection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Contextual Analysis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Machine Learning Integration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Analysis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Performance</a:t>
                      </a:r>
                      <a:endParaRPr lang="en-US" sz="1100"/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Scalability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Security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Usability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Reliability</a:t>
                      </a:r>
                    </a:p>
                    <a:p>
                      <a:pPr marL="690877" lvl="1" indent="-345439" algn="l">
                        <a:lnSpc>
                          <a:spcPts val="4479"/>
                        </a:lnSpc>
                        <a:buFont typeface="Arial"/>
                        <a:buChar char="•"/>
                      </a:pPr>
                      <a:r>
                        <a:rPr lang="en-US" sz="3199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Compatibility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665488" y="3308900"/>
            <a:ext cx="11907299" cy="3686434"/>
          </a:xfrm>
          <a:custGeom>
            <a:avLst/>
            <a:gdLst/>
            <a:ahLst/>
            <a:cxnLst/>
            <a:rect l="l" t="t" r="r" b="b"/>
            <a:pathLst>
              <a:path w="11907299" h="3686434">
                <a:moveTo>
                  <a:pt x="0" y="0"/>
                </a:moveTo>
                <a:lnTo>
                  <a:pt x="11907299" y="0"/>
                </a:lnTo>
                <a:lnTo>
                  <a:pt x="11907299" y="3686433"/>
                </a:lnTo>
                <a:lnTo>
                  <a:pt x="0" y="3686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4250" y="883687"/>
            <a:ext cx="16695703" cy="132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101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COMPLETED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3224" y="3925925"/>
            <a:ext cx="15401551" cy="3650515"/>
          </a:xfrm>
          <a:custGeom>
            <a:avLst/>
            <a:gdLst/>
            <a:ahLst/>
            <a:cxnLst/>
            <a:rect l="l" t="t" r="r" b="b"/>
            <a:pathLst>
              <a:path w="15401551" h="3650515">
                <a:moveTo>
                  <a:pt x="0" y="0"/>
                </a:moveTo>
                <a:lnTo>
                  <a:pt x="15401552" y="0"/>
                </a:lnTo>
                <a:lnTo>
                  <a:pt x="15401552" y="3650514"/>
                </a:lnTo>
                <a:lnTo>
                  <a:pt x="0" y="365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33773" y="757687"/>
            <a:ext cx="17020453" cy="2369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8"/>
              </a:lnSpc>
            </a:pPr>
            <a:r>
              <a:rPr lang="en-US" sz="92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TO BE COMPLETED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0047" y="530343"/>
            <a:ext cx="16887907" cy="116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88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PREDICTED &amp; UNPREDICTED ASPECTS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59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236128" y="1831757"/>
          <a:ext cx="13261249" cy="7534274"/>
        </p:xfrm>
        <a:graphic>
          <a:graphicData uri="http://schemas.openxmlformats.org/drawingml/2006/table">
            <a:tbl>
              <a:tblPr/>
              <a:tblGrid>
                <a:gridCol w="6506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850"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Predicted aspects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Non Predicted aspects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06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Focus and Attention Tracking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Variations in Eye Movement due to Fatigue or Health Conditions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06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Detection of Cognitive Load during Decision Points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Distraction from External Environmental Factors (e.g., lighting)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106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Identification of Hesitation and Uncertainty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Varying Results in Different Cultural Eye Behaviours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106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Non-Intrusive Behavioural 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00B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 Privacy and Ethical Concerns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15206" y="1028700"/>
            <a:ext cx="3142999" cy="1540819"/>
          </a:xfrm>
          <a:custGeom>
            <a:avLst/>
            <a:gdLst/>
            <a:ahLst/>
            <a:cxnLst/>
            <a:rect l="l" t="t" r="r" b="b"/>
            <a:pathLst>
              <a:path w="3142999" h="1540819">
                <a:moveTo>
                  <a:pt x="0" y="0"/>
                </a:moveTo>
                <a:lnTo>
                  <a:pt x="3142999" y="0"/>
                </a:lnTo>
                <a:lnTo>
                  <a:pt x="3142999" y="1540819"/>
                </a:lnTo>
                <a:lnTo>
                  <a:pt x="0" y="154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984209" y="608559"/>
            <a:ext cx="1955437" cy="1960961"/>
          </a:xfrm>
          <a:custGeom>
            <a:avLst/>
            <a:gdLst/>
            <a:ahLst/>
            <a:cxnLst/>
            <a:rect l="l" t="t" r="r" b="b"/>
            <a:pathLst>
              <a:path w="1955437" h="1960961">
                <a:moveTo>
                  <a:pt x="0" y="0"/>
                </a:moveTo>
                <a:lnTo>
                  <a:pt x="1955437" y="0"/>
                </a:lnTo>
                <a:lnTo>
                  <a:pt x="1955437" y="1960960"/>
                </a:lnTo>
                <a:lnTo>
                  <a:pt x="0" y="1960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209717" y="6847329"/>
            <a:ext cx="3115463" cy="1557731"/>
          </a:xfrm>
          <a:custGeom>
            <a:avLst/>
            <a:gdLst/>
            <a:ahLst/>
            <a:cxnLst/>
            <a:rect l="l" t="t" r="r" b="b"/>
            <a:pathLst>
              <a:path w="3115463" h="1557731">
                <a:moveTo>
                  <a:pt x="0" y="0"/>
                </a:moveTo>
                <a:lnTo>
                  <a:pt x="3115463" y="0"/>
                </a:lnTo>
                <a:lnTo>
                  <a:pt x="3115463" y="1557731"/>
                </a:lnTo>
                <a:lnTo>
                  <a:pt x="0" y="1557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42439" y="4452768"/>
            <a:ext cx="2629012" cy="1381465"/>
          </a:xfrm>
          <a:custGeom>
            <a:avLst/>
            <a:gdLst/>
            <a:ahLst/>
            <a:cxnLst/>
            <a:rect l="l" t="t" r="r" b="b"/>
            <a:pathLst>
              <a:path w="2629012" h="1381465">
                <a:moveTo>
                  <a:pt x="0" y="0"/>
                </a:moveTo>
                <a:lnTo>
                  <a:pt x="2629012" y="0"/>
                </a:lnTo>
                <a:lnTo>
                  <a:pt x="2629012" y="1381464"/>
                </a:lnTo>
                <a:lnTo>
                  <a:pt x="0" y="138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692955" y="7437231"/>
            <a:ext cx="1736559" cy="1736559"/>
          </a:xfrm>
          <a:custGeom>
            <a:avLst/>
            <a:gdLst/>
            <a:ahLst/>
            <a:cxnLst/>
            <a:rect l="l" t="t" r="r" b="b"/>
            <a:pathLst>
              <a:path w="1736559" h="1736559">
                <a:moveTo>
                  <a:pt x="0" y="0"/>
                </a:moveTo>
                <a:lnTo>
                  <a:pt x="1736559" y="0"/>
                </a:lnTo>
                <a:lnTo>
                  <a:pt x="1736559" y="1736559"/>
                </a:lnTo>
                <a:lnTo>
                  <a:pt x="0" y="1736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851789" y="5834232"/>
            <a:ext cx="1950201" cy="1950201"/>
          </a:xfrm>
          <a:custGeom>
            <a:avLst/>
            <a:gdLst/>
            <a:ahLst/>
            <a:cxnLst/>
            <a:rect l="l" t="t" r="r" b="b"/>
            <a:pathLst>
              <a:path w="1950201" h="1950201">
                <a:moveTo>
                  <a:pt x="0" y="0"/>
                </a:moveTo>
                <a:lnTo>
                  <a:pt x="1950200" y="0"/>
                </a:lnTo>
                <a:lnTo>
                  <a:pt x="1950200" y="1950201"/>
                </a:lnTo>
                <a:lnTo>
                  <a:pt x="0" y="19502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674938" y="4169995"/>
            <a:ext cx="3001639" cy="973505"/>
          </a:xfrm>
          <a:custGeom>
            <a:avLst/>
            <a:gdLst/>
            <a:ahLst/>
            <a:cxnLst/>
            <a:rect l="l" t="t" r="r" b="b"/>
            <a:pathLst>
              <a:path w="3001639" h="973505">
                <a:moveTo>
                  <a:pt x="0" y="0"/>
                </a:moveTo>
                <a:lnTo>
                  <a:pt x="3001640" y="0"/>
                </a:lnTo>
                <a:lnTo>
                  <a:pt x="3001640" y="973505"/>
                </a:lnTo>
                <a:lnTo>
                  <a:pt x="0" y="9735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334514" y="7716277"/>
            <a:ext cx="2262629" cy="1187032"/>
          </a:xfrm>
          <a:custGeom>
            <a:avLst/>
            <a:gdLst/>
            <a:ahLst/>
            <a:cxnLst/>
            <a:rect l="l" t="t" r="r" b="b"/>
            <a:pathLst>
              <a:path w="2262629" h="1187032">
                <a:moveTo>
                  <a:pt x="0" y="0"/>
                </a:moveTo>
                <a:lnTo>
                  <a:pt x="2262629" y="0"/>
                </a:lnTo>
                <a:lnTo>
                  <a:pt x="2262629" y="1187032"/>
                </a:lnTo>
                <a:lnTo>
                  <a:pt x="0" y="11870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57351" y="771607"/>
            <a:ext cx="3599187" cy="2297539"/>
          </a:xfrm>
          <a:custGeom>
            <a:avLst/>
            <a:gdLst/>
            <a:ahLst/>
            <a:cxnLst/>
            <a:rect l="l" t="t" r="r" b="b"/>
            <a:pathLst>
              <a:path w="3599187" h="2297539">
                <a:moveTo>
                  <a:pt x="0" y="0"/>
                </a:moveTo>
                <a:lnTo>
                  <a:pt x="3599187" y="0"/>
                </a:lnTo>
                <a:lnTo>
                  <a:pt x="3599187" y="2297539"/>
                </a:lnTo>
                <a:lnTo>
                  <a:pt x="0" y="2297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723480" y="7437231"/>
            <a:ext cx="2066930" cy="1466079"/>
          </a:xfrm>
          <a:custGeom>
            <a:avLst/>
            <a:gdLst/>
            <a:ahLst/>
            <a:cxnLst/>
            <a:rect l="l" t="t" r="r" b="b"/>
            <a:pathLst>
              <a:path w="2066930" h="1466079">
                <a:moveTo>
                  <a:pt x="0" y="0"/>
                </a:moveTo>
                <a:lnTo>
                  <a:pt x="2066930" y="0"/>
                </a:lnTo>
                <a:lnTo>
                  <a:pt x="2066930" y="1466078"/>
                </a:lnTo>
                <a:lnTo>
                  <a:pt x="0" y="14660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954689" y="771607"/>
            <a:ext cx="2847301" cy="2612053"/>
          </a:xfrm>
          <a:custGeom>
            <a:avLst/>
            <a:gdLst/>
            <a:ahLst/>
            <a:cxnLst/>
            <a:rect l="l" t="t" r="r" b="b"/>
            <a:pathLst>
              <a:path w="2847301" h="2612053">
                <a:moveTo>
                  <a:pt x="0" y="0"/>
                </a:moveTo>
                <a:lnTo>
                  <a:pt x="2847300" y="0"/>
                </a:lnTo>
                <a:lnTo>
                  <a:pt x="2847300" y="2612053"/>
                </a:lnTo>
                <a:lnTo>
                  <a:pt x="0" y="26120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381915" y="3069146"/>
            <a:ext cx="1768903" cy="1768903"/>
          </a:xfrm>
          <a:custGeom>
            <a:avLst/>
            <a:gdLst/>
            <a:ahLst/>
            <a:cxnLst/>
            <a:rect l="l" t="t" r="r" b="b"/>
            <a:pathLst>
              <a:path w="1768903" h="1768903">
                <a:moveTo>
                  <a:pt x="0" y="0"/>
                </a:moveTo>
                <a:lnTo>
                  <a:pt x="1768903" y="0"/>
                </a:lnTo>
                <a:lnTo>
                  <a:pt x="1768903" y="1768903"/>
                </a:lnTo>
                <a:lnTo>
                  <a:pt x="0" y="17689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978941" y="3778224"/>
            <a:ext cx="8788507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TOOLS &amp; TECHNOLOGIES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5400000">
            <a:off x="-1911547" y="4557020"/>
            <a:ext cx="8612265" cy="1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23435" y="944880"/>
            <a:ext cx="10873943" cy="835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[1] A. AGRAWAL, S. CHAKRABORTY, AND K. GHOSH, "ANALYZING BEHAVIORAL CUES IN VIDEO INTERVIEWS FOR CANDIDATE ASSESSMENT," ARXIV PREPRINT ARXIV:2006.07909, 2020. HTTPS://ARXIV.ORG/ABS/2006.07909.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[2] B. NIEMITZ AND A. WIHLER, "THE (NULL) EFFECTS OF VIDEO QUESTIONS ON APPLICANT REACTIONS IN ASYNCHRONOUS VIDEO INTERVIEWS: EVIDENCE FROM AN ACTUAL HIRING CONTEXT," INTERNATIONAL JOURNAL OF SELECTION AND ASSESSMENT, VOL. 32, NO. 1, PP. 1–15, 2024.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HTTPS://ONLINELIBRARY.WILEY.COM.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[3] M. ABDULLAH, K. ALISSA, AND O. ALZOUBI, "NEW USER ENGAGEMENT PREDICTION USING MACHINE LEARNING ALGORITHMS," 2023 14TH INTERNATIONAL CONFERENCE ON INFORMATION AND COMMUNICATION SYSTEMS (ICICS), IRBID, JORDAN, NOV. 21–23, 2023, PP. 1–6. HTTPS://DOI.ORG/10.1109/ICICS60529.2023.10330488.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[4] R. T. KHAN, M. S. RIZVI, AND S. A. SINGH, "PREDICTIVE ANALYTICS FOR JOB CANDIDATE ASSESSMENT: DEVELOPING A HOLISTIC SCORING MODEL," INTERNATIONAL JOURNAL OF HUMAN-COMPUTER INTERACTION, VOL. 38, NO. 5, PP. 112–125, 2022.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HTTPS://DOI.ORG/10.1080/10447318.2021.1980763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067945" y="9432607"/>
            <a:ext cx="841890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IT21838620 | S.U.D.A GUNASEKARA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02888" y="341580"/>
            <a:ext cx="3181987" cy="4009303"/>
          </a:xfrm>
          <a:custGeom>
            <a:avLst/>
            <a:gdLst/>
            <a:ahLst/>
            <a:cxnLst/>
            <a:rect l="l" t="t" r="r" b="b"/>
            <a:pathLst>
              <a:path w="3181987" h="4009303">
                <a:moveTo>
                  <a:pt x="0" y="0"/>
                </a:moveTo>
                <a:lnTo>
                  <a:pt x="3181987" y="0"/>
                </a:lnTo>
                <a:lnTo>
                  <a:pt x="3181987" y="4009303"/>
                </a:lnTo>
                <a:lnTo>
                  <a:pt x="0" y="400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338578" y="1491710"/>
            <a:ext cx="9610844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IT21819810 | B.D.A.M KUMARA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4695649"/>
            <a:ext cx="18288000" cy="182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COMPONENT 04: Predict hand gestures in real time, measuring their impact on presentation quality and engagement levels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0057" y="6870484"/>
            <a:ext cx="14507885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BACHELOR OF SCIENCE (HONS) IN INFORMATION TECHNOLOGY 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SPECIALIZING IN INFORMATION TECHNOLOGY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5400000">
            <a:off x="-932672" y="4617294"/>
            <a:ext cx="6842975" cy="127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sz="96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87906" y="1757680"/>
            <a:ext cx="13371394" cy="736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4"/>
              </a:lnSpc>
            </a:pPr>
            <a:r>
              <a:rPr lang="en-US" sz="35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WHY ARE SOFT SKILLS, ESPECIALLY NON-VERBAL COMMUNICATION, CRITICAL DURING INTERVIEWS?</a:t>
            </a:r>
          </a:p>
          <a:p>
            <a:pPr algn="ctr">
              <a:lnSpc>
                <a:spcPts val="4944"/>
              </a:lnSpc>
            </a:pPr>
            <a:endParaRPr lang="en-US" sz="3532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944"/>
              </a:lnSpc>
            </a:pPr>
            <a:r>
              <a:rPr lang="en-US" sz="35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DO HAND GESTURES INFLUENCE A CANDIDATE’S PERCEIVED CONFIDENCE AND ENGAGEMENT?</a:t>
            </a:r>
          </a:p>
          <a:p>
            <a:pPr algn="ctr">
              <a:lnSpc>
                <a:spcPts val="4944"/>
              </a:lnSpc>
            </a:pPr>
            <a:endParaRPr lang="en-US" sz="3532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944"/>
              </a:lnSpc>
              <a:spcBef>
                <a:spcPct val="0"/>
              </a:spcBef>
            </a:pPr>
            <a:r>
              <a:rPr lang="en-US" sz="35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WHAT ARE THE LIMITATIONS OF CURRENT INTERVIEW ASSESSMENT METHODS?</a:t>
            </a:r>
          </a:p>
          <a:p>
            <a:pPr algn="ctr">
              <a:lnSpc>
                <a:spcPts val="4944"/>
              </a:lnSpc>
              <a:spcBef>
                <a:spcPct val="0"/>
              </a:spcBef>
            </a:pPr>
            <a:endParaRPr lang="en-US" sz="3532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944"/>
              </a:lnSpc>
              <a:spcBef>
                <a:spcPct val="0"/>
              </a:spcBef>
            </a:pPr>
            <a:r>
              <a:rPr lang="en-US" sz="3532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CAN AI BE USED TO BRING OBJECTIVITY AND STRUCTURE INTO SOFT SKILL EVALUATIONS?</a:t>
            </a:r>
          </a:p>
          <a:p>
            <a:pPr algn="ctr">
              <a:lnSpc>
                <a:spcPts val="3846"/>
              </a:lnSpc>
              <a:spcBef>
                <a:spcPct val="0"/>
              </a:spcBef>
            </a:pPr>
            <a:endParaRPr lang="en-US" sz="3532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26488"/>
            <a:ext cx="9096550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QUESTION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54770" y="2924254"/>
            <a:ext cx="9525095" cy="633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8"/>
              </a:lnSpc>
              <a:spcBef>
                <a:spcPct val="0"/>
              </a:spcBef>
            </a:pPr>
            <a:r>
              <a:rPr lang="en-US" sz="3427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DO HAND GESTURES INFLUENCE A CANDIDATE’S PRESENTATION QUALITY, CONFIDENCE AND ENGAGEMENT DURING AN INTERVIEW?</a:t>
            </a:r>
          </a:p>
          <a:p>
            <a:pPr algn="ctr">
              <a:lnSpc>
                <a:spcPts val="4798"/>
              </a:lnSpc>
              <a:spcBef>
                <a:spcPct val="0"/>
              </a:spcBef>
            </a:pPr>
            <a:endParaRPr lang="en-US" sz="3427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98"/>
              </a:lnSpc>
              <a:spcBef>
                <a:spcPct val="0"/>
              </a:spcBef>
            </a:pPr>
            <a:r>
              <a:rPr lang="en-US" sz="3427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HOW CAN AI TOOLS BE LEVERAGED FOR REAL-TIME HAND GESTURE CLASSIFICATION IN INTERVIEW ANALYSIS?</a:t>
            </a:r>
          </a:p>
          <a:p>
            <a:pPr algn="ctr">
              <a:lnSpc>
                <a:spcPts val="2980"/>
              </a:lnSpc>
              <a:spcBef>
                <a:spcPct val="0"/>
              </a:spcBef>
            </a:pPr>
            <a:endParaRPr lang="en-US" sz="3427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980"/>
              </a:lnSpc>
              <a:spcBef>
                <a:spcPct val="0"/>
              </a:spcBef>
            </a:pPr>
            <a:endParaRPr lang="en-US" sz="3427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980"/>
              </a:lnSpc>
              <a:spcBef>
                <a:spcPct val="0"/>
              </a:spcBef>
            </a:pPr>
            <a:endParaRPr lang="en-US" sz="3427">
              <a:solidFill>
                <a:srgbClr val="7AFFF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12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4" name="Freeform 4"/>
          <p:cNvSpPr/>
          <p:nvPr/>
        </p:nvSpPr>
        <p:spPr>
          <a:xfrm>
            <a:off x="2869776" y="5595593"/>
            <a:ext cx="2462256" cy="2680006"/>
          </a:xfrm>
          <a:custGeom>
            <a:avLst/>
            <a:gdLst/>
            <a:ahLst/>
            <a:cxnLst/>
            <a:rect l="l" t="t" r="r" b="b"/>
            <a:pathLst>
              <a:path w="2462256" h="2680006">
                <a:moveTo>
                  <a:pt x="0" y="0"/>
                </a:moveTo>
                <a:lnTo>
                  <a:pt x="2462256" y="0"/>
                </a:lnTo>
                <a:lnTo>
                  <a:pt x="2462256" y="2680006"/>
                </a:lnTo>
                <a:lnTo>
                  <a:pt x="0" y="2680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947680" y="482346"/>
          <a:ext cx="14043552" cy="8137335"/>
        </p:xfrm>
        <a:graphic>
          <a:graphicData uri="http://schemas.openxmlformats.org/drawingml/2006/table">
            <a:tbl>
              <a:tblPr/>
              <a:tblGrid>
                <a:gridCol w="5545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6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85352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[01]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[02]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[03]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RESEARCH [04]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PROPOSED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53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Real-time Hand Gesture Prediction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61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Measurement of Gesture Impact on Presentation Quality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461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Engagement Level Estimation Based on Gestures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461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Multimodal Data Integration (Video, Audio, Gestures)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4611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Integration with Presentation Feedback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2946739" y="6105694"/>
            <a:ext cx="877932" cy="877932"/>
          </a:xfrm>
          <a:custGeom>
            <a:avLst/>
            <a:gdLst/>
            <a:ahLst/>
            <a:cxnLst/>
            <a:rect l="l" t="t" r="r" b="b"/>
            <a:pathLst>
              <a:path w="877932" h="877932">
                <a:moveTo>
                  <a:pt x="0" y="0"/>
                </a:moveTo>
                <a:lnTo>
                  <a:pt x="877932" y="0"/>
                </a:lnTo>
                <a:lnTo>
                  <a:pt x="877932" y="877932"/>
                </a:lnTo>
                <a:lnTo>
                  <a:pt x="0" y="87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 rot="-5400000">
            <a:off x="-2327446" y="4062772"/>
            <a:ext cx="7880592" cy="1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RESEARCH GAP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215606" y="2851738"/>
            <a:ext cx="4800957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ADDRESSED BY THE RESEARCH PAPER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691916" y="3116473"/>
            <a:ext cx="533042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= NOT ADDRESSED BY THE RESEARCH PAPER</a:t>
            </a:r>
          </a:p>
        </p:txBody>
      </p:sp>
      <p:sp>
        <p:nvSpPr>
          <p:cNvPr id="7" name="Freeform 7"/>
          <p:cNvSpPr/>
          <p:nvPr/>
        </p:nvSpPr>
        <p:spPr>
          <a:xfrm>
            <a:off x="13393725" y="1998719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1"/>
                </a:lnTo>
                <a:lnTo>
                  <a:pt x="0" y="64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041120" y="1963475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768382" y="1957762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053356" y="1957762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006832" y="3129869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041120" y="4600160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143038" y="6070450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9" y="0"/>
                </a:lnTo>
                <a:lnTo>
                  <a:pt x="720469" y="720469"/>
                </a:lnTo>
                <a:lnTo>
                  <a:pt x="0" y="72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111607" y="7447189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768382" y="6105694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736950" y="7447189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491687" y="7447189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495643" y="6107391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3495643" y="4635403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395153" y="3094626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5053356" y="7376702"/>
            <a:ext cx="720468" cy="720468"/>
          </a:xfrm>
          <a:custGeom>
            <a:avLst/>
            <a:gdLst/>
            <a:ahLst/>
            <a:cxnLst/>
            <a:rect l="l" t="t" r="r" b="b"/>
            <a:pathLst>
              <a:path w="720468" h="720468">
                <a:moveTo>
                  <a:pt x="0" y="0"/>
                </a:moveTo>
                <a:lnTo>
                  <a:pt x="720468" y="0"/>
                </a:lnTo>
                <a:lnTo>
                  <a:pt x="720468" y="720468"/>
                </a:lnTo>
                <a:lnTo>
                  <a:pt x="0" y="72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768382" y="4670646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2"/>
                </a:lnTo>
                <a:lnTo>
                  <a:pt x="0" y="64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736950" y="3129869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2"/>
                </a:lnTo>
                <a:lnTo>
                  <a:pt x="0" y="64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5123843" y="6142635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1"/>
                </a:lnTo>
                <a:lnTo>
                  <a:pt x="0" y="64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5123843" y="4635403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2"/>
                </a:lnTo>
                <a:lnTo>
                  <a:pt x="0" y="64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5123843" y="3129869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2"/>
                </a:lnTo>
                <a:lnTo>
                  <a:pt x="0" y="64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6871767" y="7447189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2" y="0"/>
                </a:lnTo>
                <a:lnTo>
                  <a:pt x="649982" y="649981"/>
                </a:lnTo>
                <a:lnTo>
                  <a:pt x="0" y="64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6871767" y="6105694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2" y="0"/>
                </a:lnTo>
                <a:lnTo>
                  <a:pt x="649982" y="649981"/>
                </a:lnTo>
                <a:lnTo>
                  <a:pt x="0" y="64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6838343" y="4739393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1" y="0"/>
                </a:lnTo>
                <a:lnTo>
                  <a:pt x="649981" y="649982"/>
                </a:lnTo>
                <a:lnTo>
                  <a:pt x="0" y="64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6871767" y="3173468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2" y="0"/>
                </a:lnTo>
                <a:lnTo>
                  <a:pt x="649982" y="649981"/>
                </a:lnTo>
                <a:lnTo>
                  <a:pt x="0" y="64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6871767" y="2038339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2" y="0"/>
                </a:lnTo>
                <a:lnTo>
                  <a:pt x="649982" y="649981"/>
                </a:lnTo>
                <a:lnTo>
                  <a:pt x="0" y="649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2319669" y="5664341"/>
            <a:ext cx="649982" cy="649982"/>
          </a:xfrm>
          <a:custGeom>
            <a:avLst/>
            <a:gdLst/>
            <a:ahLst/>
            <a:cxnLst/>
            <a:rect l="l" t="t" r="r" b="b"/>
            <a:pathLst>
              <a:path w="649982" h="649982">
                <a:moveTo>
                  <a:pt x="0" y="0"/>
                </a:moveTo>
                <a:lnTo>
                  <a:pt x="649982" y="0"/>
                </a:lnTo>
                <a:lnTo>
                  <a:pt x="649982" y="649982"/>
                </a:lnTo>
                <a:lnTo>
                  <a:pt x="0" y="64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81329" y="1843088"/>
          <a:ext cx="16925342" cy="6600825"/>
        </p:xfrm>
        <a:graphic>
          <a:graphicData uri="http://schemas.openxmlformats.org/drawingml/2006/table">
            <a:tbl>
              <a:tblPr/>
              <a:tblGrid>
                <a:gridCol w="8588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092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Main objective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Norwester"/>
                          <a:ea typeface="Norwester"/>
                          <a:cs typeface="Norwester"/>
                          <a:sym typeface="Norwester"/>
                        </a:rPr>
                        <a:t>Specific 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F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733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Develop an AI-based hand gesture analysis framework to evaluate soft skills during interviews. By utilizing computer vision and machine learning, the system aims to provide an objective, real-time and automated evaluation of candidates’ non-verbal communication skills, reducing human bias in hiring decisions.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Hand Gesture Analysis for Soft Skill Assessment</a:t>
                      </a:r>
                      <a:endParaRPr lang="en-US" sz="1100"/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Predicting Engagement and Communication Skills with AI</a:t>
                      </a:r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 AI-Based Presentation Skill Evaluation</a:t>
                      </a:r>
                    </a:p>
                    <a:p>
                      <a:pPr marL="690881" lvl="1" indent="-345440" algn="l">
                        <a:lnSpc>
                          <a:spcPts val="4480"/>
                        </a:lnSpc>
                        <a:buFont typeface="Arial"/>
                        <a:buChar char="•"/>
                      </a:pPr>
                      <a:r>
                        <a:rPr lang="en-US" sz="3200">
                          <a:solidFill>
                            <a:srgbClr val="7AFFF5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 a Gesture-Based Scoring System for Candidate Evaluation</a:t>
                      </a:r>
                    </a:p>
                    <a:p>
                      <a:pPr algn="l">
                        <a:lnSpc>
                          <a:spcPts val="4480"/>
                        </a:lnSpc>
                      </a:pPr>
                      <a:endParaRPr lang="en-US" sz="3200">
                        <a:solidFill>
                          <a:srgbClr val="7AFFF5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949103" y="447103"/>
            <a:ext cx="9096550" cy="1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04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OBJECTIVES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77934" y="2389253"/>
            <a:ext cx="9158730" cy="6869047"/>
          </a:xfrm>
          <a:custGeom>
            <a:avLst/>
            <a:gdLst/>
            <a:ahLst/>
            <a:cxnLst/>
            <a:rect l="l" t="t" r="r" b="b"/>
            <a:pathLst>
              <a:path w="9158730" h="6869047">
                <a:moveTo>
                  <a:pt x="0" y="0"/>
                </a:moveTo>
                <a:lnTo>
                  <a:pt x="9158730" y="0"/>
                </a:lnTo>
                <a:lnTo>
                  <a:pt x="9158730" y="6869047"/>
                </a:lnTo>
                <a:lnTo>
                  <a:pt x="0" y="686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63983"/>
            <a:ext cx="16941090" cy="120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9"/>
              </a:lnSpc>
            </a:pPr>
            <a:r>
              <a:rPr lang="en-US" sz="9100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SYSTEM DIAGRAM &amp; 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29114" y="5507546"/>
            <a:ext cx="3759809" cy="3759809"/>
          </a:xfrm>
          <a:custGeom>
            <a:avLst/>
            <a:gdLst/>
            <a:ahLst/>
            <a:cxnLst/>
            <a:rect l="l" t="t" r="r" b="b"/>
            <a:pathLst>
              <a:path w="3759809" h="3759809">
                <a:moveTo>
                  <a:pt x="0" y="0"/>
                </a:moveTo>
                <a:lnTo>
                  <a:pt x="3759809" y="0"/>
                </a:lnTo>
                <a:lnTo>
                  <a:pt x="3759809" y="3759809"/>
                </a:lnTo>
                <a:lnTo>
                  <a:pt x="0" y="375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0" y="879987"/>
            <a:ext cx="8981429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8754" y="1212256"/>
            <a:ext cx="8635246" cy="543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45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FUNCTIONAL REQUIREMENTS: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HAND GESTURE TRACKING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GESTURE CLASSIFICATION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REAL-TIME GESTURE ANALYSIS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SCORING SYSTEM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MACHINE LEARNING INTEGRATION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REAL-TIME FEEDBACK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77231" y="3103664"/>
            <a:ext cx="7510769" cy="543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45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NON-FUNCTIONAL REQUIREMENTS</a:t>
            </a:r>
            <a:r>
              <a:rPr lang="en-US" sz="450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PERFORMANCE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SCALABILITY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SECURITY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USABILITY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RELIABILITY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7AFFF5"/>
                </a:solidFill>
                <a:latin typeface="Canva Sans"/>
                <a:ea typeface="Canva Sans"/>
                <a:cs typeface="Canva Sans"/>
                <a:sym typeface="Canva Sans"/>
              </a:rPr>
              <a:t>COMPATIBILITY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984135" y="3166265"/>
            <a:ext cx="1982215" cy="1848597"/>
          </a:xfrm>
          <a:custGeom>
            <a:avLst/>
            <a:gdLst/>
            <a:ahLst/>
            <a:cxnLst/>
            <a:rect l="l" t="t" r="r" b="b"/>
            <a:pathLst>
              <a:path w="1982215" h="1848597">
                <a:moveTo>
                  <a:pt x="0" y="0"/>
                </a:moveTo>
                <a:lnTo>
                  <a:pt x="1982216" y="0"/>
                </a:lnTo>
                <a:lnTo>
                  <a:pt x="1982216" y="1848597"/>
                </a:lnTo>
                <a:lnTo>
                  <a:pt x="0" y="1848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8" t="-5667" r="-1258" b="-4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12219" y="3166265"/>
            <a:ext cx="1953372" cy="1953372"/>
          </a:xfrm>
          <a:custGeom>
            <a:avLst/>
            <a:gdLst/>
            <a:ahLst/>
            <a:cxnLst/>
            <a:rect l="l" t="t" r="r" b="b"/>
            <a:pathLst>
              <a:path w="1953372" h="1953372">
                <a:moveTo>
                  <a:pt x="0" y="0"/>
                </a:moveTo>
                <a:lnTo>
                  <a:pt x="1953372" y="0"/>
                </a:lnTo>
                <a:lnTo>
                  <a:pt x="1953372" y="1953372"/>
                </a:lnTo>
                <a:lnTo>
                  <a:pt x="0" y="1953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689383" y="3180639"/>
            <a:ext cx="1970960" cy="1834223"/>
          </a:xfrm>
          <a:custGeom>
            <a:avLst/>
            <a:gdLst/>
            <a:ahLst/>
            <a:cxnLst/>
            <a:rect l="l" t="t" r="r" b="b"/>
            <a:pathLst>
              <a:path w="1970960" h="1834223">
                <a:moveTo>
                  <a:pt x="0" y="0"/>
                </a:moveTo>
                <a:lnTo>
                  <a:pt x="1970960" y="0"/>
                </a:lnTo>
                <a:lnTo>
                  <a:pt x="1970960" y="1834223"/>
                </a:lnTo>
                <a:lnTo>
                  <a:pt x="0" y="1834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74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270165" y="3180639"/>
            <a:ext cx="2047798" cy="1834223"/>
          </a:xfrm>
          <a:custGeom>
            <a:avLst/>
            <a:gdLst/>
            <a:ahLst/>
            <a:cxnLst/>
            <a:rect l="l" t="t" r="r" b="b"/>
            <a:pathLst>
              <a:path w="2047798" h="1834223">
                <a:moveTo>
                  <a:pt x="0" y="0"/>
                </a:moveTo>
                <a:lnTo>
                  <a:pt x="2047799" y="0"/>
                </a:lnTo>
                <a:lnTo>
                  <a:pt x="2047799" y="1834223"/>
                </a:lnTo>
                <a:lnTo>
                  <a:pt x="0" y="1834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0783" r="-8888" b="-107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683755" y="5478591"/>
            <a:ext cx="1982215" cy="1982215"/>
          </a:xfrm>
          <a:custGeom>
            <a:avLst/>
            <a:gdLst/>
            <a:ahLst/>
            <a:cxnLst/>
            <a:rect l="l" t="t" r="r" b="b"/>
            <a:pathLst>
              <a:path w="1982215" h="1982215">
                <a:moveTo>
                  <a:pt x="0" y="0"/>
                </a:moveTo>
                <a:lnTo>
                  <a:pt x="1982216" y="0"/>
                </a:lnTo>
                <a:lnTo>
                  <a:pt x="1982216" y="1982215"/>
                </a:lnTo>
                <a:lnTo>
                  <a:pt x="0" y="1982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018566" y="5508872"/>
            <a:ext cx="1913353" cy="1913353"/>
          </a:xfrm>
          <a:custGeom>
            <a:avLst/>
            <a:gdLst/>
            <a:ahLst/>
            <a:cxnLst/>
            <a:rect l="l" t="t" r="r" b="b"/>
            <a:pathLst>
              <a:path w="1913353" h="1913353">
                <a:moveTo>
                  <a:pt x="0" y="0"/>
                </a:moveTo>
                <a:lnTo>
                  <a:pt x="1913354" y="0"/>
                </a:lnTo>
                <a:lnTo>
                  <a:pt x="1913354" y="1913354"/>
                </a:lnTo>
                <a:lnTo>
                  <a:pt x="0" y="19133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270165" y="5508872"/>
            <a:ext cx="2047798" cy="1913353"/>
          </a:xfrm>
          <a:custGeom>
            <a:avLst/>
            <a:gdLst/>
            <a:ahLst/>
            <a:cxnLst/>
            <a:rect l="l" t="t" r="r" b="b"/>
            <a:pathLst>
              <a:path w="2047798" h="1913353">
                <a:moveTo>
                  <a:pt x="0" y="0"/>
                </a:moveTo>
                <a:lnTo>
                  <a:pt x="2047799" y="0"/>
                </a:lnTo>
                <a:lnTo>
                  <a:pt x="2047799" y="1913354"/>
                </a:lnTo>
                <a:lnTo>
                  <a:pt x="0" y="19133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513" b="-35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595619" y="5508872"/>
            <a:ext cx="2000943" cy="1890843"/>
          </a:xfrm>
          <a:custGeom>
            <a:avLst/>
            <a:gdLst/>
            <a:ahLst/>
            <a:cxnLst/>
            <a:rect l="l" t="t" r="r" b="b"/>
            <a:pathLst>
              <a:path w="2000943" h="1890843">
                <a:moveTo>
                  <a:pt x="0" y="0"/>
                </a:moveTo>
                <a:lnTo>
                  <a:pt x="2000943" y="0"/>
                </a:lnTo>
                <a:lnTo>
                  <a:pt x="2000943" y="1890844"/>
                </a:lnTo>
                <a:lnTo>
                  <a:pt x="0" y="18908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58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939462" y="5508872"/>
            <a:ext cx="1982215" cy="1847770"/>
          </a:xfrm>
          <a:custGeom>
            <a:avLst/>
            <a:gdLst/>
            <a:ahLst/>
            <a:cxnLst/>
            <a:rect l="l" t="t" r="r" b="b"/>
            <a:pathLst>
              <a:path w="1982215" h="1847770">
                <a:moveTo>
                  <a:pt x="0" y="0"/>
                </a:moveTo>
                <a:lnTo>
                  <a:pt x="1982215" y="0"/>
                </a:lnTo>
                <a:lnTo>
                  <a:pt x="1982215" y="1847771"/>
                </a:lnTo>
                <a:lnTo>
                  <a:pt x="0" y="18477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72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93648" y="5470292"/>
            <a:ext cx="1990513" cy="1990513"/>
          </a:xfrm>
          <a:custGeom>
            <a:avLst/>
            <a:gdLst/>
            <a:ahLst/>
            <a:cxnLst/>
            <a:rect l="l" t="t" r="r" b="b"/>
            <a:pathLst>
              <a:path w="1990513" h="1990513">
                <a:moveTo>
                  <a:pt x="0" y="0"/>
                </a:moveTo>
                <a:lnTo>
                  <a:pt x="1990513" y="0"/>
                </a:lnTo>
                <a:lnTo>
                  <a:pt x="1990513" y="1990514"/>
                </a:lnTo>
                <a:lnTo>
                  <a:pt x="0" y="1990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641814" y="3180639"/>
            <a:ext cx="1954748" cy="1834223"/>
          </a:xfrm>
          <a:custGeom>
            <a:avLst/>
            <a:gdLst/>
            <a:ahLst/>
            <a:cxnLst/>
            <a:rect l="l" t="t" r="r" b="b"/>
            <a:pathLst>
              <a:path w="1954748" h="1834223">
                <a:moveTo>
                  <a:pt x="0" y="0"/>
                </a:moveTo>
                <a:lnTo>
                  <a:pt x="1954748" y="0"/>
                </a:lnTo>
                <a:lnTo>
                  <a:pt x="1954748" y="1834223"/>
                </a:lnTo>
                <a:lnTo>
                  <a:pt x="0" y="18342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65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939462" y="3166265"/>
            <a:ext cx="1982215" cy="1848597"/>
          </a:xfrm>
          <a:custGeom>
            <a:avLst/>
            <a:gdLst/>
            <a:ahLst/>
            <a:cxnLst/>
            <a:rect l="l" t="t" r="r" b="b"/>
            <a:pathLst>
              <a:path w="1982215" h="1848597">
                <a:moveTo>
                  <a:pt x="0" y="0"/>
                </a:moveTo>
                <a:lnTo>
                  <a:pt x="1982215" y="0"/>
                </a:lnTo>
                <a:lnTo>
                  <a:pt x="1982215" y="1848597"/>
                </a:lnTo>
                <a:lnTo>
                  <a:pt x="0" y="18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2941" r="-53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349975" y="3166265"/>
            <a:ext cx="1905198" cy="1848597"/>
          </a:xfrm>
          <a:custGeom>
            <a:avLst/>
            <a:gdLst/>
            <a:ahLst/>
            <a:cxnLst/>
            <a:rect l="l" t="t" r="r" b="b"/>
            <a:pathLst>
              <a:path w="1905198" h="1848597">
                <a:moveTo>
                  <a:pt x="0" y="0"/>
                </a:moveTo>
                <a:lnTo>
                  <a:pt x="1905198" y="0"/>
                </a:lnTo>
                <a:lnTo>
                  <a:pt x="1905198" y="1848597"/>
                </a:lnTo>
                <a:lnTo>
                  <a:pt x="0" y="18485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9724" r="-64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85869" y="353532"/>
            <a:ext cx="9096550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DATA SETS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69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2209955"/>
            <a:ext cx="524900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POSITIVE HAND MOMENTS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45105" y="4093314"/>
            <a:ext cx="1761505" cy="1761505"/>
          </a:xfrm>
          <a:custGeom>
            <a:avLst/>
            <a:gdLst/>
            <a:ahLst/>
            <a:cxnLst/>
            <a:rect l="l" t="t" r="r" b="b"/>
            <a:pathLst>
              <a:path w="1761505" h="1761505">
                <a:moveTo>
                  <a:pt x="0" y="0"/>
                </a:moveTo>
                <a:lnTo>
                  <a:pt x="1761505" y="0"/>
                </a:lnTo>
                <a:lnTo>
                  <a:pt x="1761505" y="1761505"/>
                </a:lnTo>
                <a:lnTo>
                  <a:pt x="0" y="1761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3030684" y="4093315"/>
            <a:ext cx="1802561" cy="1761505"/>
          </a:xfrm>
          <a:custGeom>
            <a:avLst/>
            <a:gdLst/>
            <a:ahLst/>
            <a:cxnLst/>
            <a:rect l="l" t="t" r="r" b="b"/>
            <a:pathLst>
              <a:path w="1802561" h="1761505">
                <a:moveTo>
                  <a:pt x="0" y="0"/>
                </a:moveTo>
                <a:lnTo>
                  <a:pt x="1802561" y="0"/>
                </a:lnTo>
                <a:lnTo>
                  <a:pt x="1802561" y="1761505"/>
                </a:lnTo>
                <a:lnTo>
                  <a:pt x="0" y="1761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38800" y="4116075"/>
            <a:ext cx="1761505" cy="1761505"/>
          </a:xfrm>
          <a:custGeom>
            <a:avLst/>
            <a:gdLst/>
            <a:ahLst/>
            <a:cxnLst/>
            <a:rect l="l" t="t" r="r" b="b"/>
            <a:pathLst>
              <a:path w="1761505" h="1761505">
                <a:moveTo>
                  <a:pt x="0" y="0"/>
                </a:moveTo>
                <a:lnTo>
                  <a:pt x="1761505" y="0"/>
                </a:lnTo>
                <a:lnTo>
                  <a:pt x="1761505" y="1761505"/>
                </a:lnTo>
                <a:lnTo>
                  <a:pt x="0" y="1761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2506" y="2232473"/>
            <a:ext cx="464022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NEGATIVE HAND MOMENTS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869" y="353532"/>
            <a:ext cx="9096550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DATA SETS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63726" y="2782457"/>
            <a:ext cx="7987721" cy="5805223"/>
          </a:xfrm>
          <a:custGeom>
            <a:avLst/>
            <a:gdLst/>
            <a:ahLst/>
            <a:cxnLst/>
            <a:rect l="l" t="t" r="r" b="b"/>
            <a:pathLst>
              <a:path w="7987721" h="5805223">
                <a:moveTo>
                  <a:pt x="0" y="0"/>
                </a:moveTo>
                <a:lnTo>
                  <a:pt x="7987721" y="0"/>
                </a:lnTo>
                <a:lnTo>
                  <a:pt x="7987721" y="5805223"/>
                </a:lnTo>
                <a:lnTo>
                  <a:pt x="0" y="5805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950884" y="2737138"/>
            <a:ext cx="8859442" cy="5895860"/>
          </a:xfrm>
          <a:custGeom>
            <a:avLst/>
            <a:gdLst/>
            <a:ahLst/>
            <a:cxnLst/>
            <a:rect l="l" t="t" r="r" b="b"/>
            <a:pathLst>
              <a:path w="8859442" h="5895860">
                <a:moveTo>
                  <a:pt x="0" y="0"/>
                </a:moveTo>
                <a:lnTo>
                  <a:pt x="8859442" y="0"/>
                </a:lnTo>
                <a:lnTo>
                  <a:pt x="8859442" y="5895860"/>
                </a:lnTo>
                <a:lnTo>
                  <a:pt x="0" y="5895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03600" y="363650"/>
            <a:ext cx="7307974" cy="105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882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79629" y="1271562"/>
            <a:ext cx="6653689" cy="73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Classifier</a:t>
            </a:r>
          </a:p>
        </p:txBody>
      </p:sp>
      <p:sp>
        <p:nvSpPr>
          <p:cNvPr id="9" name="Freeform 9"/>
          <p:cNvSpPr/>
          <p:nvPr/>
        </p:nvSpPr>
        <p:spPr>
          <a:xfrm>
            <a:off x="12235484" y="1305476"/>
            <a:ext cx="1104237" cy="1164136"/>
          </a:xfrm>
          <a:custGeom>
            <a:avLst/>
            <a:gdLst/>
            <a:ahLst/>
            <a:cxnLst/>
            <a:rect l="l" t="t" r="r" b="b"/>
            <a:pathLst>
              <a:path w="1104237" h="1164136">
                <a:moveTo>
                  <a:pt x="0" y="0"/>
                </a:moveTo>
                <a:lnTo>
                  <a:pt x="1104237" y="0"/>
                </a:lnTo>
                <a:lnTo>
                  <a:pt x="1104237" y="1164137"/>
                </a:lnTo>
                <a:lnTo>
                  <a:pt x="0" y="1164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602" t="-19396" r="-31602" b="-1939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03600" y="363650"/>
            <a:ext cx="7307974" cy="105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882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ACCURACY RATES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72</a:t>
            </a:r>
          </a:p>
        </p:txBody>
      </p:sp>
      <p:sp>
        <p:nvSpPr>
          <p:cNvPr id="6" name="Freeform 6"/>
          <p:cNvSpPr/>
          <p:nvPr/>
        </p:nvSpPr>
        <p:spPr>
          <a:xfrm>
            <a:off x="3681636" y="2001227"/>
            <a:ext cx="11815742" cy="7257073"/>
          </a:xfrm>
          <a:custGeom>
            <a:avLst/>
            <a:gdLst/>
            <a:ahLst/>
            <a:cxnLst/>
            <a:rect l="l" t="t" r="r" b="b"/>
            <a:pathLst>
              <a:path w="11815742" h="7257073">
                <a:moveTo>
                  <a:pt x="0" y="0"/>
                </a:moveTo>
                <a:lnTo>
                  <a:pt x="11815742" y="0"/>
                </a:lnTo>
                <a:lnTo>
                  <a:pt x="11815742" y="7257073"/>
                </a:lnTo>
                <a:lnTo>
                  <a:pt x="0" y="7257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617916" y="1262722"/>
            <a:ext cx="3052167" cy="73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CNN Model</a:t>
            </a:r>
          </a:p>
        </p:txBody>
      </p:sp>
      <p:sp>
        <p:nvSpPr>
          <p:cNvPr id="8" name="Freeform 8"/>
          <p:cNvSpPr/>
          <p:nvPr/>
        </p:nvSpPr>
        <p:spPr>
          <a:xfrm>
            <a:off x="15866283" y="418706"/>
            <a:ext cx="1393017" cy="1256131"/>
          </a:xfrm>
          <a:custGeom>
            <a:avLst/>
            <a:gdLst/>
            <a:ahLst/>
            <a:cxnLst/>
            <a:rect l="l" t="t" r="r" b="b"/>
            <a:pathLst>
              <a:path w="1393017" h="1256131">
                <a:moveTo>
                  <a:pt x="0" y="0"/>
                </a:moveTo>
                <a:lnTo>
                  <a:pt x="1393017" y="0"/>
                </a:lnTo>
                <a:lnTo>
                  <a:pt x="1393017" y="1256131"/>
                </a:lnTo>
                <a:lnTo>
                  <a:pt x="0" y="1256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9078" y="3254801"/>
            <a:ext cx="5061235" cy="2940771"/>
          </a:xfrm>
          <a:custGeom>
            <a:avLst/>
            <a:gdLst/>
            <a:ahLst/>
            <a:cxnLst/>
            <a:rect l="l" t="t" r="r" b="b"/>
            <a:pathLst>
              <a:path w="5061235" h="2940771">
                <a:moveTo>
                  <a:pt x="0" y="0"/>
                </a:moveTo>
                <a:lnTo>
                  <a:pt x="5061235" y="0"/>
                </a:lnTo>
                <a:lnTo>
                  <a:pt x="5061235" y="2940770"/>
                </a:lnTo>
                <a:lnTo>
                  <a:pt x="0" y="2940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03" t="-1481" b="-148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10277400" y="2331717"/>
            <a:ext cx="5691639" cy="3397463"/>
          </a:xfrm>
          <a:custGeom>
            <a:avLst/>
            <a:gdLst/>
            <a:ahLst/>
            <a:cxnLst/>
            <a:rect l="l" t="t" r="r" b="b"/>
            <a:pathLst>
              <a:path w="5691639" h="3397463">
                <a:moveTo>
                  <a:pt x="0" y="0"/>
                </a:moveTo>
                <a:lnTo>
                  <a:pt x="5691639" y="0"/>
                </a:lnTo>
                <a:lnTo>
                  <a:pt x="5691639" y="3397463"/>
                </a:lnTo>
                <a:lnTo>
                  <a:pt x="0" y="3397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77400" y="6210147"/>
            <a:ext cx="5633519" cy="3289136"/>
          </a:xfrm>
          <a:custGeom>
            <a:avLst/>
            <a:gdLst/>
            <a:ahLst/>
            <a:cxnLst/>
            <a:rect l="l" t="t" r="r" b="b"/>
            <a:pathLst>
              <a:path w="5633519" h="3289136">
                <a:moveTo>
                  <a:pt x="0" y="0"/>
                </a:moveTo>
                <a:lnTo>
                  <a:pt x="5633519" y="0"/>
                </a:lnTo>
                <a:lnTo>
                  <a:pt x="5633519" y="3289135"/>
                </a:lnTo>
                <a:lnTo>
                  <a:pt x="0" y="32891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600" y="363650"/>
            <a:ext cx="7307974" cy="105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882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9078" y="1635758"/>
            <a:ext cx="5657017" cy="69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Positive Hand Gesture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0993" y="722145"/>
            <a:ext cx="5886331" cy="69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Negative Hand Gesture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950926" y="2880163"/>
            <a:ext cx="15042009" cy="4194858"/>
          </a:xfrm>
          <a:custGeom>
            <a:avLst/>
            <a:gdLst/>
            <a:ahLst/>
            <a:cxnLst/>
            <a:rect l="l" t="t" r="r" b="b"/>
            <a:pathLst>
              <a:path w="15042009" h="4194858">
                <a:moveTo>
                  <a:pt x="0" y="0"/>
                </a:moveTo>
                <a:lnTo>
                  <a:pt x="15042009" y="0"/>
                </a:lnTo>
                <a:lnTo>
                  <a:pt x="15042009" y="4194858"/>
                </a:lnTo>
                <a:lnTo>
                  <a:pt x="0" y="4194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19" r="-31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4561" y="408670"/>
            <a:ext cx="15574739" cy="105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882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TO BE COMPLETED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154532" y="3147763"/>
            <a:ext cx="14634796" cy="3421121"/>
          </a:xfrm>
          <a:custGeom>
            <a:avLst/>
            <a:gdLst/>
            <a:ahLst/>
            <a:cxnLst/>
            <a:rect l="l" t="t" r="r" b="b"/>
            <a:pathLst>
              <a:path w="14634796" h="3421121">
                <a:moveTo>
                  <a:pt x="0" y="0"/>
                </a:moveTo>
                <a:lnTo>
                  <a:pt x="14634796" y="0"/>
                </a:lnTo>
                <a:lnTo>
                  <a:pt x="14634796" y="3421121"/>
                </a:lnTo>
                <a:lnTo>
                  <a:pt x="0" y="3421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84561" y="408670"/>
            <a:ext cx="15574739" cy="105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882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CURRENT PROGRESS- TO BE PENDING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074" y="3994730"/>
            <a:ext cx="3599187" cy="2297539"/>
          </a:xfrm>
          <a:custGeom>
            <a:avLst/>
            <a:gdLst/>
            <a:ahLst/>
            <a:cxnLst/>
            <a:rect l="l" t="t" r="r" b="b"/>
            <a:pathLst>
              <a:path w="3599187" h="2297539">
                <a:moveTo>
                  <a:pt x="0" y="0"/>
                </a:moveTo>
                <a:lnTo>
                  <a:pt x="3599187" y="0"/>
                </a:lnTo>
                <a:lnTo>
                  <a:pt x="3599187" y="2297540"/>
                </a:lnTo>
                <a:lnTo>
                  <a:pt x="0" y="2297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147048" y="4373090"/>
            <a:ext cx="3001639" cy="973505"/>
          </a:xfrm>
          <a:custGeom>
            <a:avLst/>
            <a:gdLst/>
            <a:ahLst/>
            <a:cxnLst/>
            <a:rect l="l" t="t" r="r" b="b"/>
            <a:pathLst>
              <a:path w="3001639" h="973505">
                <a:moveTo>
                  <a:pt x="0" y="0"/>
                </a:moveTo>
                <a:lnTo>
                  <a:pt x="3001640" y="0"/>
                </a:lnTo>
                <a:lnTo>
                  <a:pt x="3001640" y="973505"/>
                </a:lnTo>
                <a:lnTo>
                  <a:pt x="0" y="973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515356" y="6709420"/>
            <a:ext cx="1955437" cy="1960961"/>
          </a:xfrm>
          <a:custGeom>
            <a:avLst/>
            <a:gdLst/>
            <a:ahLst/>
            <a:cxnLst/>
            <a:rect l="l" t="t" r="r" b="b"/>
            <a:pathLst>
              <a:path w="1955437" h="1960961">
                <a:moveTo>
                  <a:pt x="0" y="0"/>
                </a:moveTo>
                <a:lnTo>
                  <a:pt x="1955437" y="0"/>
                </a:lnTo>
                <a:lnTo>
                  <a:pt x="1955437" y="1960960"/>
                </a:lnTo>
                <a:lnTo>
                  <a:pt x="0" y="1960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2710335"/>
            <a:ext cx="3142999" cy="1540819"/>
          </a:xfrm>
          <a:custGeom>
            <a:avLst/>
            <a:gdLst/>
            <a:ahLst/>
            <a:cxnLst/>
            <a:rect l="l" t="t" r="r" b="b"/>
            <a:pathLst>
              <a:path w="3142999" h="1540819">
                <a:moveTo>
                  <a:pt x="0" y="0"/>
                </a:moveTo>
                <a:lnTo>
                  <a:pt x="3142999" y="0"/>
                </a:lnTo>
                <a:lnTo>
                  <a:pt x="3142999" y="1540820"/>
                </a:lnTo>
                <a:lnTo>
                  <a:pt x="0" y="1540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380027" y="6123980"/>
            <a:ext cx="2040905" cy="2040905"/>
          </a:xfrm>
          <a:custGeom>
            <a:avLst/>
            <a:gdLst/>
            <a:ahLst/>
            <a:cxnLst/>
            <a:rect l="l" t="t" r="r" b="b"/>
            <a:pathLst>
              <a:path w="2040905" h="2040905">
                <a:moveTo>
                  <a:pt x="0" y="0"/>
                </a:moveTo>
                <a:lnTo>
                  <a:pt x="2040905" y="0"/>
                </a:lnTo>
                <a:lnTo>
                  <a:pt x="2040905" y="2040905"/>
                </a:lnTo>
                <a:lnTo>
                  <a:pt x="0" y="2040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920987" y="4373090"/>
            <a:ext cx="1558956" cy="1558956"/>
          </a:xfrm>
          <a:custGeom>
            <a:avLst/>
            <a:gdLst/>
            <a:ahLst/>
            <a:cxnLst/>
            <a:rect l="l" t="t" r="r" b="b"/>
            <a:pathLst>
              <a:path w="1558956" h="1558956">
                <a:moveTo>
                  <a:pt x="0" y="0"/>
                </a:moveTo>
                <a:lnTo>
                  <a:pt x="1558955" y="0"/>
                </a:lnTo>
                <a:lnTo>
                  <a:pt x="1558955" y="1558956"/>
                </a:lnTo>
                <a:lnTo>
                  <a:pt x="0" y="1558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920987" y="1360173"/>
            <a:ext cx="2120572" cy="2120572"/>
          </a:xfrm>
          <a:custGeom>
            <a:avLst/>
            <a:gdLst/>
            <a:ahLst/>
            <a:cxnLst/>
            <a:rect l="l" t="t" r="r" b="b"/>
            <a:pathLst>
              <a:path w="2120572" h="2120572">
                <a:moveTo>
                  <a:pt x="0" y="0"/>
                </a:moveTo>
                <a:lnTo>
                  <a:pt x="2120572" y="0"/>
                </a:lnTo>
                <a:lnTo>
                  <a:pt x="2120572" y="2120572"/>
                </a:lnTo>
                <a:lnTo>
                  <a:pt x="0" y="2120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021941" y="7928765"/>
            <a:ext cx="1874427" cy="1329535"/>
          </a:xfrm>
          <a:custGeom>
            <a:avLst/>
            <a:gdLst/>
            <a:ahLst/>
            <a:cxnLst/>
            <a:rect l="l" t="t" r="r" b="b"/>
            <a:pathLst>
              <a:path w="1874427" h="1329535">
                <a:moveTo>
                  <a:pt x="0" y="0"/>
                </a:moveTo>
                <a:lnTo>
                  <a:pt x="1874427" y="0"/>
                </a:lnTo>
                <a:lnTo>
                  <a:pt x="1874427" y="1329535"/>
                </a:lnTo>
                <a:lnTo>
                  <a:pt x="0" y="13295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88035" y="7471962"/>
            <a:ext cx="2034409" cy="1067302"/>
          </a:xfrm>
          <a:custGeom>
            <a:avLst/>
            <a:gdLst/>
            <a:ahLst/>
            <a:cxnLst/>
            <a:rect l="l" t="t" r="r" b="b"/>
            <a:pathLst>
              <a:path w="2034409" h="1067302">
                <a:moveTo>
                  <a:pt x="0" y="0"/>
                </a:moveTo>
                <a:lnTo>
                  <a:pt x="2034409" y="0"/>
                </a:lnTo>
                <a:lnTo>
                  <a:pt x="2034409" y="1067302"/>
                </a:lnTo>
                <a:lnTo>
                  <a:pt x="0" y="1067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148688" y="4931151"/>
            <a:ext cx="2385658" cy="2385658"/>
          </a:xfrm>
          <a:custGeom>
            <a:avLst/>
            <a:gdLst/>
            <a:ahLst/>
            <a:cxnLst/>
            <a:rect l="l" t="t" r="r" b="b"/>
            <a:pathLst>
              <a:path w="2385658" h="2385658">
                <a:moveTo>
                  <a:pt x="0" y="0"/>
                </a:moveTo>
                <a:lnTo>
                  <a:pt x="2385657" y="0"/>
                </a:lnTo>
                <a:lnTo>
                  <a:pt x="2385657" y="2385658"/>
                </a:lnTo>
                <a:lnTo>
                  <a:pt x="0" y="2385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470793" y="1000207"/>
            <a:ext cx="9212214" cy="306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TOOLS &amp; TECHNOLOGIES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5400000">
            <a:off x="-1985895" y="3565566"/>
            <a:ext cx="9096550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90961" y="516255"/>
            <a:ext cx="10725716" cy="858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[1] M. M. ROBLES, "EXECUTIVE PERCEPTIONS OF THE TOP 10 SOFT SKILLS NEEDED IN TODAY'S WORKPLACE," BUSINESS COMMUNICATION QUARTERLY, VOL. 75, NO. 4, PP. 453–465, DEC. 2012.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[2] D. MCNEILL, HAND AND MIND: WHAT GESTURES REVEAL ABOUT THOUGHT. CHICAGO, IL, USA: UNIVERSITY OF CHICAGO PRESS, 1992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[3] B. CHEN, L. YU, X. MENG, AND Y. HUA, "VISUAL GESTURE RECOGNITION BASED ON HAND KEY POINTS," IN JOURNAL OF PHYSICS: CONFERENCE SERIES, VOL. 2024, NO. 1, P. 012037, 2021.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[4] I. SOMMERVILLE, SOFTWARE ENGINEERING, 10TH ED. BOSTON, MA, USA: PEARSON, 2015.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[5] A. AGRAWAL, R. A. GEORGE, S. S. RAVI, S. K. S, AND A. K. M, "LEVERAGING MULTIMODAL BEHAVIORAL ANALYTICS FOR AUTOMATED JOB INTERVIEW PERFORMANCE ASSESSMENT AND FEEDBACK," ARXIV PREPRINT ARXIV:2006.07909, 2020.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[6] OPENCV, “INTRODUCTION TO OPENCV,” [ONLINE]. AVAILABLE: HTTPS://OPENCV.ORG. [ACCESSED: JAN. 25, 2025].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[7] SCIKIT-LEARN, “DOCUMENTATION,” [ONLINE]. AVAILABLE: HTTPS://SCIKIT-LEARN.ORG. [ACCESSED: JAN. 25, 2025].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[8] A. AGRAWAL, S. CHAKRABORTY, AND K. GHOSH, "ANALYZING BEHAVIORAL CUES IN VIDEO INTERVIEWS FOR CANDIDATE ASSESSMENT," ARXIV PREPRINT ARXIV:2006.07909, 2020.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AFFF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HTTPS://ARXIV.ORG/ABS/2006.07909.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9258300"/>
            <a:ext cx="5249008" cy="1028700"/>
          </a:xfrm>
          <a:custGeom>
            <a:avLst/>
            <a:gdLst/>
            <a:ahLst/>
            <a:cxnLst/>
            <a:rect l="l" t="t" r="r" b="b"/>
            <a:pathLst>
              <a:path w="5249008" h="1028700">
                <a:moveTo>
                  <a:pt x="0" y="0"/>
                </a:moveTo>
                <a:lnTo>
                  <a:pt x="5249008" y="0"/>
                </a:lnTo>
                <a:lnTo>
                  <a:pt x="524900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612894" y="9432607"/>
            <a:ext cx="732901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IT21819810 |B.D.A.M KUMARA | R25-040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328050"/>
            <a:ext cx="4893106" cy="958950"/>
          </a:xfrm>
          <a:custGeom>
            <a:avLst/>
            <a:gdLst/>
            <a:ahLst/>
            <a:cxnLst/>
            <a:rect l="l" t="t" r="r" b="b"/>
            <a:pathLst>
              <a:path w="4893106" h="958950">
                <a:moveTo>
                  <a:pt x="0" y="0"/>
                </a:moveTo>
                <a:lnTo>
                  <a:pt x="4893106" y="0"/>
                </a:lnTo>
                <a:lnTo>
                  <a:pt x="4893106" y="958950"/>
                </a:lnTo>
                <a:lnTo>
                  <a:pt x="0" y="958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468332"/>
            <a:ext cx="8788507" cy="1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537402"/>
            <a:ext cx="8788507" cy="158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80"/>
              </a:lnSpc>
            </a:pPr>
            <a:r>
              <a:rPr lang="en-US" sz="11899">
                <a:solidFill>
                  <a:srgbClr val="7AFFF5"/>
                </a:solidFill>
                <a:latin typeface="Norwester"/>
                <a:ea typeface="Norwester"/>
                <a:cs typeface="Norwester"/>
                <a:sym typeface="Norwester"/>
              </a:rPr>
              <a:t>Q &amp; 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7378" y="9575482"/>
            <a:ext cx="1761922" cy="46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4"/>
              </a:lnSpc>
            </a:pPr>
            <a:r>
              <a:rPr lang="en-US" sz="36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79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B2013-7AF9-D634-C52A-D553C4A94226}"/>
              </a:ext>
            </a:extLst>
          </p:cNvPr>
          <p:cNvSpPr txBox="1"/>
          <p:nvPr/>
        </p:nvSpPr>
        <p:spPr>
          <a:xfrm>
            <a:off x="297956" y="7310215"/>
            <a:ext cx="1769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https://www.canva.com/design/DAGjUAfEFv0/xpGNaqc0_JIBG4ydwF9T8Q/edit?utm_content=DAGjUAfEFv0&amp;utm_campaign=designshare&amp;utm_medium=link2&amp;utm_source=sharebutton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3664</Words>
  <Application>Microsoft Office PowerPoint</Application>
  <PresentationFormat>Custom</PresentationFormat>
  <Paragraphs>504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Arial</vt:lpstr>
      <vt:lpstr>Calibri</vt:lpstr>
      <vt:lpstr>Canva Sans Bold</vt:lpstr>
      <vt:lpstr>Helvetica World</vt:lpstr>
      <vt:lpstr>Canva Sans</vt:lpstr>
      <vt:lpstr>Helvetica World Bold</vt:lpstr>
      <vt:lpstr>Norwester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Candidates Recommending System For a Company Vacancy</dc:title>
  <cp:lastModifiedBy>De Silva R.S.K it21834424</cp:lastModifiedBy>
  <cp:revision>3</cp:revision>
  <dcterms:created xsi:type="dcterms:W3CDTF">2006-08-16T00:00:00Z</dcterms:created>
  <dcterms:modified xsi:type="dcterms:W3CDTF">2025-04-09T04:21:53Z</dcterms:modified>
  <dc:identifier>DAGjUAfEFv0</dc:identifier>
</cp:coreProperties>
</file>