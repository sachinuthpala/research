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8288000" cy="10287000"/>
  <p:notesSz cx="6858000" cy="9144000"/>
  <p:embeddedFontLst>
    <p:embeddedFont>
      <p:font typeface="Helvetica World" panose="020B0604020202020204" charset="-128"/>
      <p:regular r:id="rId40"/>
    </p:embeddedFont>
    <p:embeddedFont>
      <p:font typeface="Helvetica World Bold" panose="020B0604020202020204" charset="-128"/>
      <p:regular r:id="rId41"/>
    </p:embeddedFont>
    <p:embeddedFont>
      <p:font typeface="Canva Sans Bold" panose="020B0604020202020204" charset="0"/>
      <p:regular r:id="rId42"/>
    </p:embeddedFont>
    <p:embeddedFont>
      <p:font typeface="DM Sans" pitchFamily="2" charset="0"/>
      <p:regular r:id="rId43"/>
    </p:embeddedFont>
    <p:embeddedFont>
      <p:font typeface="DM Sans Italics" panose="020B0604020202020204" charset="0"/>
      <p:regular r:id="rId44"/>
    </p:embeddedFont>
    <p:embeddedFont>
      <p:font typeface="Norwester" panose="020B0604020202020204" charset="0"/>
      <p:regular r:id="rId45"/>
    </p:embeddedFont>
    <p:embeddedFont>
      <p:font typeface="Now Bold" panose="020B0604020202020204" charset="0"/>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14.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47.jpeg"/><Relationship Id="rId4" Type="http://schemas.openxmlformats.org/officeDocument/2006/relationships/image" Target="../media/image46.jpe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4.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65.png"/></Relationships>
</file>

<file path=ppt/slides/_rels/slide35.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6.png"/><Relationship Id="rId3" Type="http://schemas.openxmlformats.org/officeDocument/2006/relationships/image" Target="../media/image67.png"/><Relationship Id="rId7" Type="http://schemas.openxmlformats.org/officeDocument/2006/relationships/image" Target="../media/image71.png"/><Relationship Id="rId12" Type="http://schemas.openxmlformats.org/officeDocument/2006/relationships/image" Target="../media/image75.png"/><Relationship Id="rId2" Type="http://schemas.openxmlformats.org/officeDocument/2006/relationships/image" Target="../media/image66.png"/><Relationship Id="rId1" Type="http://schemas.openxmlformats.org/officeDocument/2006/relationships/slideLayout" Target="../slideLayouts/slideLayout7.xml"/><Relationship Id="rId6" Type="http://schemas.openxmlformats.org/officeDocument/2006/relationships/image" Target="../media/image70.png"/><Relationship Id="rId11" Type="http://schemas.openxmlformats.org/officeDocument/2006/relationships/image" Target="../media/image14.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36.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8.png"/><Relationship Id="rId7" Type="http://schemas.openxmlformats.org/officeDocument/2006/relationships/image" Target="../media/image81.png"/><Relationship Id="rId2" Type="http://schemas.openxmlformats.org/officeDocument/2006/relationships/image" Target="../media/image77.png"/><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14.png"/><Relationship Id="rId4" Type="http://schemas.openxmlformats.org/officeDocument/2006/relationships/image" Target="../media/image79.png"/></Relationships>
</file>

<file path=ppt/slides/_rels/slide3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86.png"/><Relationship Id="rId4" Type="http://schemas.openxmlformats.org/officeDocument/2006/relationships/image" Target="../media/image85.svg"/></Relationships>
</file>

<file path=ppt/slides/_rels/slide38.xml.rels><?xml version="1.0" encoding="UTF-8" standalone="yes"?>
<Relationships xmlns="http://schemas.openxmlformats.org/package/2006/relationships"><Relationship Id="rId3" Type="http://schemas.openxmlformats.org/officeDocument/2006/relationships/image" Target="../media/image85.svg"/><Relationship Id="rId2" Type="http://schemas.openxmlformats.org/officeDocument/2006/relationships/image" Target="../media/image84.png"/><Relationship Id="rId1" Type="http://schemas.openxmlformats.org/officeDocument/2006/relationships/slideLayout" Target="../slideLayouts/slideLayout7.xml"/><Relationship Id="rId4" Type="http://schemas.openxmlformats.org/officeDocument/2006/relationships/image" Target="../media/image8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1392544" y="4154952"/>
            <a:ext cx="11958151" cy="1929323"/>
            <a:chOff x="0" y="0"/>
            <a:chExt cx="3149472" cy="508135"/>
          </a:xfrm>
        </p:grpSpPr>
        <p:sp>
          <p:nvSpPr>
            <p:cNvPr id="3" name="Freeform 3"/>
            <p:cNvSpPr/>
            <p:nvPr/>
          </p:nvSpPr>
          <p:spPr>
            <a:xfrm>
              <a:off x="0" y="0"/>
              <a:ext cx="3149472" cy="508135"/>
            </a:xfrm>
            <a:custGeom>
              <a:avLst/>
              <a:gdLst/>
              <a:ahLst/>
              <a:cxnLst/>
              <a:rect l="l" t="t" r="r" b="b"/>
              <a:pathLst>
                <a:path w="3149472" h="508135">
                  <a:moveTo>
                    <a:pt x="0" y="0"/>
                  </a:moveTo>
                  <a:lnTo>
                    <a:pt x="3149472" y="0"/>
                  </a:lnTo>
                  <a:lnTo>
                    <a:pt x="3149472" y="508135"/>
                  </a:lnTo>
                  <a:lnTo>
                    <a:pt x="0" y="508135"/>
                  </a:lnTo>
                  <a:close/>
                </a:path>
              </a:pathLst>
            </a:custGeom>
            <a:solidFill>
              <a:srgbClr val="145DA0"/>
            </a:solidFill>
          </p:spPr>
          <p:txBody>
            <a:bodyPr/>
            <a:lstStyle/>
            <a:p>
              <a:endParaRPr lang="en-US"/>
            </a:p>
          </p:txBody>
        </p:sp>
        <p:sp>
          <p:nvSpPr>
            <p:cNvPr id="4" name="TextBox 4"/>
            <p:cNvSpPr txBox="1"/>
            <p:nvPr/>
          </p:nvSpPr>
          <p:spPr>
            <a:xfrm>
              <a:off x="0" y="-28575"/>
              <a:ext cx="3149472" cy="536710"/>
            </a:xfrm>
            <a:prstGeom prst="rect">
              <a:avLst/>
            </a:prstGeom>
          </p:spPr>
          <p:txBody>
            <a:bodyPr lIns="50800" tIns="50800" rIns="50800" bIns="50800" rtlCol="0" anchor="ctr"/>
            <a:lstStyle/>
            <a:p>
              <a:pPr algn="ctr">
                <a:lnSpc>
                  <a:spcPts val="2590"/>
                </a:lnSpc>
              </a:pPr>
              <a:endParaRPr/>
            </a:p>
          </p:txBody>
        </p:sp>
      </p:grpSp>
      <p:sp>
        <p:nvSpPr>
          <p:cNvPr id="5" name="Freeform 5"/>
          <p:cNvSpPr/>
          <p:nvPr/>
        </p:nvSpPr>
        <p:spPr>
          <a:xfrm>
            <a:off x="11208957" y="-1011147"/>
            <a:ext cx="2647750" cy="2647750"/>
          </a:xfrm>
          <a:custGeom>
            <a:avLst/>
            <a:gdLst/>
            <a:ahLst/>
            <a:cxnLst/>
            <a:rect l="l" t="t" r="r" b="b"/>
            <a:pathLst>
              <a:path w="2647750" h="2647750">
                <a:moveTo>
                  <a:pt x="0" y="0"/>
                </a:moveTo>
                <a:lnTo>
                  <a:pt x="2647750" y="0"/>
                </a:lnTo>
                <a:lnTo>
                  <a:pt x="2647750" y="2647750"/>
                </a:lnTo>
                <a:lnTo>
                  <a:pt x="0" y="26477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a:grpSpLocks noChangeAspect="1"/>
          </p:cNvGrpSpPr>
          <p:nvPr/>
        </p:nvGrpSpPr>
        <p:grpSpPr>
          <a:xfrm>
            <a:off x="10380940" y="649592"/>
            <a:ext cx="7516996" cy="8987817"/>
            <a:chOff x="0" y="0"/>
            <a:chExt cx="8603361" cy="10286746"/>
          </a:xfrm>
        </p:grpSpPr>
        <p:sp>
          <p:nvSpPr>
            <p:cNvPr id="7" name="Freeform 7"/>
            <p:cNvSpPr/>
            <p:nvPr/>
          </p:nvSpPr>
          <p:spPr>
            <a:xfrm>
              <a:off x="-2794" y="-128"/>
              <a:ext cx="8606155" cy="10286874"/>
            </a:xfrm>
            <a:custGeom>
              <a:avLst/>
              <a:gdLst/>
              <a:ahLst/>
              <a:cxnLst/>
              <a:rect l="l" t="t" r="r" b="b"/>
              <a:pathLst>
                <a:path w="8606155" h="10286874">
                  <a:moveTo>
                    <a:pt x="8606155" y="10251441"/>
                  </a:moveTo>
                  <a:cubicBezTo>
                    <a:pt x="8606155" y="10284588"/>
                    <a:pt x="8595487" y="10286874"/>
                    <a:pt x="8567674" y="10286874"/>
                  </a:cubicBezTo>
                  <a:cubicBezTo>
                    <a:pt x="5713094" y="10286239"/>
                    <a:pt x="2858643" y="10286239"/>
                    <a:pt x="4064" y="10286239"/>
                  </a:cubicBezTo>
                  <a:cubicBezTo>
                    <a:pt x="0" y="10272396"/>
                    <a:pt x="6350" y="10259823"/>
                    <a:pt x="9271" y="10246996"/>
                  </a:cubicBezTo>
                  <a:cubicBezTo>
                    <a:pt x="134747" y="9685402"/>
                    <a:pt x="260350" y="9123935"/>
                    <a:pt x="386207" y="8562467"/>
                  </a:cubicBezTo>
                  <a:cubicBezTo>
                    <a:pt x="565658" y="7761986"/>
                    <a:pt x="745490" y="6961633"/>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6"/>
                    <a:pt x="8605139" y="6846317"/>
                    <a:pt x="8606155" y="10251441"/>
                  </a:cubicBezTo>
                  <a:close/>
                </a:path>
              </a:pathLst>
            </a:custGeom>
            <a:blipFill>
              <a:blip r:embed="rId4"/>
              <a:stretch>
                <a:fillRect l="-23026" r="-35603"/>
              </a:stretch>
            </a:blipFill>
          </p:spPr>
          <p:txBody>
            <a:bodyPr/>
            <a:lstStyle/>
            <a:p>
              <a:endParaRPr lang="en-US"/>
            </a:p>
          </p:txBody>
        </p:sp>
      </p:grpSp>
      <p:sp>
        <p:nvSpPr>
          <p:cNvPr id="8" name="Freeform 8"/>
          <p:cNvSpPr/>
          <p:nvPr/>
        </p:nvSpPr>
        <p:spPr>
          <a:xfrm>
            <a:off x="-295175" y="8630507"/>
            <a:ext cx="2647750" cy="2647750"/>
          </a:xfrm>
          <a:custGeom>
            <a:avLst/>
            <a:gdLst/>
            <a:ahLst/>
            <a:cxnLst/>
            <a:rect l="l" t="t" r="r" b="b"/>
            <a:pathLst>
              <a:path w="2647750" h="2647750">
                <a:moveTo>
                  <a:pt x="0" y="0"/>
                </a:moveTo>
                <a:lnTo>
                  <a:pt x="2647750" y="0"/>
                </a:lnTo>
                <a:lnTo>
                  <a:pt x="2647750" y="2647751"/>
                </a:lnTo>
                <a:lnTo>
                  <a:pt x="0" y="26477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TextBox 9"/>
          <p:cNvSpPr txBox="1"/>
          <p:nvPr/>
        </p:nvSpPr>
        <p:spPr>
          <a:xfrm>
            <a:off x="2199431" y="6834114"/>
            <a:ext cx="7913921" cy="462835"/>
          </a:xfrm>
          <a:prstGeom prst="rect">
            <a:avLst/>
          </a:prstGeom>
        </p:spPr>
        <p:txBody>
          <a:bodyPr lIns="0" tIns="0" rIns="0" bIns="0" rtlCol="0" anchor="t">
            <a:spAutoFit/>
          </a:bodyPr>
          <a:lstStyle/>
          <a:p>
            <a:pPr marL="0" lvl="0" indent="0" algn="l">
              <a:lnSpc>
                <a:spcPts val="3727"/>
              </a:lnSpc>
              <a:spcBef>
                <a:spcPct val="0"/>
              </a:spcBef>
            </a:pPr>
            <a:r>
              <a:rPr lang="en-US" sz="3030" i="1">
                <a:solidFill>
                  <a:srgbClr val="56AEFF"/>
                </a:solidFill>
                <a:latin typeface="DM Sans Italics"/>
                <a:ea typeface="DM Sans Italics"/>
                <a:cs typeface="DM Sans Italics"/>
                <a:sym typeface="DM Sans Italics"/>
              </a:rPr>
              <a:t>Group ID : R25-040 | PP2</a:t>
            </a:r>
          </a:p>
        </p:txBody>
      </p:sp>
      <p:sp>
        <p:nvSpPr>
          <p:cNvPr id="10" name="TextBox 10"/>
          <p:cNvSpPr txBox="1"/>
          <p:nvPr/>
        </p:nvSpPr>
        <p:spPr>
          <a:xfrm>
            <a:off x="1434420" y="2692369"/>
            <a:ext cx="10959085" cy="1739265"/>
          </a:xfrm>
          <a:prstGeom prst="rect">
            <a:avLst/>
          </a:prstGeom>
        </p:spPr>
        <p:txBody>
          <a:bodyPr lIns="0" tIns="0" rIns="0" bIns="0" rtlCol="0" anchor="t">
            <a:spAutoFit/>
          </a:bodyPr>
          <a:lstStyle/>
          <a:p>
            <a:pPr algn="ctr">
              <a:lnSpc>
                <a:spcPts val="13560"/>
              </a:lnSpc>
            </a:pPr>
            <a:r>
              <a:rPr lang="en-US" sz="11300" b="1" dirty="0">
                <a:solidFill>
                  <a:srgbClr val="56AEFF"/>
                </a:solidFill>
                <a:latin typeface="Now Bold"/>
                <a:ea typeface="Now Bold"/>
                <a:cs typeface="Now Bold"/>
                <a:sym typeface="Now Bold"/>
              </a:rPr>
              <a:t>INSIGHTHIRE </a:t>
            </a:r>
          </a:p>
        </p:txBody>
      </p:sp>
      <p:sp>
        <p:nvSpPr>
          <p:cNvPr id="11" name="TextBox 11"/>
          <p:cNvSpPr txBox="1"/>
          <p:nvPr/>
        </p:nvSpPr>
        <p:spPr>
          <a:xfrm>
            <a:off x="2199431" y="4392315"/>
            <a:ext cx="10169493" cy="1936623"/>
          </a:xfrm>
          <a:prstGeom prst="rect">
            <a:avLst/>
          </a:prstGeom>
        </p:spPr>
        <p:txBody>
          <a:bodyPr lIns="0" tIns="0" rIns="0" bIns="0" rtlCol="0" anchor="t">
            <a:spAutoFit/>
          </a:bodyPr>
          <a:lstStyle/>
          <a:p>
            <a:pPr algn="l">
              <a:lnSpc>
                <a:spcPts val="5166"/>
              </a:lnSpc>
            </a:pPr>
            <a:r>
              <a:rPr lang="en-US" sz="4200" i="1" spc="-84">
                <a:solidFill>
                  <a:srgbClr val="FFFFFF"/>
                </a:solidFill>
                <a:latin typeface="DM Sans Italics"/>
                <a:ea typeface="DM Sans Italics"/>
                <a:cs typeface="DM Sans Italics"/>
                <a:sym typeface="DM Sans Italics"/>
              </a:rPr>
              <a:t>AI Based Candidates Recommending Application For a Company Vacancy</a:t>
            </a:r>
          </a:p>
          <a:p>
            <a:pPr algn="l">
              <a:lnSpc>
                <a:spcPts val="5166"/>
              </a:lnSpc>
            </a:pPr>
            <a:endParaRPr lang="en-US" sz="4200" i="1" spc="-84">
              <a:solidFill>
                <a:srgbClr val="FFFFFF"/>
              </a:solidFill>
              <a:latin typeface="DM Sans Italics"/>
              <a:ea typeface="DM Sans Italics"/>
              <a:cs typeface="DM Sans Italics"/>
              <a:sym typeface="DM Sans Itali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3859301" y="2066747"/>
            <a:ext cx="2623185" cy="2623185"/>
            <a:chOff x="0" y="0"/>
            <a:chExt cx="812800" cy="812800"/>
          </a:xfrm>
        </p:grpSpPr>
        <p:sp>
          <p:nvSpPr>
            <p:cNvPr id="3" name="Freeform 3"/>
            <p:cNvSpPr/>
            <p:nvPr/>
          </p:nvSpPr>
          <p:spPr>
            <a:xfrm>
              <a:off x="0" y="0"/>
              <a:ext cx="812800" cy="812800"/>
            </a:xfrm>
            <a:custGeom>
              <a:avLst/>
              <a:gdLst/>
              <a:ahLst/>
              <a:cxnLst/>
              <a:rect l="l" t="t" r="r" b="b"/>
              <a:pathLst>
                <a:path w="812800" h="812800">
                  <a:moveTo>
                    <a:pt x="67881" y="0"/>
                  </a:moveTo>
                  <a:lnTo>
                    <a:pt x="744919" y="0"/>
                  </a:lnTo>
                  <a:cubicBezTo>
                    <a:pt x="782409" y="0"/>
                    <a:pt x="812800" y="30391"/>
                    <a:pt x="812800" y="67881"/>
                  </a:cubicBezTo>
                  <a:lnTo>
                    <a:pt x="812800" y="744919"/>
                  </a:lnTo>
                  <a:cubicBezTo>
                    <a:pt x="812800" y="782409"/>
                    <a:pt x="782409" y="812800"/>
                    <a:pt x="744919" y="812800"/>
                  </a:cubicBezTo>
                  <a:lnTo>
                    <a:pt x="67881" y="812800"/>
                  </a:lnTo>
                  <a:cubicBezTo>
                    <a:pt x="30391" y="812800"/>
                    <a:pt x="0" y="782409"/>
                    <a:pt x="0" y="744919"/>
                  </a:cubicBezTo>
                  <a:lnTo>
                    <a:pt x="0" y="67881"/>
                  </a:lnTo>
                  <a:cubicBezTo>
                    <a:pt x="0" y="30391"/>
                    <a:pt x="30391" y="0"/>
                    <a:pt x="67881" y="0"/>
                  </a:cubicBezTo>
                  <a:close/>
                </a:path>
              </a:pathLst>
            </a:custGeom>
            <a:blipFill>
              <a:blip r:embed="rId2"/>
              <a:stretch>
                <a:fillRect/>
              </a:stretch>
            </a:blipFill>
          </p:spPr>
          <p:txBody>
            <a:bodyPr/>
            <a:lstStyle/>
            <a:p>
              <a:endParaRPr lang="en-US"/>
            </a:p>
          </p:txBody>
        </p:sp>
      </p:grpSp>
      <p:grpSp>
        <p:nvGrpSpPr>
          <p:cNvPr id="4" name="Group 4"/>
          <p:cNvGrpSpPr/>
          <p:nvPr/>
        </p:nvGrpSpPr>
        <p:grpSpPr>
          <a:xfrm>
            <a:off x="8099203" y="2066747"/>
            <a:ext cx="2623185" cy="2623185"/>
            <a:chOff x="0" y="0"/>
            <a:chExt cx="812800" cy="812800"/>
          </a:xfrm>
        </p:grpSpPr>
        <p:sp>
          <p:nvSpPr>
            <p:cNvPr id="5" name="Freeform 5"/>
            <p:cNvSpPr/>
            <p:nvPr/>
          </p:nvSpPr>
          <p:spPr>
            <a:xfrm>
              <a:off x="0" y="0"/>
              <a:ext cx="812800" cy="812800"/>
            </a:xfrm>
            <a:custGeom>
              <a:avLst/>
              <a:gdLst/>
              <a:ahLst/>
              <a:cxnLst/>
              <a:rect l="l" t="t" r="r" b="b"/>
              <a:pathLst>
                <a:path w="812800" h="812800">
                  <a:moveTo>
                    <a:pt x="67881" y="0"/>
                  </a:moveTo>
                  <a:lnTo>
                    <a:pt x="744919" y="0"/>
                  </a:lnTo>
                  <a:cubicBezTo>
                    <a:pt x="782409" y="0"/>
                    <a:pt x="812800" y="30391"/>
                    <a:pt x="812800" y="67881"/>
                  </a:cubicBezTo>
                  <a:lnTo>
                    <a:pt x="812800" y="744919"/>
                  </a:lnTo>
                  <a:cubicBezTo>
                    <a:pt x="812800" y="782409"/>
                    <a:pt x="782409" y="812800"/>
                    <a:pt x="744919" y="812800"/>
                  </a:cubicBezTo>
                  <a:lnTo>
                    <a:pt x="67881" y="812800"/>
                  </a:lnTo>
                  <a:cubicBezTo>
                    <a:pt x="30391" y="812800"/>
                    <a:pt x="0" y="782409"/>
                    <a:pt x="0" y="744919"/>
                  </a:cubicBezTo>
                  <a:lnTo>
                    <a:pt x="0" y="67881"/>
                  </a:lnTo>
                  <a:cubicBezTo>
                    <a:pt x="0" y="30391"/>
                    <a:pt x="30391" y="0"/>
                    <a:pt x="67881" y="0"/>
                  </a:cubicBezTo>
                  <a:close/>
                </a:path>
              </a:pathLst>
            </a:custGeom>
            <a:blipFill>
              <a:blip r:embed="rId3"/>
              <a:stretch>
                <a:fillRect b="-50093"/>
              </a:stretch>
            </a:blipFill>
          </p:spPr>
          <p:txBody>
            <a:bodyPr/>
            <a:lstStyle/>
            <a:p>
              <a:endParaRPr lang="en-US"/>
            </a:p>
          </p:txBody>
        </p:sp>
      </p:grpSp>
      <p:grpSp>
        <p:nvGrpSpPr>
          <p:cNvPr id="6" name="Group 6"/>
          <p:cNvGrpSpPr/>
          <p:nvPr/>
        </p:nvGrpSpPr>
        <p:grpSpPr>
          <a:xfrm>
            <a:off x="2827896" y="5593701"/>
            <a:ext cx="2342998" cy="2342998"/>
            <a:chOff x="0" y="0"/>
            <a:chExt cx="812800" cy="812800"/>
          </a:xfrm>
        </p:grpSpPr>
        <p:sp>
          <p:nvSpPr>
            <p:cNvPr id="7" name="Freeform 7"/>
            <p:cNvSpPr/>
            <p:nvPr/>
          </p:nvSpPr>
          <p:spPr>
            <a:xfrm>
              <a:off x="0" y="0"/>
              <a:ext cx="812800" cy="812800"/>
            </a:xfrm>
            <a:custGeom>
              <a:avLst/>
              <a:gdLst/>
              <a:ahLst/>
              <a:cxnLst/>
              <a:rect l="l" t="t" r="r" b="b"/>
              <a:pathLst>
                <a:path w="812800" h="812800">
                  <a:moveTo>
                    <a:pt x="75998" y="0"/>
                  </a:moveTo>
                  <a:lnTo>
                    <a:pt x="736802" y="0"/>
                  </a:lnTo>
                  <a:cubicBezTo>
                    <a:pt x="778774" y="0"/>
                    <a:pt x="812800" y="34026"/>
                    <a:pt x="812800" y="75998"/>
                  </a:cubicBezTo>
                  <a:lnTo>
                    <a:pt x="812800" y="736802"/>
                  </a:lnTo>
                  <a:cubicBezTo>
                    <a:pt x="812800" y="778774"/>
                    <a:pt x="778774" y="812800"/>
                    <a:pt x="736802" y="812800"/>
                  </a:cubicBezTo>
                  <a:lnTo>
                    <a:pt x="75998" y="812800"/>
                  </a:lnTo>
                  <a:cubicBezTo>
                    <a:pt x="34026" y="812800"/>
                    <a:pt x="0" y="778774"/>
                    <a:pt x="0" y="736802"/>
                  </a:cubicBezTo>
                  <a:lnTo>
                    <a:pt x="0" y="75998"/>
                  </a:lnTo>
                  <a:cubicBezTo>
                    <a:pt x="0" y="34026"/>
                    <a:pt x="34026" y="0"/>
                    <a:pt x="75998" y="0"/>
                  </a:cubicBezTo>
                  <a:close/>
                </a:path>
              </a:pathLst>
            </a:custGeom>
            <a:blipFill>
              <a:blip r:embed="rId4"/>
              <a:stretch>
                <a:fillRect t="-11811" b="-21683"/>
              </a:stretch>
            </a:blipFill>
          </p:spPr>
          <p:txBody>
            <a:bodyPr/>
            <a:lstStyle/>
            <a:p>
              <a:endParaRPr lang="en-US"/>
            </a:p>
          </p:txBody>
        </p:sp>
      </p:grpSp>
      <p:grpSp>
        <p:nvGrpSpPr>
          <p:cNvPr id="8" name="Group 8"/>
          <p:cNvGrpSpPr/>
          <p:nvPr/>
        </p:nvGrpSpPr>
        <p:grpSpPr>
          <a:xfrm>
            <a:off x="6258905" y="5593701"/>
            <a:ext cx="2342998" cy="2342998"/>
            <a:chOff x="0" y="0"/>
            <a:chExt cx="812800" cy="812800"/>
          </a:xfrm>
        </p:grpSpPr>
        <p:sp>
          <p:nvSpPr>
            <p:cNvPr id="9" name="Freeform 9"/>
            <p:cNvSpPr/>
            <p:nvPr/>
          </p:nvSpPr>
          <p:spPr>
            <a:xfrm>
              <a:off x="0" y="0"/>
              <a:ext cx="812800" cy="812800"/>
            </a:xfrm>
            <a:custGeom>
              <a:avLst/>
              <a:gdLst/>
              <a:ahLst/>
              <a:cxnLst/>
              <a:rect l="l" t="t" r="r" b="b"/>
              <a:pathLst>
                <a:path w="812800" h="812800">
                  <a:moveTo>
                    <a:pt x="75998" y="0"/>
                  </a:moveTo>
                  <a:lnTo>
                    <a:pt x="736802" y="0"/>
                  </a:lnTo>
                  <a:cubicBezTo>
                    <a:pt x="778774" y="0"/>
                    <a:pt x="812800" y="34026"/>
                    <a:pt x="812800" y="75998"/>
                  </a:cubicBezTo>
                  <a:lnTo>
                    <a:pt x="812800" y="736802"/>
                  </a:lnTo>
                  <a:cubicBezTo>
                    <a:pt x="812800" y="778774"/>
                    <a:pt x="778774" y="812800"/>
                    <a:pt x="736802" y="812800"/>
                  </a:cubicBezTo>
                  <a:lnTo>
                    <a:pt x="75998" y="812800"/>
                  </a:lnTo>
                  <a:cubicBezTo>
                    <a:pt x="34026" y="812800"/>
                    <a:pt x="0" y="778774"/>
                    <a:pt x="0" y="736802"/>
                  </a:cubicBezTo>
                  <a:lnTo>
                    <a:pt x="0" y="75998"/>
                  </a:lnTo>
                  <a:cubicBezTo>
                    <a:pt x="0" y="34026"/>
                    <a:pt x="34026" y="0"/>
                    <a:pt x="75998" y="0"/>
                  </a:cubicBezTo>
                  <a:close/>
                </a:path>
              </a:pathLst>
            </a:custGeom>
            <a:blipFill>
              <a:blip r:embed="rId5"/>
              <a:stretch>
                <a:fillRect t="-16628" b="-16628"/>
              </a:stretch>
            </a:blipFill>
          </p:spPr>
          <p:txBody>
            <a:bodyPr/>
            <a:lstStyle/>
            <a:p>
              <a:endParaRPr lang="en-US"/>
            </a:p>
          </p:txBody>
        </p:sp>
      </p:grpSp>
      <p:grpSp>
        <p:nvGrpSpPr>
          <p:cNvPr id="10" name="Group 10"/>
          <p:cNvGrpSpPr/>
          <p:nvPr/>
        </p:nvGrpSpPr>
        <p:grpSpPr>
          <a:xfrm>
            <a:off x="10220528" y="5593701"/>
            <a:ext cx="2342998" cy="2342998"/>
            <a:chOff x="0" y="0"/>
            <a:chExt cx="812800" cy="812800"/>
          </a:xfrm>
        </p:grpSpPr>
        <p:sp>
          <p:nvSpPr>
            <p:cNvPr id="11" name="Freeform 11"/>
            <p:cNvSpPr/>
            <p:nvPr/>
          </p:nvSpPr>
          <p:spPr>
            <a:xfrm>
              <a:off x="0" y="0"/>
              <a:ext cx="812800" cy="812800"/>
            </a:xfrm>
            <a:custGeom>
              <a:avLst/>
              <a:gdLst/>
              <a:ahLst/>
              <a:cxnLst/>
              <a:rect l="l" t="t" r="r" b="b"/>
              <a:pathLst>
                <a:path w="812800" h="812800">
                  <a:moveTo>
                    <a:pt x="75998" y="0"/>
                  </a:moveTo>
                  <a:lnTo>
                    <a:pt x="736802" y="0"/>
                  </a:lnTo>
                  <a:cubicBezTo>
                    <a:pt x="778774" y="0"/>
                    <a:pt x="812800" y="34026"/>
                    <a:pt x="812800" y="75998"/>
                  </a:cubicBezTo>
                  <a:lnTo>
                    <a:pt x="812800" y="736802"/>
                  </a:lnTo>
                  <a:cubicBezTo>
                    <a:pt x="812800" y="778774"/>
                    <a:pt x="778774" y="812800"/>
                    <a:pt x="736802" y="812800"/>
                  </a:cubicBezTo>
                  <a:lnTo>
                    <a:pt x="75998" y="812800"/>
                  </a:lnTo>
                  <a:cubicBezTo>
                    <a:pt x="34026" y="812800"/>
                    <a:pt x="0" y="778774"/>
                    <a:pt x="0" y="736802"/>
                  </a:cubicBezTo>
                  <a:lnTo>
                    <a:pt x="0" y="75998"/>
                  </a:lnTo>
                  <a:cubicBezTo>
                    <a:pt x="0" y="34026"/>
                    <a:pt x="34026" y="0"/>
                    <a:pt x="75998" y="0"/>
                  </a:cubicBezTo>
                  <a:close/>
                </a:path>
              </a:pathLst>
            </a:custGeom>
            <a:blipFill>
              <a:blip r:embed="rId6"/>
              <a:stretch>
                <a:fillRect b="-30434"/>
              </a:stretch>
            </a:blipFill>
          </p:spPr>
          <p:txBody>
            <a:bodyPr/>
            <a:lstStyle/>
            <a:p>
              <a:endParaRPr lang="en-US"/>
            </a:p>
          </p:txBody>
        </p:sp>
      </p:grpSp>
      <p:grpSp>
        <p:nvGrpSpPr>
          <p:cNvPr id="12" name="Group 12"/>
          <p:cNvGrpSpPr/>
          <p:nvPr/>
        </p:nvGrpSpPr>
        <p:grpSpPr>
          <a:xfrm>
            <a:off x="14182775" y="5593701"/>
            <a:ext cx="2342998" cy="2342998"/>
            <a:chOff x="0" y="0"/>
            <a:chExt cx="812800" cy="812800"/>
          </a:xfrm>
        </p:grpSpPr>
        <p:sp>
          <p:nvSpPr>
            <p:cNvPr id="13" name="Freeform 13"/>
            <p:cNvSpPr/>
            <p:nvPr/>
          </p:nvSpPr>
          <p:spPr>
            <a:xfrm>
              <a:off x="0" y="0"/>
              <a:ext cx="812800" cy="812800"/>
            </a:xfrm>
            <a:custGeom>
              <a:avLst/>
              <a:gdLst/>
              <a:ahLst/>
              <a:cxnLst/>
              <a:rect l="l" t="t" r="r" b="b"/>
              <a:pathLst>
                <a:path w="812800" h="812800">
                  <a:moveTo>
                    <a:pt x="75998" y="0"/>
                  </a:moveTo>
                  <a:lnTo>
                    <a:pt x="736802" y="0"/>
                  </a:lnTo>
                  <a:cubicBezTo>
                    <a:pt x="778774" y="0"/>
                    <a:pt x="812800" y="34026"/>
                    <a:pt x="812800" y="75998"/>
                  </a:cubicBezTo>
                  <a:lnTo>
                    <a:pt x="812800" y="736802"/>
                  </a:lnTo>
                  <a:cubicBezTo>
                    <a:pt x="812800" y="778774"/>
                    <a:pt x="778774" y="812800"/>
                    <a:pt x="736802" y="812800"/>
                  </a:cubicBezTo>
                  <a:lnTo>
                    <a:pt x="75998" y="812800"/>
                  </a:lnTo>
                  <a:cubicBezTo>
                    <a:pt x="34026" y="812800"/>
                    <a:pt x="0" y="778774"/>
                    <a:pt x="0" y="736802"/>
                  </a:cubicBezTo>
                  <a:lnTo>
                    <a:pt x="0" y="75998"/>
                  </a:lnTo>
                  <a:cubicBezTo>
                    <a:pt x="0" y="34026"/>
                    <a:pt x="34026" y="0"/>
                    <a:pt x="75998" y="0"/>
                  </a:cubicBezTo>
                  <a:close/>
                </a:path>
              </a:pathLst>
            </a:custGeom>
            <a:blipFill>
              <a:blip r:embed="rId7"/>
              <a:stretch>
                <a:fillRect b="-25858"/>
              </a:stretch>
            </a:blipFill>
          </p:spPr>
          <p:txBody>
            <a:bodyPr/>
            <a:lstStyle/>
            <a:p>
              <a:endParaRPr lang="en-US"/>
            </a:p>
          </p:txBody>
        </p:sp>
      </p:grpSp>
      <p:grpSp>
        <p:nvGrpSpPr>
          <p:cNvPr id="14" name="Group 14"/>
          <p:cNvGrpSpPr/>
          <p:nvPr/>
        </p:nvGrpSpPr>
        <p:grpSpPr>
          <a:xfrm>
            <a:off x="12122524" y="2066747"/>
            <a:ext cx="2623185" cy="2623185"/>
            <a:chOff x="0" y="0"/>
            <a:chExt cx="812800" cy="812800"/>
          </a:xfrm>
        </p:grpSpPr>
        <p:sp>
          <p:nvSpPr>
            <p:cNvPr id="15" name="Freeform 15"/>
            <p:cNvSpPr/>
            <p:nvPr/>
          </p:nvSpPr>
          <p:spPr>
            <a:xfrm>
              <a:off x="0" y="0"/>
              <a:ext cx="812800" cy="812800"/>
            </a:xfrm>
            <a:custGeom>
              <a:avLst/>
              <a:gdLst/>
              <a:ahLst/>
              <a:cxnLst/>
              <a:rect l="l" t="t" r="r" b="b"/>
              <a:pathLst>
                <a:path w="812800" h="812800">
                  <a:moveTo>
                    <a:pt x="67881" y="0"/>
                  </a:moveTo>
                  <a:lnTo>
                    <a:pt x="744919" y="0"/>
                  </a:lnTo>
                  <a:cubicBezTo>
                    <a:pt x="782409" y="0"/>
                    <a:pt x="812800" y="30391"/>
                    <a:pt x="812800" y="67881"/>
                  </a:cubicBezTo>
                  <a:lnTo>
                    <a:pt x="812800" y="744919"/>
                  </a:lnTo>
                  <a:cubicBezTo>
                    <a:pt x="812800" y="782409"/>
                    <a:pt x="782409" y="812800"/>
                    <a:pt x="744919" y="812800"/>
                  </a:cubicBezTo>
                  <a:lnTo>
                    <a:pt x="67881" y="812800"/>
                  </a:lnTo>
                  <a:cubicBezTo>
                    <a:pt x="30391" y="812800"/>
                    <a:pt x="0" y="782409"/>
                    <a:pt x="0" y="744919"/>
                  </a:cubicBezTo>
                  <a:lnTo>
                    <a:pt x="0" y="67881"/>
                  </a:lnTo>
                  <a:cubicBezTo>
                    <a:pt x="0" y="30391"/>
                    <a:pt x="30391" y="0"/>
                    <a:pt x="67881" y="0"/>
                  </a:cubicBezTo>
                  <a:close/>
                </a:path>
              </a:pathLst>
            </a:custGeom>
            <a:blipFill>
              <a:blip r:embed="rId8"/>
              <a:stretch>
                <a:fillRect t="-2235" b="-14586"/>
              </a:stretch>
            </a:blipFill>
          </p:spPr>
          <p:txBody>
            <a:bodyPr/>
            <a:lstStyle/>
            <a:p>
              <a:endParaRPr lang="en-US"/>
            </a:p>
          </p:txBody>
        </p:sp>
      </p:grpSp>
      <p:sp>
        <p:nvSpPr>
          <p:cNvPr id="16" name="TextBox 16"/>
          <p:cNvSpPr txBox="1"/>
          <p:nvPr/>
        </p:nvSpPr>
        <p:spPr>
          <a:xfrm>
            <a:off x="5988784" y="564832"/>
            <a:ext cx="6844023" cy="1070611"/>
          </a:xfrm>
          <a:prstGeom prst="rect">
            <a:avLst/>
          </a:prstGeom>
        </p:spPr>
        <p:txBody>
          <a:bodyPr lIns="0" tIns="0" rIns="0" bIns="0" rtlCol="0" anchor="t">
            <a:spAutoFit/>
          </a:bodyPr>
          <a:lstStyle/>
          <a:p>
            <a:pPr algn="ctr">
              <a:lnSpc>
                <a:spcPts val="7920"/>
              </a:lnSpc>
            </a:pPr>
            <a:r>
              <a:rPr lang="en-US" sz="8000">
                <a:solidFill>
                  <a:srgbClr val="56AEFF"/>
                </a:solidFill>
                <a:latin typeface="Norwester"/>
                <a:ea typeface="Norwester"/>
                <a:cs typeface="Norwester"/>
                <a:sym typeface="Norwester"/>
              </a:rPr>
              <a:t>OUR TEAM </a:t>
            </a:r>
          </a:p>
        </p:txBody>
      </p:sp>
      <p:sp>
        <p:nvSpPr>
          <p:cNvPr id="17" name="TextBox 17"/>
          <p:cNvSpPr txBox="1"/>
          <p:nvPr/>
        </p:nvSpPr>
        <p:spPr>
          <a:xfrm>
            <a:off x="4196095" y="4806584"/>
            <a:ext cx="2062810" cy="1013460"/>
          </a:xfrm>
          <a:prstGeom prst="rect">
            <a:avLst/>
          </a:prstGeom>
        </p:spPr>
        <p:txBody>
          <a:bodyPr lIns="0" tIns="0" rIns="0" bIns="0" rtlCol="0" anchor="t">
            <a:spAutoFit/>
          </a:bodyPr>
          <a:lstStyle/>
          <a:p>
            <a:pPr algn="ctr">
              <a:lnSpc>
                <a:spcPts val="2519"/>
              </a:lnSpc>
            </a:pPr>
            <a:r>
              <a:rPr lang="en-US" sz="1799" b="1">
                <a:solidFill>
                  <a:srgbClr val="FFFFFF"/>
                </a:solidFill>
                <a:latin typeface="Helvetica World Bold"/>
                <a:ea typeface="Helvetica World Bold"/>
                <a:cs typeface="Helvetica World Bold"/>
                <a:sym typeface="Helvetica World Bold"/>
              </a:rPr>
              <a:t>Prof. Samantha Thelijjagoda</a:t>
            </a:r>
          </a:p>
          <a:p>
            <a:pPr algn="ctr">
              <a:lnSpc>
                <a:spcPts val="2519"/>
              </a:lnSpc>
              <a:spcBef>
                <a:spcPct val="0"/>
              </a:spcBef>
            </a:pPr>
            <a:r>
              <a:rPr lang="en-US" sz="1799" b="1">
                <a:solidFill>
                  <a:srgbClr val="56AEFF"/>
                </a:solidFill>
                <a:latin typeface="Helvetica World Bold"/>
                <a:ea typeface="Helvetica World Bold"/>
                <a:cs typeface="Helvetica World Bold"/>
                <a:sym typeface="Helvetica World Bold"/>
              </a:rPr>
              <a:t> Supervisor</a:t>
            </a:r>
          </a:p>
        </p:txBody>
      </p:sp>
      <p:sp>
        <p:nvSpPr>
          <p:cNvPr id="18" name="TextBox 18"/>
          <p:cNvSpPr txBox="1"/>
          <p:nvPr/>
        </p:nvSpPr>
        <p:spPr>
          <a:xfrm>
            <a:off x="2967990" y="8050998"/>
            <a:ext cx="2062810" cy="719455"/>
          </a:xfrm>
          <a:prstGeom prst="rect">
            <a:avLst/>
          </a:prstGeom>
        </p:spPr>
        <p:txBody>
          <a:bodyPr lIns="0" tIns="0" rIns="0" bIns="0" rtlCol="0" anchor="t">
            <a:spAutoFit/>
          </a:bodyPr>
          <a:lstStyle/>
          <a:p>
            <a:pPr algn="ctr">
              <a:lnSpc>
                <a:spcPts val="2799"/>
              </a:lnSpc>
            </a:pPr>
            <a:r>
              <a:rPr lang="en-US" sz="1999" b="1">
                <a:solidFill>
                  <a:srgbClr val="FFFFFF"/>
                </a:solidFill>
                <a:latin typeface="Helvetica World Bold"/>
                <a:ea typeface="Helvetica World Bold"/>
                <a:cs typeface="Helvetica World Bold"/>
                <a:sym typeface="Helvetica World Bold"/>
              </a:rPr>
              <a:t>De Silva R.S.K</a:t>
            </a:r>
          </a:p>
          <a:p>
            <a:pPr algn="ctr">
              <a:lnSpc>
                <a:spcPts val="2519"/>
              </a:lnSpc>
              <a:spcBef>
                <a:spcPct val="0"/>
              </a:spcBef>
            </a:pPr>
            <a:r>
              <a:rPr lang="en-US" sz="1799" b="1">
                <a:solidFill>
                  <a:srgbClr val="56AEFF"/>
                </a:solidFill>
                <a:latin typeface="Helvetica World Bold"/>
                <a:ea typeface="Helvetica World Bold"/>
                <a:cs typeface="Helvetica World Bold"/>
                <a:sym typeface="Helvetica World Bold"/>
              </a:rPr>
              <a:t>Team Member</a:t>
            </a:r>
          </a:p>
        </p:txBody>
      </p:sp>
      <p:sp>
        <p:nvSpPr>
          <p:cNvPr id="19" name="TextBox 19"/>
          <p:cNvSpPr txBox="1"/>
          <p:nvPr/>
        </p:nvSpPr>
        <p:spPr>
          <a:xfrm>
            <a:off x="8379391" y="4806584"/>
            <a:ext cx="2062810" cy="1013460"/>
          </a:xfrm>
          <a:prstGeom prst="rect">
            <a:avLst/>
          </a:prstGeom>
        </p:spPr>
        <p:txBody>
          <a:bodyPr lIns="0" tIns="0" rIns="0" bIns="0" rtlCol="0" anchor="t">
            <a:spAutoFit/>
          </a:bodyPr>
          <a:lstStyle/>
          <a:p>
            <a:pPr algn="ctr">
              <a:lnSpc>
                <a:spcPts val="2519"/>
              </a:lnSpc>
            </a:pPr>
            <a:r>
              <a:rPr lang="en-US" sz="1799" b="1">
                <a:solidFill>
                  <a:srgbClr val="FFFFFF"/>
                </a:solidFill>
                <a:latin typeface="Helvetica World Bold"/>
                <a:ea typeface="Helvetica World Bold"/>
                <a:cs typeface="Helvetica World Bold"/>
                <a:sym typeface="Helvetica World Bold"/>
              </a:rPr>
              <a:t>Ms. Poorna Panduwawala</a:t>
            </a:r>
          </a:p>
          <a:p>
            <a:pPr algn="ctr">
              <a:lnSpc>
                <a:spcPts val="2519"/>
              </a:lnSpc>
              <a:spcBef>
                <a:spcPct val="0"/>
              </a:spcBef>
            </a:pPr>
            <a:r>
              <a:rPr lang="en-US" sz="1799" b="1">
                <a:solidFill>
                  <a:srgbClr val="56AEFF"/>
                </a:solidFill>
                <a:latin typeface="Helvetica World Bold"/>
                <a:ea typeface="Helvetica World Bold"/>
                <a:cs typeface="Helvetica World Bold"/>
                <a:sym typeface="Helvetica World Bold"/>
              </a:rPr>
              <a:t>Co-supervisor</a:t>
            </a:r>
          </a:p>
        </p:txBody>
      </p:sp>
      <p:sp>
        <p:nvSpPr>
          <p:cNvPr id="20" name="TextBox 20"/>
          <p:cNvSpPr txBox="1"/>
          <p:nvPr/>
        </p:nvSpPr>
        <p:spPr>
          <a:xfrm>
            <a:off x="12400153" y="4806584"/>
            <a:ext cx="2062810" cy="1350645"/>
          </a:xfrm>
          <a:prstGeom prst="rect">
            <a:avLst/>
          </a:prstGeom>
        </p:spPr>
        <p:txBody>
          <a:bodyPr lIns="0" tIns="0" rIns="0" bIns="0" rtlCol="0" anchor="t">
            <a:spAutoFit/>
          </a:bodyPr>
          <a:lstStyle/>
          <a:p>
            <a:pPr algn="ctr">
              <a:lnSpc>
                <a:spcPts val="2519"/>
              </a:lnSpc>
            </a:pPr>
            <a:r>
              <a:rPr lang="en-US" sz="1799" b="1">
                <a:solidFill>
                  <a:srgbClr val="FFFFFF"/>
                </a:solidFill>
                <a:latin typeface="Helvetica World Bold"/>
                <a:ea typeface="Helvetica World Bold"/>
                <a:cs typeface="Helvetica World Bold"/>
                <a:sym typeface="Helvetica World Bold"/>
              </a:rPr>
              <a:t>Prof. Nishantha Giguruwa </a:t>
            </a:r>
          </a:p>
          <a:p>
            <a:pPr algn="ctr">
              <a:lnSpc>
                <a:spcPts val="2519"/>
              </a:lnSpc>
              <a:spcBef>
                <a:spcPct val="0"/>
              </a:spcBef>
            </a:pPr>
            <a:r>
              <a:rPr lang="en-US" sz="1799" b="1">
                <a:solidFill>
                  <a:srgbClr val="56AEFF"/>
                </a:solidFill>
                <a:latin typeface="Helvetica World Bold"/>
                <a:ea typeface="Helvetica World Bold"/>
                <a:cs typeface="Helvetica World Bold"/>
                <a:sym typeface="Helvetica World Bold"/>
              </a:rPr>
              <a:t>External-supervisor</a:t>
            </a:r>
          </a:p>
        </p:txBody>
      </p:sp>
      <p:sp>
        <p:nvSpPr>
          <p:cNvPr id="21" name="TextBox 21"/>
          <p:cNvSpPr txBox="1"/>
          <p:nvPr/>
        </p:nvSpPr>
        <p:spPr>
          <a:xfrm>
            <a:off x="6398999" y="8050998"/>
            <a:ext cx="2062810" cy="1102360"/>
          </a:xfrm>
          <a:prstGeom prst="rect">
            <a:avLst/>
          </a:prstGeom>
        </p:spPr>
        <p:txBody>
          <a:bodyPr lIns="0" tIns="0" rIns="0" bIns="0" rtlCol="0" anchor="t">
            <a:spAutoFit/>
          </a:bodyPr>
          <a:lstStyle/>
          <a:p>
            <a:pPr algn="ctr">
              <a:lnSpc>
                <a:spcPts val="2799"/>
              </a:lnSpc>
            </a:pPr>
            <a:r>
              <a:rPr lang="en-US" sz="1999" b="1">
                <a:solidFill>
                  <a:srgbClr val="FFFFFF"/>
                </a:solidFill>
                <a:latin typeface="Helvetica World Bold"/>
                <a:ea typeface="Helvetica World Bold"/>
                <a:cs typeface="Helvetica World Bold"/>
                <a:sym typeface="Helvetica World Bold"/>
              </a:rPr>
              <a:t>K.T.A.D.K Kasthurirathna</a:t>
            </a:r>
          </a:p>
          <a:p>
            <a:pPr algn="ctr">
              <a:lnSpc>
                <a:spcPts val="2519"/>
              </a:lnSpc>
              <a:spcBef>
                <a:spcPct val="0"/>
              </a:spcBef>
            </a:pPr>
            <a:r>
              <a:rPr lang="en-US" sz="1799" b="1">
                <a:solidFill>
                  <a:srgbClr val="56AEFF"/>
                </a:solidFill>
                <a:latin typeface="Helvetica World Bold"/>
                <a:ea typeface="Helvetica World Bold"/>
                <a:cs typeface="Helvetica World Bold"/>
                <a:sym typeface="Helvetica World Bold"/>
              </a:rPr>
              <a:t>Team Member</a:t>
            </a:r>
          </a:p>
        </p:txBody>
      </p:sp>
      <p:sp>
        <p:nvSpPr>
          <p:cNvPr id="22" name="TextBox 22"/>
          <p:cNvSpPr txBox="1"/>
          <p:nvPr/>
        </p:nvSpPr>
        <p:spPr>
          <a:xfrm>
            <a:off x="10500715" y="8050998"/>
            <a:ext cx="2062810" cy="1102360"/>
          </a:xfrm>
          <a:prstGeom prst="rect">
            <a:avLst/>
          </a:prstGeom>
        </p:spPr>
        <p:txBody>
          <a:bodyPr lIns="0" tIns="0" rIns="0" bIns="0" rtlCol="0" anchor="t">
            <a:spAutoFit/>
          </a:bodyPr>
          <a:lstStyle/>
          <a:p>
            <a:pPr algn="ctr">
              <a:lnSpc>
                <a:spcPts val="2799"/>
              </a:lnSpc>
            </a:pPr>
            <a:r>
              <a:rPr lang="en-US" sz="1999" b="1">
                <a:solidFill>
                  <a:srgbClr val="FFFFFF"/>
                </a:solidFill>
                <a:latin typeface="Helvetica World Bold"/>
                <a:ea typeface="Helvetica World Bold"/>
                <a:cs typeface="Helvetica World Bold"/>
                <a:sym typeface="Helvetica World Bold"/>
              </a:rPr>
              <a:t>S.U.D.A Gunasekara</a:t>
            </a:r>
          </a:p>
          <a:p>
            <a:pPr algn="ctr">
              <a:lnSpc>
                <a:spcPts val="2519"/>
              </a:lnSpc>
              <a:spcBef>
                <a:spcPct val="0"/>
              </a:spcBef>
            </a:pPr>
            <a:r>
              <a:rPr lang="en-US" sz="1799" b="1">
                <a:solidFill>
                  <a:srgbClr val="56AEFF"/>
                </a:solidFill>
                <a:latin typeface="Helvetica World Bold"/>
                <a:ea typeface="Helvetica World Bold"/>
                <a:cs typeface="Helvetica World Bold"/>
                <a:sym typeface="Helvetica World Bold"/>
              </a:rPr>
              <a:t>Team Member</a:t>
            </a:r>
          </a:p>
        </p:txBody>
      </p:sp>
      <p:sp>
        <p:nvSpPr>
          <p:cNvPr id="23" name="TextBox 23"/>
          <p:cNvSpPr txBox="1"/>
          <p:nvPr/>
        </p:nvSpPr>
        <p:spPr>
          <a:xfrm>
            <a:off x="14462963" y="8050998"/>
            <a:ext cx="2062810" cy="719455"/>
          </a:xfrm>
          <a:prstGeom prst="rect">
            <a:avLst/>
          </a:prstGeom>
        </p:spPr>
        <p:txBody>
          <a:bodyPr lIns="0" tIns="0" rIns="0" bIns="0" rtlCol="0" anchor="t">
            <a:spAutoFit/>
          </a:bodyPr>
          <a:lstStyle/>
          <a:p>
            <a:pPr algn="ctr">
              <a:lnSpc>
                <a:spcPts val="2799"/>
              </a:lnSpc>
            </a:pPr>
            <a:r>
              <a:rPr lang="en-US" sz="1999" b="1">
                <a:solidFill>
                  <a:srgbClr val="FFFFFF"/>
                </a:solidFill>
                <a:latin typeface="Helvetica World Bold"/>
                <a:ea typeface="Helvetica World Bold"/>
                <a:cs typeface="Helvetica World Bold"/>
                <a:sym typeface="Helvetica World Bold"/>
              </a:rPr>
              <a:t>B.D.A.M Kumara</a:t>
            </a:r>
          </a:p>
          <a:p>
            <a:pPr algn="ctr">
              <a:lnSpc>
                <a:spcPts val="2519"/>
              </a:lnSpc>
              <a:spcBef>
                <a:spcPct val="0"/>
              </a:spcBef>
            </a:pPr>
            <a:r>
              <a:rPr lang="en-US" sz="1799" b="1">
                <a:solidFill>
                  <a:srgbClr val="56AEFF"/>
                </a:solidFill>
                <a:latin typeface="Helvetica World Bold"/>
                <a:ea typeface="Helvetica World Bold"/>
                <a:cs typeface="Helvetica World Bold"/>
                <a:sym typeface="Helvetica World Bold"/>
              </a:rPr>
              <a:t>Team Member</a:t>
            </a:r>
          </a:p>
        </p:txBody>
      </p:sp>
      <p:sp>
        <p:nvSpPr>
          <p:cNvPr id="24" name="TextBox 24"/>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7423947" y="3082262"/>
            <a:ext cx="10105761" cy="5099685"/>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Helvetica World"/>
                <a:ea typeface="Helvetica World"/>
                <a:cs typeface="Helvetica World"/>
                <a:sym typeface="Helvetica World"/>
              </a:rPr>
              <a:t>Finding the right candidate today goes beyond resumes. Traditional hiring methods often miss crucial soft skills like confidence and stress management key factors for job success. To ensure a more efficient, unbiased and effective hiring process, innovative solutions are essential in identifying candidates who truly fit organizational needs and culture.</a:t>
            </a:r>
          </a:p>
        </p:txBody>
      </p:sp>
      <p:sp>
        <p:nvSpPr>
          <p:cNvPr id="3" name="TextBox 3"/>
          <p:cNvSpPr txBox="1"/>
          <p:nvPr/>
        </p:nvSpPr>
        <p:spPr>
          <a:xfrm>
            <a:off x="8162750" y="1257300"/>
            <a:ext cx="9096550" cy="1578937"/>
          </a:xfrm>
          <a:prstGeom prst="rect">
            <a:avLst/>
          </a:prstGeom>
        </p:spPr>
        <p:txBody>
          <a:bodyPr lIns="0" tIns="0" rIns="0" bIns="0" rtlCol="0" anchor="t">
            <a:spAutoFit/>
          </a:bodyPr>
          <a:lstStyle/>
          <a:p>
            <a:pPr algn="l">
              <a:lnSpc>
                <a:spcPts val="11780"/>
              </a:lnSpc>
            </a:pPr>
            <a:r>
              <a:rPr lang="en-US" sz="11899">
                <a:solidFill>
                  <a:srgbClr val="56AEFF"/>
                </a:solidFill>
                <a:latin typeface="Norwester"/>
                <a:ea typeface="Norwester"/>
                <a:cs typeface="Norwester"/>
                <a:sym typeface="Norwester"/>
              </a:rPr>
              <a:t>INTRODUCTION</a:t>
            </a:r>
          </a:p>
        </p:txBody>
      </p:sp>
      <p:sp>
        <p:nvSpPr>
          <p:cNvPr id="4" name="Freeform 4"/>
          <p:cNvSpPr/>
          <p:nvPr/>
        </p:nvSpPr>
        <p:spPr>
          <a:xfrm>
            <a:off x="1655337" y="3461546"/>
            <a:ext cx="4876873" cy="4426842"/>
          </a:xfrm>
          <a:custGeom>
            <a:avLst/>
            <a:gdLst/>
            <a:ahLst/>
            <a:cxnLst/>
            <a:rect l="l" t="t" r="r" b="b"/>
            <a:pathLst>
              <a:path w="4876873" h="4426842">
                <a:moveTo>
                  <a:pt x="0" y="0"/>
                </a:moveTo>
                <a:lnTo>
                  <a:pt x="4876873" y="0"/>
                </a:lnTo>
                <a:lnTo>
                  <a:pt x="4876873" y="4426841"/>
                </a:lnTo>
                <a:lnTo>
                  <a:pt x="0" y="4426841"/>
                </a:lnTo>
                <a:lnTo>
                  <a:pt x="0" y="0"/>
                </a:lnTo>
                <a:close/>
              </a:path>
            </a:pathLst>
          </a:custGeom>
          <a:blipFill>
            <a:blip r:embed="rId2"/>
            <a:stretch>
              <a:fillRect/>
            </a:stretch>
          </a:blipFill>
          <a:ln cap="rnd">
            <a:noFill/>
            <a:prstDash val="lgDash"/>
            <a:round/>
          </a:ln>
        </p:spPr>
        <p:txBody>
          <a:bodyPr/>
          <a:lstStyle/>
          <a:p>
            <a:endParaRPr lang="en-US"/>
          </a:p>
        </p:txBody>
      </p:sp>
      <p:sp>
        <p:nvSpPr>
          <p:cNvPr id="5" name="TextBox 5"/>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2989081" y="1238250"/>
            <a:ext cx="12309839" cy="1372744"/>
          </a:xfrm>
          <a:prstGeom prst="rect">
            <a:avLst/>
          </a:prstGeom>
        </p:spPr>
        <p:txBody>
          <a:bodyPr lIns="0" tIns="0" rIns="0" bIns="0" rtlCol="0" anchor="t">
            <a:spAutoFit/>
          </a:bodyPr>
          <a:lstStyle/>
          <a:p>
            <a:pPr algn="l">
              <a:lnSpc>
                <a:spcPts val="10296"/>
              </a:lnSpc>
            </a:pPr>
            <a:r>
              <a:rPr lang="en-US" sz="10400">
                <a:solidFill>
                  <a:srgbClr val="7AFFF5"/>
                </a:solidFill>
                <a:latin typeface="Norwester"/>
                <a:ea typeface="Norwester"/>
                <a:cs typeface="Norwester"/>
                <a:sym typeface="Norwester"/>
              </a:rPr>
              <a:t>RESEARCH OBJECTIVES</a:t>
            </a:r>
          </a:p>
        </p:txBody>
      </p:sp>
      <p:sp>
        <p:nvSpPr>
          <p:cNvPr id="3" name="TextBox 3"/>
          <p:cNvSpPr txBox="1"/>
          <p:nvPr/>
        </p:nvSpPr>
        <p:spPr>
          <a:xfrm>
            <a:off x="1637256" y="2973661"/>
            <a:ext cx="15013489" cy="2879725"/>
          </a:xfrm>
          <a:prstGeom prst="rect">
            <a:avLst/>
          </a:prstGeom>
        </p:spPr>
        <p:txBody>
          <a:bodyPr lIns="0" tIns="0" rIns="0" bIns="0" rtlCol="0" anchor="t">
            <a:spAutoFit/>
          </a:bodyPr>
          <a:lstStyle/>
          <a:p>
            <a:pPr algn="l">
              <a:lnSpc>
                <a:spcPts val="4480"/>
              </a:lnSpc>
            </a:pPr>
            <a:r>
              <a:rPr lang="en-US" sz="3200">
                <a:solidFill>
                  <a:srgbClr val="FFFFFF"/>
                </a:solidFill>
                <a:latin typeface="Helvetica World"/>
                <a:ea typeface="Helvetica World"/>
                <a:cs typeface="Helvetica World"/>
                <a:sym typeface="Helvetica World"/>
              </a:rPr>
              <a:t>Design and implement an intelligent system that evaluates candidates’ soft skills including confidence (via voice tone, eye engagement, and hand gestures) and stress levels (via facial expressions) to provide personalized job-candidate matching and help organizations select the most suitable candidate for a vacancy.</a:t>
            </a:r>
          </a:p>
          <a:p>
            <a:pPr algn="l">
              <a:lnSpc>
                <a:spcPts val="2519"/>
              </a:lnSpc>
            </a:pPr>
            <a:endParaRPr lang="en-US" sz="3200">
              <a:solidFill>
                <a:srgbClr val="FFFFFF"/>
              </a:solidFill>
              <a:latin typeface="Helvetica World"/>
              <a:ea typeface="Helvetica World"/>
              <a:cs typeface="Helvetica World"/>
              <a:sym typeface="Helvetica World"/>
            </a:endParaRPr>
          </a:p>
          <a:p>
            <a:pPr algn="l">
              <a:lnSpc>
                <a:spcPts val="2519"/>
              </a:lnSpc>
            </a:pPr>
            <a:endParaRPr lang="en-US" sz="3200">
              <a:solidFill>
                <a:srgbClr val="FFFFFF"/>
              </a:solidFill>
              <a:latin typeface="Helvetica World"/>
              <a:ea typeface="Helvetica World"/>
              <a:cs typeface="Helvetica World"/>
              <a:sym typeface="Helvetica World"/>
            </a:endParaRPr>
          </a:p>
        </p:txBody>
      </p:sp>
      <p:sp>
        <p:nvSpPr>
          <p:cNvPr id="4" name="Freeform 4"/>
          <p:cNvSpPr/>
          <p:nvPr/>
        </p:nvSpPr>
        <p:spPr>
          <a:xfrm>
            <a:off x="583513" y="6415361"/>
            <a:ext cx="8936838" cy="8769273"/>
          </a:xfrm>
          <a:custGeom>
            <a:avLst/>
            <a:gdLst/>
            <a:ahLst/>
            <a:cxnLst/>
            <a:rect l="l" t="t" r="r" b="b"/>
            <a:pathLst>
              <a:path w="8936838" h="8769273">
                <a:moveTo>
                  <a:pt x="0" y="0"/>
                </a:moveTo>
                <a:lnTo>
                  <a:pt x="8936839" y="0"/>
                </a:lnTo>
                <a:lnTo>
                  <a:pt x="8936839" y="8769273"/>
                </a:lnTo>
                <a:lnTo>
                  <a:pt x="0" y="8769273"/>
                </a:lnTo>
                <a:lnTo>
                  <a:pt x="0" y="0"/>
                </a:lnTo>
                <a:close/>
              </a:path>
            </a:pathLst>
          </a:custGeom>
          <a:blipFill>
            <a:blip r:embed="rId2"/>
            <a:stretch>
              <a:fillRect/>
            </a:stretch>
          </a:blipFill>
        </p:spPr>
        <p:txBody>
          <a:bodyPr/>
          <a:lstStyle/>
          <a:p>
            <a:endParaRPr lang="en-US"/>
          </a:p>
        </p:txBody>
      </p:sp>
      <p:sp>
        <p:nvSpPr>
          <p:cNvPr id="5" name="Freeform 5"/>
          <p:cNvSpPr/>
          <p:nvPr/>
        </p:nvSpPr>
        <p:spPr>
          <a:xfrm rot="-10800000">
            <a:off x="10004472" y="5902364"/>
            <a:ext cx="8936838" cy="8769273"/>
          </a:xfrm>
          <a:custGeom>
            <a:avLst/>
            <a:gdLst/>
            <a:ahLst/>
            <a:cxnLst/>
            <a:rect l="l" t="t" r="r" b="b"/>
            <a:pathLst>
              <a:path w="8936838" h="8769273">
                <a:moveTo>
                  <a:pt x="0" y="0"/>
                </a:moveTo>
                <a:lnTo>
                  <a:pt x="8936838" y="0"/>
                </a:lnTo>
                <a:lnTo>
                  <a:pt x="8936838" y="8769272"/>
                </a:lnTo>
                <a:lnTo>
                  <a:pt x="0" y="8769272"/>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3144647" y="623160"/>
            <a:ext cx="13855449" cy="9040680"/>
          </a:xfrm>
          <a:custGeom>
            <a:avLst/>
            <a:gdLst/>
            <a:ahLst/>
            <a:cxnLst/>
            <a:rect l="l" t="t" r="r" b="b"/>
            <a:pathLst>
              <a:path w="13855449" h="9040680">
                <a:moveTo>
                  <a:pt x="0" y="0"/>
                </a:moveTo>
                <a:lnTo>
                  <a:pt x="13855449" y="0"/>
                </a:lnTo>
                <a:lnTo>
                  <a:pt x="13855449" y="9040680"/>
                </a:lnTo>
                <a:lnTo>
                  <a:pt x="0" y="9040680"/>
                </a:lnTo>
                <a:lnTo>
                  <a:pt x="0" y="0"/>
                </a:lnTo>
                <a:close/>
              </a:path>
            </a:pathLst>
          </a:custGeom>
          <a:blipFill>
            <a:blip r:embed="rId2"/>
            <a:stretch>
              <a:fillRect/>
            </a:stretch>
          </a:blipFill>
        </p:spPr>
        <p:txBody>
          <a:bodyPr/>
          <a:lstStyle/>
          <a:p>
            <a:endParaRPr lang="en-US"/>
          </a:p>
        </p:txBody>
      </p:sp>
      <p:sp>
        <p:nvSpPr>
          <p:cNvPr id="3" name="TextBox 3"/>
          <p:cNvSpPr txBox="1"/>
          <p:nvPr/>
        </p:nvSpPr>
        <p:spPr>
          <a:xfrm rot="-5400000">
            <a:off x="-2334838" y="4315206"/>
            <a:ext cx="8612265" cy="1656588"/>
          </a:xfrm>
          <a:prstGeom prst="rect">
            <a:avLst/>
          </a:prstGeom>
        </p:spPr>
        <p:txBody>
          <a:bodyPr lIns="0" tIns="0" rIns="0" bIns="0" rtlCol="0" anchor="t">
            <a:spAutoFit/>
          </a:bodyPr>
          <a:lstStyle/>
          <a:p>
            <a:pPr algn="ctr">
              <a:lnSpc>
                <a:spcPts val="6335"/>
              </a:lnSpc>
            </a:pPr>
            <a:r>
              <a:rPr lang="en-US" sz="6399">
                <a:solidFill>
                  <a:srgbClr val="7AFFF5"/>
                </a:solidFill>
                <a:latin typeface="Norwester"/>
                <a:ea typeface="Norwester"/>
                <a:cs typeface="Norwester"/>
                <a:sym typeface="Norwester"/>
              </a:rPr>
              <a:t> systEM OVERVIEW DIAGRAM</a:t>
            </a:r>
          </a:p>
        </p:txBody>
      </p:sp>
      <p:sp>
        <p:nvSpPr>
          <p:cNvPr id="4" name="TextBox 4"/>
          <p:cNvSpPr txBox="1"/>
          <p:nvPr/>
        </p:nvSpPr>
        <p:spPr>
          <a:xfrm>
            <a:off x="15780451" y="952583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5106414" y="7855559"/>
            <a:ext cx="9065657" cy="1038225"/>
          </a:xfrm>
          <a:prstGeom prst="rect">
            <a:avLst/>
          </a:prstGeom>
        </p:spPr>
        <p:txBody>
          <a:bodyPr lIns="0" tIns="0" rIns="0" bIns="0" rtlCol="0" anchor="t">
            <a:spAutoFit/>
          </a:bodyPr>
          <a:lstStyle/>
          <a:p>
            <a:pPr algn="ctr">
              <a:lnSpc>
                <a:spcPts val="4199"/>
              </a:lnSpc>
              <a:spcBef>
                <a:spcPct val="0"/>
              </a:spcBef>
            </a:pPr>
            <a:r>
              <a:rPr lang="en-US" sz="2999">
                <a:solidFill>
                  <a:srgbClr val="7AFFF5"/>
                </a:solidFill>
                <a:latin typeface="Norwester"/>
                <a:ea typeface="Norwester"/>
                <a:cs typeface="Norwester"/>
                <a:sym typeface="Norwester"/>
              </a:rPr>
              <a:t>BACHELOR OF SCIENCE (HONS) IN INFORMATION TECHNOLOGY </a:t>
            </a:r>
          </a:p>
          <a:p>
            <a:pPr algn="ctr">
              <a:lnSpc>
                <a:spcPts val="4199"/>
              </a:lnSpc>
              <a:spcBef>
                <a:spcPct val="0"/>
              </a:spcBef>
            </a:pPr>
            <a:r>
              <a:rPr lang="en-US" sz="2999">
                <a:solidFill>
                  <a:srgbClr val="7AFFF5"/>
                </a:solidFill>
                <a:latin typeface="Norwester"/>
                <a:ea typeface="Norwester"/>
                <a:cs typeface="Norwester"/>
                <a:sym typeface="Norwester"/>
              </a:rPr>
              <a:t>SPECIALIZING IN INFORMATION TECHNOLOGY</a:t>
            </a:r>
          </a:p>
        </p:txBody>
      </p:sp>
      <p:sp>
        <p:nvSpPr>
          <p:cNvPr id="3" name="TextBox 3"/>
          <p:cNvSpPr txBox="1"/>
          <p:nvPr/>
        </p:nvSpPr>
        <p:spPr>
          <a:xfrm>
            <a:off x="5569863" y="933450"/>
            <a:ext cx="7148275" cy="821055"/>
          </a:xfrm>
          <a:prstGeom prst="rect">
            <a:avLst/>
          </a:prstGeom>
        </p:spPr>
        <p:txBody>
          <a:bodyPr lIns="0" tIns="0" rIns="0" bIns="0" rtlCol="0" anchor="t">
            <a:spAutoFit/>
          </a:bodyPr>
          <a:lstStyle/>
          <a:p>
            <a:pPr algn="ctr">
              <a:lnSpc>
                <a:spcPts val="6719"/>
              </a:lnSpc>
              <a:spcBef>
                <a:spcPct val="0"/>
              </a:spcBef>
            </a:pPr>
            <a:r>
              <a:rPr lang="en-US" sz="4800">
                <a:solidFill>
                  <a:srgbClr val="7AFFF5"/>
                </a:solidFill>
                <a:latin typeface="Norwester"/>
                <a:ea typeface="Norwester"/>
                <a:cs typeface="Norwester"/>
                <a:sym typeface="Norwester"/>
              </a:rPr>
              <a:t>IT21834424 | DE SILVA R.S.K</a:t>
            </a:r>
          </a:p>
        </p:txBody>
      </p:sp>
      <p:sp>
        <p:nvSpPr>
          <p:cNvPr id="4" name="TextBox 4"/>
          <p:cNvSpPr txBox="1"/>
          <p:nvPr/>
        </p:nvSpPr>
        <p:spPr>
          <a:xfrm>
            <a:off x="4288781" y="1940787"/>
            <a:ext cx="10090100" cy="1668780"/>
          </a:xfrm>
          <a:prstGeom prst="rect">
            <a:avLst/>
          </a:prstGeom>
        </p:spPr>
        <p:txBody>
          <a:bodyPr lIns="0" tIns="0" rIns="0" bIns="0" rtlCol="0" anchor="t">
            <a:spAutoFit/>
          </a:bodyPr>
          <a:lstStyle/>
          <a:p>
            <a:pPr algn="ctr">
              <a:lnSpc>
                <a:spcPts val="6719"/>
              </a:lnSpc>
            </a:pPr>
            <a:r>
              <a:rPr lang="en-US" sz="4800">
                <a:solidFill>
                  <a:srgbClr val="FFFFFF"/>
                </a:solidFill>
                <a:latin typeface="Norwester"/>
                <a:ea typeface="Norwester"/>
                <a:cs typeface="Norwester"/>
                <a:sym typeface="Norwester"/>
              </a:rPr>
              <a:t>COMPONENT 01: Predict the Confident</a:t>
            </a:r>
          </a:p>
          <a:p>
            <a:pPr algn="ctr">
              <a:lnSpc>
                <a:spcPts val="6719"/>
              </a:lnSpc>
            </a:pPr>
            <a:r>
              <a:rPr lang="en-US" sz="4800">
                <a:solidFill>
                  <a:srgbClr val="FFFFFF"/>
                </a:solidFill>
                <a:latin typeface="Norwester"/>
                <a:ea typeface="Norwester"/>
                <a:cs typeface="Norwester"/>
                <a:sym typeface="Norwester"/>
              </a:rPr>
              <a:t>level through speech &amp; tone analysis</a:t>
            </a:r>
          </a:p>
        </p:txBody>
      </p:sp>
      <p:sp>
        <p:nvSpPr>
          <p:cNvPr id="5" name="TextBox 5"/>
          <p:cNvSpPr txBox="1"/>
          <p:nvPr/>
        </p:nvSpPr>
        <p:spPr>
          <a:xfrm>
            <a:off x="7353300" y="9442132"/>
            <a:ext cx="4932045" cy="415290"/>
          </a:xfrm>
          <a:prstGeom prst="rect">
            <a:avLst/>
          </a:prstGeom>
        </p:spPr>
        <p:txBody>
          <a:bodyPr lIns="0" tIns="0" rIns="0" bIns="0" rtlCol="0" anchor="t">
            <a:spAutoFit/>
          </a:bodyPr>
          <a:lstStyle/>
          <a:p>
            <a:pPr algn="ctr">
              <a:lnSpc>
                <a:spcPts val="3359"/>
              </a:lnSpc>
              <a:spcBef>
                <a:spcPct val="0"/>
              </a:spcBef>
            </a:pPr>
            <a:r>
              <a:rPr lang="en-US" sz="2400">
                <a:solidFill>
                  <a:srgbClr val="FFFFFF"/>
                </a:solidFill>
                <a:latin typeface="Norwester"/>
                <a:ea typeface="Norwester"/>
                <a:cs typeface="Norwester"/>
                <a:sym typeface="Norwester"/>
              </a:rPr>
              <a:t>IT21834424 | DE SILVA R.S.K | R25-040</a:t>
            </a:r>
          </a:p>
        </p:txBody>
      </p:sp>
      <p:sp>
        <p:nvSpPr>
          <p:cNvPr id="6" name="Freeform 6"/>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2"/>
            <a:stretch>
              <a:fillRect/>
            </a:stretch>
          </a:blipFill>
        </p:spPr>
        <p:txBody>
          <a:bodyPr/>
          <a:lstStyle/>
          <a:p>
            <a:endParaRPr lang="en-US"/>
          </a:p>
        </p:txBody>
      </p:sp>
      <p:sp>
        <p:nvSpPr>
          <p:cNvPr id="7" name="Freeform 7"/>
          <p:cNvSpPr/>
          <p:nvPr/>
        </p:nvSpPr>
        <p:spPr>
          <a:xfrm>
            <a:off x="3493371" y="4037239"/>
            <a:ext cx="11301259" cy="2938327"/>
          </a:xfrm>
          <a:custGeom>
            <a:avLst/>
            <a:gdLst/>
            <a:ahLst/>
            <a:cxnLst/>
            <a:rect l="l" t="t" r="r" b="b"/>
            <a:pathLst>
              <a:path w="11301259" h="2938327">
                <a:moveTo>
                  <a:pt x="0" y="0"/>
                </a:moveTo>
                <a:lnTo>
                  <a:pt x="11301258" y="0"/>
                </a:lnTo>
                <a:lnTo>
                  <a:pt x="11301258" y="2938327"/>
                </a:lnTo>
                <a:lnTo>
                  <a:pt x="0" y="2938327"/>
                </a:lnTo>
                <a:lnTo>
                  <a:pt x="0" y="0"/>
                </a:lnTo>
                <a:close/>
              </a:path>
            </a:pathLst>
          </a:custGeom>
          <a:blipFill>
            <a:blip r:embed="rId3"/>
            <a:stretch>
              <a:fillRect/>
            </a:stretch>
          </a:blipFill>
        </p:spPr>
        <p:txBody>
          <a:bodyPr/>
          <a:lstStyle/>
          <a:p>
            <a:endParaRPr lang="en-US"/>
          </a:p>
        </p:txBody>
      </p:sp>
      <p:sp>
        <p:nvSpPr>
          <p:cNvPr id="8" name="TextBox 8"/>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825552" y="1426296"/>
            <a:ext cx="14636895" cy="1275207"/>
          </a:xfrm>
          <a:prstGeom prst="rect">
            <a:avLst/>
          </a:prstGeom>
        </p:spPr>
        <p:txBody>
          <a:bodyPr lIns="0" tIns="0" rIns="0" bIns="0" rtlCol="0" anchor="t">
            <a:spAutoFit/>
          </a:bodyPr>
          <a:lstStyle/>
          <a:p>
            <a:pPr algn="l">
              <a:lnSpc>
                <a:spcPts val="9504"/>
              </a:lnSpc>
            </a:pPr>
            <a:r>
              <a:rPr lang="en-US" sz="9600">
                <a:solidFill>
                  <a:srgbClr val="7AFFF5"/>
                </a:solidFill>
                <a:latin typeface="Norwester"/>
                <a:ea typeface="Norwester"/>
                <a:cs typeface="Norwester"/>
                <a:sym typeface="Norwester"/>
              </a:rPr>
              <a:t>SUMMARY OF THE COMPONENT </a:t>
            </a:r>
          </a:p>
        </p:txBody>
      </p:sp>
      <p:sp>
        <p:nvSpPr>
          <p:cNvPr id="3" name="Freeform 3"/>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2"/>
            <a:stretch>
              <a:fillRect/>
            </a:stretch>
          </a:blipFill>
        </p:spPr>
        <p:txBody>
          <a:bodyPr/>
          <a:lstStyle/>
          <a:p>
            <a:endParaRPr lang="en-US"/>
          </a:p>
        </p:txBody>
      </p:sp>
      <p:sp>
        <p:nvSpPr>
          <p:cNvPr id="4" name="TextBox 4"/>
          <p:cNvSpPr txBox="1"/>
          <p:nvPr/>
        </p:nvSpPr>
        <p:spPr>
          <a:xfrm>
            <a:off x="6120289" y="9432607"/>
            <a:ext cx="7398068"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IT21834424 | DE SILVA R.S.K | R25-040</a:t>
            </a:r>
          </a:p>
        </p:txBody>
      </p:sp>
      <p:sp>
        <p:nvSpPr>
          <p:cNvPr id="5" name="Freeform 5"/>
          <p:cNvSpPr/>
          <p:nvPr/>
        </p:nvSpPr>
        <p:spPr>
          <a:xfrm>
            <a:off x="9783509" y="3415532"/>
            <a:ext cx="4475995" cy="1473009"/>
          </a:xfrm>
          <a:custGeom>
            <a:avLst/>
            <a:gdLst/>
            <a:ahLst/>
            <a:cxnLst/>
            <a:rect l="l" t="t" r="r" b="b"/>
            <a:pathLst>
              <a:path w="4475995" h="1473009">
                <a:moveTo>
                  <a:pt x="0" y="0"/>
                </a:moveTo>
                <a:lnTo>
                  <a:pt x="4475995" y="0"/>
                </a:lnTo>
                <a:lnTo>
                  <a:pt x="4475995" y="1473009"/>
                </a:lnTo>
                <a:lnTo>
                  <a:pt x="0" y="14730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9783509" y="6270844"/>
            <a:ext cx="4475995" cy="1473009"/>
          </a:xfrm>
          <a:custGeom>
            <a:avLst/>
            <a:gdLst/>
            <a:ahLst/>
            <a:cxnLst/>
            <a:rect l="l" t="t" r="r" b="b"/>
            <a:pathLst>
              <a:path w="4475995" h="1473009">
                <a:moveTo>
                  <a:pt x="0" y="0"/>
                </a:moveTo>
                <a:lnTo>
                  <a:pt x="4475995" y="0"/>
                </a:lnTo>
                <a:lnTo>
                  <a:pt x="4475995" y="1473009"/>
                </a:lnTo>
                <a:lnTo>
                  <a:pt x="0" y="14730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3832340" y="7007348"/>
            <a:ext cx="4475995" cy="1473009"/>
          </a:xfrm>
          <a:custGeom>
            <a:avLst/>
            <a:gdLst/>
            <a:ahLst/>
            <a:cxnLst/>
            <a:rect l="l" t="t" r="r" b="b"/>
            <a:pathLst>
              <a:path w="4475995" h="1473009">
                <a:moveTo>
                  <a:pt x="0" y="0"/>
                </a:moveTo>
                <a:lnTo>
                  <a:pt x="4475994" y="0"/>
                </a:lnTo>
                <a:lnTo>
                  <a:pt x="4475994" y="1473010"/>
                </a:lnTo>
                <a:lnTo>
                  <a:pt x="0" y="14730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a:off x="3320813" y="4152036"/>
            <a:ext cx="4475995" cy="1473009"/>
          </a:xfrm>
          <a:custGeom>
            <a:avLst/>
            <a:gdLst/>
            <a:ahLst/>
            <a:cxnLst/>
            <a:rect l="l" t="t" r="r" b="b"/>
            <a:pathLst>
              <a:path w="4475995" h="1473009">
                <a:moveTo>
                  <a:pt x="0" y="0"/>
                </a:moveTo>
                <a:lnTo>
                  <a:pt x="4475995" y="0"/>
                </a:lnTo>
                <a:lnTo>
                  <a:pt x="4475995" y="1473010"/>
                </a:lnTo>
                <a:lnTo>
                  <a:pt x="0" y="14730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TextBox 9"/>
          <p:cNvSpPr txBox="1"/>
          <p:nvPr/>
        </p:nvSpPr>
        <p:spPr>
          <a:xfrm>
            <a:off x="3320813" y="4548499"/>
            <a:ext cx="4475995"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BACKGROUND</a:t>
            </a:r>
          </a:p>
        </p:txBody>
      </p:sp>
      <p:sp>
        <p:nvSpPr>
          <p:cNvPr id="10" name="TextBox 10"/>
          <p:cNvSpPr txBox="1"/>
          <p:nvPr/>
        </p:nvSpPr>
        <p:spPr>
          <a:xfrm>
            <a:off x="3832340" y="7403811"/>
            <a:ext cx="4475995"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OBJECTIVES</a:t>
            </a:r>
          </a:p>
        </p:txBody>
      </p:sp>
      <p:sp>
        <p:nvSpPr>
          <p:cNvPr id="11" name="TextBox 11"/>
          <p:cNvSpPr txBox="1"/>
          <p:nvPr/>
        </p:nvSpPr>
        <p:spPr>
          <a:xfrm>
            <a:off x="10674314" y="3904834"/>
            <a:ext cx="2965486" cy="573234"/>
          </a:xfrm>
          <a:prstGeom prst="rect">
            <a:avLst/>
          </a:prstGeom>
        </p:spPr>
        <p:txBody>
          <a:bodyPr wrap="square" lIns="0" tIns="0" rIns="0" bIns="0" rtlCol="0" anchor="t">
            <a:spAutoFit/>
          </a:bodyPr>
          <a:lstStyle/>
          <a:p>
            <a:pPr algn="ctr">
              <a:lnSpc>
                <a:spcPts val="5040"/>
              </a:lnSpc>
              <a:spcBef>
                <a:spcPct val="0"/>
              </a:spcBef>
            </a:pPr>
            <a:r>
              <a:rPr lang="en-US" sz="3600" dirty="0">
                <a:solidFill>
                  <a:srgbClr val="FFFFFF"/>
                </a:solidFill>
                <a:latin typeface="Norwester"/>
                <a:ea typeface="Norwester"/>
                <a:cs typeface="Norwester"/>
                <a:sym typeface="Norwester"/>
              </a:rPr>
              <a:t>RESEARCH GAP</a:t>
            </a:r>
          </a:p>
        </p:txBody>
      </p:sp>
      <p:sp>
        <p:nvSpPr>
          <p:cNvPr id="12" name="TextBox 12"/>
          <p:cNvSpPr txBox="1"/>
          <p:nvPr/>
        </p:nvSpPr>
        <p:spPr>
          <a:xfrm>
            <a:off x="10277400" y="6668721"/>
            <a:ext cx="3743400" cy="573234"/>
          </a:xfrm>
          <a:prstGeom prst="rect">
            <a:avLst/>
          </a:prstGeom>
        </p:spPr>
        <p:txBody>
          <a:bodyPr wrap="square" lIns="0" tIns="0" rIns="0" bIns="0" rtlCol="0" anchor="t">
            <a:spAutoFit/>
          </a:bodyPr>
          <a:lstStyle/>
          <a:p>
            <a:pPr algn="ctr">
              <a:lnSpc>
                <a:spcPts val="5040"/>
              </a:lnSpc>
              <a:spcBef>
                <a:spcPct val="0"/>
              </a:spcBef>
            </a:pPr>
            <a:r>
              <a:rPr lang="en-US" sz="3600" dirty="0">
                <a:solidFill>
                  <a:srgbClr val="FFFFFF"/>
                </a:solidFill>
                <a:latin typeface="Norwester"/>
                <a:ea typeface="Norwester"/>
                <a:cs typeface="Norwester"/>
                <a:sym typeface="Norwester"/>
              </a:rPr>
              <a:t>RESEARCH QUESTION</a:t>
            </a:r>
          </a:p>
        </p:txBody>
      </p:sp>
      <p:sp>
        <p:nvSpPr>
          <p:cNvPr id="13" name="TextBox 13"/>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3425225" y="2408392"/>
            <a:ext cx="13054245" cy="6249720"/>
          </a:xfrm>
          <a:custGeom>
            <a:avLst/>
            <a:gdLst/>
            <a:ahLst/>
            <a:cxnLst/>
            <a:rect l="l" t="t" r="r" b="b"/>
            <a:pathLst>
              <a:path w="13054245" h="6249720">
                <a:moveTo>
                  <a:pt x="0" y="0"/>
                </a:moveTo>
                <a:lnTo>
                  <a:pt x="13054245" y="0"/>
                </a:lnTo>
                <a:lnTo>
                  <a:pt x="13054245" y="6249720"/>
                </a:lnTo>
                <a:lnTo>
                  <a:pt x="0" y="624972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3425225" y="689133"/>
            <a:ext cx="12788196" cy="1584199"/>
          </a:xfrm>
          <a:prstGeom prst="rect">
            <a:avLst/>
          </a:prstGeom>
        </p:spPr>
        <p:txBody>
          <a:bodyPr lIns="0" tIns="0" rIns="0" bIns="0" rtlCol="0" anchor="t">
            <a:spAutoFit/>
          </a:bodyPr>
          <a:lstStyle/>
          <a:p>
            <a:pPr algn="ctr">
              <a:lnSpc>
                <a:spcPts val="11781"/>
              </a:lnSpc>
            </a:pPr>
            <a:r>
              <a:rPr lang="en-US" sz="11900">
                <a:solidFill>
                  <a:srgbClr val="7AFFF5"/>
                </a:solidFill>
                <a:latin typeface="Norwester"/>
                <a:ea typeface="Norwester"/>
                <a:cs typeface="Norwester"/>
                <a:sym typeface="Norwester"/>
              </a:rPr>
              <a:t>SYSTEM DIAGRAM </a:t>
            </a:r>
          </a:p>
        </p:txBody>
      </p:sp>
      <p:sp>
        <p:nvSpPr>
          <p:cNvPr id="4" name="Freeform 4"/>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6120289" y="9432607"/>
            <a:ext cx="7398068"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IT21834424 | DE SILVA R.S.K | R25-040</a:t>
            </a:r>
          </a:p>
        </p:txBody>
      </p:sp>
      <p:sp>
        <p:nvSpPr>
          <p:cNvPr id="6" name="TextBox 6"/>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6323164" y="501638"/>
            <a:ext cx="6339483" cy="1104265"/>
          </a:xfrm>
          <a:prstGeom prst="rect">
            <a:avLst/>
          </a:prstGeom>
        </p:spPr>
        <p:txBody>
          <a:bodyPr lIns="0" tIns="0" rIns="0" bIns="0" rtlCol="0" anchor="t">
            <a:spAutoFit/>
          </a:bodyPr>
          <a:lstStyle/>
          <a:p>
            <a:pPr algn="ctr">
              <a:lnSpc>
                <a:spcPts val="8959"/>
              </a:lnSpc>
              <a:spcBef>
                <a:spcPct val="0"/>
              </a:spcBef>
            </a:pPr>
            <a:r>
              <a:rPr lang="en-US" sz="6399">
                <a:solidFill>
                  <a:srgbClr val="7AFFF5"/>
                </a:solidFill>
                <a:latin typeface="Norwester"/>
                <a:ea typeface="Norwester"/>
                <a:cs typeface="Norwester"/>
                <a:sym typeface="Norwester"/>
              </a:rPr>
              <a:t>CURRENT PROGRESS</a:t>
            </a:r>
          </a:p>
        </p:txBody>
      </p:sp>
      <p:sp>
        <p:nvSpPr>
          <p:cNvPr id="3" name="TextBox 3"/>
          <p:cNvSpPr txBox="1"/>
          <p:nvPr/>
        </p:nvSpPr>
        <p:spPr>
          <a:xfrm>
            <a:off x="701688" y="2482204"/>
            <a:ext cx="4874332" cy="1455420"/>
          </a:xfrm>
          <a:prstGeom prst="rect">
            <a:avLst/>
          </a:prstGeom>
        </p:spPr>
        <p:txBody>
          <a:bodyPr lIns="0" tIns="0" rIns="0" bIns="0" rtlCol="0" anchor="t">
            <a:spAutoFit/>
          </a:bodyPr>
          <a:lstStyle/>
          <a:p>
            <a:pPr algn="ctr">
              <a:lnSpc>
                <a:spcPts val="5880"/>
              </a:lnSpc>
            </a:pPr>
            <a:r>
              <a:rPr lang="en-US" sz="4200">
                <a:solidFill>
                  <a:srgbClr val="FFFFFF"/>
                </a:solidFill>
                <a:latin typeface="Norwester"/>
                <a:ea typeface="Norwester"/>
                <a:cs typeface="Norwester"/>
                <a:sym typeface="Norwester"/>
              </a:rPr>
              <a:t>Data gathering &amp; Analyzing</a:t>
            </a:r>
          </a:p>
        </p:txBody>
      </p:sp>
      <p:pic>
        <p:nvPicPr>
          <p:cNvPr id="4" name="Picture 4"/>
          <p:cNvPicPr>
            <a:picLocks noChangeAspect="1"/>
          </p:cNvPicPr>
          <p:nvPr/>
        </p:nvPicPr>
        <p:blipFill>
          <a:blip r:embed="rId2"/>
          <a:stretch>
            <a:fillRect/>
          </a:stretch>
        </p:blipFill>
        <p:spPr>
          <a:xfrm>
            <a:off x="1682070" y="4620650"/>
            <a:ext cx="3247870" cy="3247870"/>
          </a:xfrm>
          <a:prstGeom prst="rect">
            <a:avLst/>
          </a:prstGeom>
        </p:spPr>
      </p:pic>
      <p:sp>
        <p:nvSpPr>
          <p:cNvPr id="5" name="TextBox 5"/>
          <p:cNvSpPr txBox="1"/>
          <p:nvPr/>
        </p:nvSpPr>
        <p:spPr>
          <a:xfrm>
            <a:off x="7680864" y="2482204"/>
            <a:ext cx="3907155" cy="1455420"/>
          </a:xfrm>
          <a:prstGeom prst="rect">
            <a:avLst/>
          </a:prstGeom>
        </p:spPr>
        <p:txBody>
          <a:bodyPr lIns="0" tIns="0" rIns="0" bIns="0" rtlCol="0" anchor="t">
            <a:spAutoFit/>
          </a:bodyPr>
          <a:lstStyle/>
          <a:p>
            <a:pPr algn="ctr">
              <a:lnSpc>
                <a:spcPts val="5880"/>
              </a:lnSpc>
            </a:pPr>
            <a:r>
              <a:rPr lang="en-US" sz="4200">
                <a:solidFill>
                  <a:srgbClr val="FFFFFF"/>
                </a:solidFill>
                <a:latin typeface="Norwester"/>
                <a:ea typeface="Norwester"/>
                <a:cs typeface="Norwester"/>
                <a:sym typeface="Norwester"/>
              </a:rPr>
              <a:t>preprocessing &amp; </a:t>
            </a:r>
          </a:p>
          <a:p>
            <a:pPr algn="ctr">
              <a:lnSpc>
                <a:spcPts val="5880"/>
              </a:lnSpc>
            </a:pPr>
            <a:r>
              <a:rPr lang="en-US" sz="4200">
                <a:solidFill>
                  <a:srgbClr val="FFFFFF"/>
                </a:solidFill>
                <a:latin typeface="Norwester"/>
                <a:ea typeface="Norwester"/>
                <a:cs typeface="Norwester"/>
                <a:sym typeface="Norwester"/>
              </a:rPr>
              <a:t>model training </a:t>
            </a:r>
          </a:p>
        </p:txBody>
      </p:sp>
      <p:pic>
        <p:nvPicPr>
          <p:cNvPr id="6" name="Picture 6"/>
          <p:cNvPicPr>
            <a:picLocks noChangeAspect="1"/>
          </p:cNvPicPr>
          <p:nvPr/>
        </p:nvPicPr>
        <p:blipFill>
          <a:blip r:embed="rId3"/>
          <a:stretch>
            <a:fillRect/>
          </a:stretch>
        </p:blipFill>
        <p:spPr>
          <a:xfrm>
            <a:off x="8027704" y="4620287"/>
            <a:ext cx="3252224" cy="3252224"/>
          </a:xfrm>
          <a:prstGeom prst="rect">
            <a:avLst/>
          </a:prstGeom>
        </p:spPr>
      </p:pic>
      <p:sp>
        <p:nvSpPr>
          <p:cNvPr id="7" name="TextBox 7"/>
          <p:cNvSpPr txBox="1"/>
          <p:nvPr/>
        </p:nvSpPr>
        <p:spPr>
          <a:xfrm>
            <a:off x="13536972" y="2482204"/>
            <a:ext cx="3722328" cy="1455420"/>
          </a:xfrm>
          <a:prstGeom prst="rect">
            <a:avLst/>
          </a:prstGeom>
        </p:spPr>
        <p:txBody>
          <a:bodyPr lIns="0" tIns="0" rIns="0" bIns="0" rtlCol="0" anchor="t">
            <a:spAutoFit/>
          </a:bodyPr>
          <a:lstStyle/>
          <a:p>
            <a:pPr algn="ctr">
              <a:lnSpc>
                <a:spcPts val="5880"/>
              </a:lnSpc>
            </a:pPr>
            <a:r>
              <a:rPr lang="en-US" sz="4200">
                <a:solidFill>
                  <a:srgbClr val="FFFFFF"/>
                </a:solidFill>
                <a:latin typeface="Norwester"/>
                <a:ea typeface="Norwester"/>
                <a:cs typeface="Norwester"/>
                <a:sym typeface="Norwester"/>
              </a:rPr>
              <a:t>testing Model accuracy </a:t>
            </a:r>
          </a:p>
        </p:txBody>
      </p:sp>
      <p:pic>
        <p:nvPicPr>
          <p:cNvPr id="8" name="Picture 8"/>
          <p:cNvPicPr>
            <a:picLocks noChangeAspect="1"/>
          </p:cNvPicPr>
          <p:nvPr/>
        </p:nvPicPr>
        <p:blipFill>
          <a:blip r:embed="rId4"/>
          <a:stretch>
            <a:fillRect/>
          </a:stretch>
        </p:blipFill>
        <p:spPr>
          <a:xfrm>
            <a:off x="13937660" y="4632751"/>
            <a:ext cx="3223668" cy="3223668"/>
          </a:xfrm>
          <a:prstGeom prst="rect">
            <a:avLst/>
          </a:prstGeom>
        </p:spPr>
      </p:pic>
      <p:sp>
        <p:nvSpPr>
          <p:cNvPr id="9" name="TextBox 9"/>
          <p:cNvSpPr txBox="1"/>
          <p:nvPr/>
        </p:nvSpPr>
        <p:spPr>
          <a:xfrm>
            <a:off x="9239607" y="5953563"/>
            <a:ext cx="894993" cy="480068"/>
          </a:xfrm>
          <a:prstGeom prst="rect">
            <a:avLst/>
          </a:prstGeom>
        </p:spPr>
        <p:txBody>
          <a:bodyPr wrap="square" lIns="0" tIns="0" rIns="0" bIns="0" rtlCol="0" anchor="t">
            <a:spAutoFit/>
          </a:bodyPr>
          <a:lstStyle/>
          <a:p>
            <a:pPr algn="ctr">
              <a:lnSpc>
                <a:spcPts val="4154"/>
              </a:lnSpc>
            </a:pPr>
            <a:r>
              <a:rPr lang="en-US" sz="2967" dirty="0">
                <a:solidFill>
                  <a:srgbClr val="FFFFFF"/>
                </a:solidFill>
                <a:latin typeface="Norwester"/>
                <a:ea typeface="Norwester"/>
                <a:cs typeface="Norwester"/>
                <a:sym typeface="Norwester"/>
              </a:rPr>
              <a:t>100%</a:t>
            </a:r>
          </a:p>
        </p:txBody>
      </p:sp>
      <p:sp>
        <p:nvSpPr>
          <p:cNvPr id="10" name="TextBox 10"/>
          <p:cNvSpPr txBox="1"/>
          <p:nvPr/>
        </p:nvSpPr>
        <p:spPr>
          <a:xfrm>
            <a:off x="15197113" y="5953563"/>
            <a:ext cx="804887" cy="480068"/>
          </a:xfrm>
          <a:prstGeom prst="rect">
            <a:avLst/>
          </a:prstGeom>
        </p:spPr>
        <p:txBody>
          <a:bodyPr wrap="square" lIns="0" tIns="0" rIns="0" bIns="0" rtlCol="0" anchor="t">
            <a:spAutoFit/>
          </a:bodyPr>
          <a:lstStyle/>
          <a:p>
            <a:pPr algn="ctr">
              <a:lnSpc>
                <a:spcPts val="4154"/>
              </a:lnSpc>
            </a:pPr>
            <a:r>
              <a:rPr lang="en-US" sz="2967" dirty="0">
                <a:solidFill>
                  <a:srgbClr val="FFFFFF"/>
                </a:solidFill>
                <a:latin typeface="Norwester"/>
                <a:ea typeface="Norwester"/>
                <a:cs typeface="Norwester"/>
                <a:sym typeface="Norwester"/>
              </a:rPr>
              <a:t>85%</a:t>
            </a:r>
          </a:p>
        </p:txBody>
      </p:sp>
      <p:sp>
        <p:nvSpPr>
          <p:cNvPr id="11" name="TextBox 11"/>
          <p:cNvSpPr txBox="1"/>
          <p:nvPr/>
        </p:nvSpPr>
        <p:spPr>
          <a:xfrm>
            <a:off x="2891795" y="5953563"/>
            <a:ext cx="994405" cy="480068"/>
          </a:xfrm>
          <a:prstGeom prst="rect">
            <a:avLst/>
          </a:prstGeom>
        </p:spPr>
        <p:txBody>
          <a:bodyPr wrap="square" lIns="0" tIns="0" rIns="0" bIns="0" rtlCol="0" anchor="t">
            <a:spAutoFit/>
          </a:bodyPr>
          <a:lstStyle/>
          <a:p>
            <a:pPr algn="ctr">
              <a:lnSpc>
                <a:spcPts val="4154"/>
              </a:lnSpc>
            </a:pPr>
            <a:r>
              <a:rPr lang="en-US" sz="2967" dirty="0">
                <a:solidFill>
                  <a:srgbClr val="FFFFFF"/>
                </a:solidFill>
                <a:latin typeface="Norwester"/>
                <a:ea typeface="Norwester"/>
                <a:cs typeface="Norwester"/>
                <a:sym typeface="Norwester"/>
              </a:rPr>
              <a:t>100%</a:t>
            </a:r>
          </a:p>
        </p:txBody>
      </p:sp>
      <p:sp>
        <p:nvSpPr>
          <p:cNvPr id="12" name="TextBox 12"/>
          <p:cNvSpPr txBox="1"/>
          <p:nvPr/>
        </p:nvSpPr>
        <p:spPr>
          <a:xfrm>
            <a:off x="6120289" y="9432607"/>
            <a:ext cx="7398068"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IT21834424 | DE SILVA R.S.K | R25-040</a:t>
            </a:r>
          </a:p>
        </p:txBody>
      </p:sp>
      <p:sp>
        <p:nvSpPr>
          <p:cNvPr id="13" name="Freeform 13"/>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5"/>
            <a:stretch>
              <a:fillRect/>
            </a:stretch>
          </a:blipFill>
        </p:spPr>
        <p:txBody>
          <a:bodyPr/>
          <a:lstStyle/>
          <a:p>
            <a:endParaRPr lang="en-US"/>
          </a:p>
        </p:txBody>
      </p:sp>
      <p:sp>
        <p:nvSpPr>
          <p:cNvPr id="14" name="TextBox 14"/>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1337075" y="1514094"/>
            <a:ext cx="4933006" cy="3665223"/>
          </a:xfrm>
          <a:custGeom>
            <a:avLst/>
            <a:gdLst/>
            <a:ahLst/>
            <a:cxnLst/>
            <a:rect l="l" t="t" r="r" b="b"/>
            <a:pathLst>
              <a:path w="4933006" h="3665223">
                <a:moveTo>
                  <a:pt x="0" y="0"/>
                </a:moveTo>
                <a:lnTo>
                  <a:pt x="4933006" y="0"/>
                </a:lnTo>
                <a:lnTo>
                  <a:pt x="4933006" y="3665223"/>
                </a:lnTo>
                <a:lnTo>
                  <a:pt x="0" y="3665223"/>
                </a:lnTo>
                <a:lnTo>
                  <a:pt x="0" y="0"/>
                </a:lnTo>
                <a:close/>
              </a:path>
            </a:pathLst>
          </a:custGeom>
          <a:blipFill>
            <a:blip r:embed="rId2"/>
            <a:stretch>
              <a:fillRect/>
            </a:stretch>
          </a:blipFill>
        </p:spPr>
        <p:txBody>
          <a:bodyPr/>
          <a:lstStyle/>
          <a:p>
            <a:endParaRPr lang="en-US"/>
          </a:p>
        </p:txBody>
      </p:sp>
      <p:sp>
        <p:nvSpPr>
          <p:cNvPr id="3" name="Freeform 3"/>
          <p:cNvSpPr/>
          <p:nvPr/>
        </p:nvSpPr>
        <p:spPr>
          <a:xfrm>
            <a:off x="9324566" y="5457336"/>
            <a:ext cx="8387580" cy="3763927"/>
          </a:xfrm>
          <a:custGeom>
            <a:avLst/>
            <a:gdLst/>
            <a:ahLst/>
            <a:cxnLst/>
            <a:rect l="l" t="t" r="r" b="b"/>
            <a:pathLst>
              <a:path w="8387580" h="3763927">
                <a:moveTo>
                  <a:pt x="0" y="0"/>
                </a:moveTo>
                <a:lnTo>
                  <a:pt x="8387581" y="0"/>
                </a:lnTo>
                <a:lnTo>
                  <a:pt x="8387581" y="3763927"/>
                </a:lnTo>
                <a:lnTo>
                  <a:pt x="0" y="3763927"/>
                </a:lnTo>
                <a:lnTo>
                  <a:pt x="0" y="0"/>
                </a:lnTo>
                <a:close/>
              </a:path>
            </a:pathLst>
          </a:custGeom>
          <a:blipFill>
            <a:blip r:embed="rId3"/>
            <a:stretch>
              <a:fillRect/>
            </a:stretch>
          </a:blipFill>
        </p:spPr>
        <p:txBody>
          <a:bodyPr/>
          <a:lstStyle/>
          <a:p>
            <a:endParaRPr lang="en-US"/>
          </a:p>
        </p:txBody>
      </p:sp>
      <p:sp>
        <p:nvSpPr>
          <p:cNvPr id="4" name="Freeform 4"/>
          <p:cNvSpPr/>
          <p:nvPr/>
        </p:nvSpPr>
        <p:spPr>
          <a:xfrm>
            <a:off x="1028700" y="3155523"/>
            <a:ext cx="7982516" cy="5188636"/>
          </a:xfrm>
          <a:custGeom>
            <a:avLst/>
            <a:gdLst/>
            <a:ahLst/>
            <a:cxnLst/>
            <a:rect l="l" t="t" r="r" b="b"/>
            <a:pathLst>
              <a:path w="7982516" h="5188636">
                <a:moveTo>
                  <a:pt x="0" y="0"/>
                </a:moveTo>
                <a:lnTo>
                  <a:pt x="7982516" y="0"/>
                </a:lnTo>
                <a:lnTo>
                  <a:pt x="7982516" y="5188636"/>
                </a:lnTo>
                <a:lnTo>
                  <a:pt x="0" y="5188636"/>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1028700" y="1143000"/>
            <a:ext cx="10244562" cy="856488"/>
          </a:xfrm>
          <a:prstGeom prst="rect">
            <a:avLst/>
          </a:prstGeom>
        </p:spPr>
        <p:txBody>
          <a:bodyPr lIns="0" tIns="0" rIns="0" bIns="0" rtlCol="0" anchor="t">
            <a:spAutoFit/>
          </a:bodyPr>
          <a:lstStyle/>
          <a:p>
            <a:pPr algn="l">
              <a:lnSpc>
                <a:spcPts val="6335"/>
              </a:lnSpc>
            </a:pPr>
            <a:r>
              <a:rPr lang="en-US" sz="6399">
                <a:solidFill>
                  <a:srgbClr val="7AFFF5"/>
                </a:solidFill>
                <a:latin typeface="Norwester"/>
                <a:ea typeface="Norwester"/>
                <a:cs typeface="Norwester"/>
                <a:sym typeface="Norwester"/>
              </a:rPr>
              <a:t>EVIDENCES FOR COMPLETION</a:t>
            </a:r>
          </a:p>
        </p:txBody>
      </p:sp>
      <p:sp>
        <p:nvSpPr>
          <p:cNvPr id="6" name="TextBox 6"/>
          <p:cNvSpPr txBox="1"/>
          <p:nvPr/>
        </p:nvSpPr>
        <p:spPr>
          <a:xfrm>
            <a:off x="1028700" y="2237313"/>
            <a:ext cx="6343293" cy="613410"/>
          </a:xfrm>
          <a:prstGeom prst="rect">
            <a:avLst/>
          </a:prstGeom>
        </p:spPr>
        <p:txBody>
          <a:bodyPr lIns="0" tIns="0" rIns="0" bIns="0" rtlCol="0" anchor="t">
            <a:spAutoFit/>
          </a:bodyPr>
          <a:lstStyle/>
          <a:p>
            <a:pPr algn="ctr">
              <a:lnSpc>
                <a:spcPts val="5040"/>
              </a:lnSpc>
              <a:spcBef>
                <a:spcPct val="0"/>
              </a:spcBef>
            </a:pPr>
            <a:r>
              <a:rPr lang="en-US" sz="3600">
                <a:solidFill>
                  <a:srgbClr val="7AFFF5"/>
                </a:solidFill>
                <a:latin typeface="Norwester"/>
                <a:ea typeface="Norwester"/>
                <a:cs typeface="Norwester"/>
                <a:sym typeface="Norwester"/>
              </a:rPr>
              <a:t>ARCHITECTURE OF IMPLEMENTATION</a:t>
            </a:r>
          </a:p>
        </p:txBody>
      </p:sp>
      <p:sp>
        <p:nvSpPr>
          <p:cNvPr id="7" name="TextBox 7"/>
          <p:cNvSpPr txBox="1"/>
          <p:nvPr/>
        </p:nvSpPr>
        <p:spPr>
          <a:xfrm>
            <a:off x="12321786" y="900684"/>
            <a:ext cx="2963585" cy="613410"/>
          </a:xfrm>
          <a:prstGeom prst="rect">
            <a:avLst/>
          </a:prstGeom>
        </p:spPr>
        <p:txBody>
          <a:bodyPr lIns="0" tIns="0" rIns="0" bIns="0" rtlCol="0" anchor="t">
            <a:spAutoFit/>
          </a:bodyPr>
          <a:lstStyle/>
          <a:p>
            <a:pPr algn="ctr">
              <a:lnSpc>
                <a:spcPts val="5040"/>
              </a:lnSpc>
              <a:spcBef>
                <a:spcPct val="0"/>
              </a:spcBef>
            </a:pPr>
            <a:r>
              <a:rPr lang="en-US" sz="3600">
                <a:solidFill>
                  <a:srgbClr val="7AFFF5"/>
                </a:solidFill>
                <a:latin typeface="Norwester"/>
                <a:ea typeface="Norwester"/>
                <a:cs typeface="Norwester"/>
                <a:sym typeface="Norwester"/>
              </a:rPr>
              <a:t>MODEL TRAINING</a:t>
            </a:r>
          </a:p>
        </p:txBody>
      </p:sp>
      <p:sp>
        <p:nvSpPr>
          <p:cNvPr id="8" name="TextBox 8"/>
          <p:cNvSpPr txBox="1"/>
          <p:nvPr/>
        </p:nvSpPr>
        <p:spPr>
          <a:xfrm>
            <a:off x="6120289" y="9432607"/>
            <a:ext cx="7398068"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IT21834424 | DE SILVA R.S.K | R25-040</a:t>
            </a:r>
          </a:p>
        </p:txBody>
      </p:sp>
      <p:sp>
        <p:nvSpPr>
          <p:cNvPr id="9" name="Freeform 9"/>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5"/>
            <a:stretch>
              <a:fillRect/>
            </a:stretch>
          </a:blipFill>
        </p:spPr>
        <p:txBody>
          <a:bodyPr/>
          <a:lstStyle/>
          <a:p>
            <a:endParaRPr lang="en-US"/>
          </a:p>
        </p:txBody>
      </p:sp>
      <p:sp>
        <p:nvSpPr>
          <p:cNvPr id="10" name="TextBox 10"/>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143000"/>
            <a:ext cx="10244562" cy="856488"/>
          </a:xfrm>
          <a:prstGeom prst="rect">
            <a:avLst/>
          </a:prstGeom>
        </p:spPr>
        <p:txBody>
          <a:bodyPr lIns="0" tIns="0" rIns="0" bIns="0" rtlCol="0" anchor="t">
            <a:spAutoFit/>
          </a:bodyPr>
          <a:lstStyle/>
          <a:p>
            <a:pPr algn="l">
              <a:lnSpc>
                <a:spcPts val="6335"/>
              </a:lnSpc>
            </a:pPr>
            <a:r>
              <a:rPr lang="en-US" sz="6399">
                <a:solidFill>
                  <a:srgbClr val="7AFFF5"/>
                </a:solidFill>
                <a:latin typeface="Norwester"/>
                <a:ea typeface="Norwester"/>
                <a:cs typeface="Norwester"/>
                <a:sym typeface="Norwester"/>
              </a:rPr>
              <a:t>EVIDENCES FOR COMPLETION</a:t>
            </a:r>
          </a:p>
        </p:txBody>
      </p:sp>
      <p:sp>
        <p:nvSpPr>
          <p:cNvPr id="3" name="Freeform 3"/>
          <p:cNvSpPr/>
          <p:nvPr/>
        </p:nvSpPr>
        <p:spPr>
          <a:xfrm>
            <a:off x="1028700" y="2258231"/>
            <a:ext cx="7464549" cy="4851957"/>
          </a:xfrm>
          <a:custGeom>
            <a:avLst/>
            <a:gdLst/>
            <a:ahLst/>
            <a:cxnLst/>
            <a:rect l="l" t="t" r="r" b="b"/>
            <a:pathLst>
              <a:path w="7464549" h="4851957">
                <a:moveTo>
                  <a:pt x="0" y="0"/>
                </a:moveTo>
                <a:lnTo>
                  <a:pt x="7464549" y="0"/>
                </a:lnTo>
                <a:lnTo>
                  <a:pt x="7464549" y="4851957"/>
                </a:lnTo>
                <a:lnTo>
                  <a:pt x="0" y="4851957"/>
                </a:lnTo>
                <a:lnTo>
                  <a:pt x="0" y="0"/>
                </a:lnTo>
                <a:close/>
              </a:path>
            </a:pathLst>
          </a:custGeom>
          <a:blipFill>
            <a:blip r:embed="rId2"/>
            <a:stretch>
              <a:fillRect/>
            </a:stretch>
          </a:blipFill>
        </p:spPr>
        <p:txBody>
          <a:bodyPr/>
          <a:lstStyle/>
          <a:p>
            <a:endParaRPr lang="en-US"/>
          </a:p>
        </p:txBody>
      </p:sp>
      <p:sp>
        <p:nvSpPr>
          <p:cNvPr id="4" name="Freeform 4"/>
          <p:cNvSpPr/>
          <p:nvPr/>
        </p:nvSpPr>
        <p:spPr>
          <a:xfrm>
            <a:off x="9144000" y="3223605"/>
            <a:ext cx="8469979" cy="5505487"/>
          </a:xfrm>
          <a:custGeom>
            <a:avLst/>
            <a:gdLst/>
            <a:ahLst/>
            <a:cxnLst/>
            <a:rect l="l" t="t" r="r" b="b"/>
            <a:pathLst>
              <a:path w="8469979" h="5505487">
                <a:moveTo>
                  <a:pt x="0" y="0"/>
                </a:moveTo>
                <a:lnTo>
                  <a:pt x="8469979" y="0"/>
                </a:lnTo>
                <a:lnTo>
                  <a:pt x="8469979" y="5505487"/>
                </a:lnTo>
                <a:lnTo>
                  <a:pt x="0" y="5505487"/>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6120289" y="9432607"/>
            <a:ext cx="7398068"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IT21834424 | DE SILVA R.S.K | R25-040</a:t>
            </a:r>
          </a:p>
        </p:txBody>
      </p:sp>
      <p:sp>
        <p:nvSpPr>
          <p:cNvPr id="6" name="Freeform 6"/>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2"/>
            <a:stretch>
              <a:fillRect/>
            </a:stretch>
          </a:blipFill>
        </p:spPr>
        <p:txBody>
          <a:bodyPr/>
          <a:lstStyle/>
          <a:p>
            <a:endParaRPr lang="en-US"/>
          </a:p>
        </p:txBody>
      </p:sp>
      <p:sp>
        <p:nvSpPr>
          <p:cNvPr id="3" name="Freeform 3"/>
          <p:cNvSpPr/>
          <p:nvPr/>
        </p:nvSpPr>
        <p:spPr>
          <a:xfrm>
            <a:off x="7004774" y="3790049"/>
            <a:ext cx="5268937" cy="3951703"/>
          </a:xfrm>
          <a:custGeom>
            <a:avLst/>
            <a:gdLst/>
            <a:ahLst/>
            <a:cxnLst/>
            <a:rect l="l" t="t" r="r" b="b"/>
            <a:pathLst>
              <a:path w="5268937" h="3951703">
                <a:moveTo>
                  <a:pt x="0" y="0"/>
                </a:moveTo>
                <a:lnTo>
                  <a:pt x="5268937" y="0"/>
                </a:lnTo>
                <a:lnTo>
                  <a:pt x="5268937" y="3951703"/>
                </a:lnTo>
                <a:lnTo>
                  <a:pt x="0" y="3951703"/>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5106414" y="7855559"/>
            <a:ext cx="9065657" cy="1038225"/>
          </a:xfrm>
          <a:prstGeom prst="rect">
            <a:avLst/>
          </a:prstGeom>
        </p:spPr>
        <p:txBody>
          <a:bodyPr lIns="0" tIns="0" rIns="0" bIns="0" rtlCol="0" anchor="t">
            <a:spAutoFit/>
          </a:bodyPr>
          <a:lstStyle/>
          <a:p>
            <a:pPr algn="ctr">
              <a:lnSpc>
                <a:spcPts val="4199"/>
              </a:lnSpc>
              <a:spcBef>
                <a:spcPct val="0"/>
              </a:spcBef>
            </a:pPr>
            <a:r>
              <a:rPr lang="en-US" sz="2999">
                <a:solidFill>
                  <a:srgbClr val="7AFFF5"/>
                </a:solidFill>
                <a:latin typeface="Norwester"/>
                <a:ea typeface="Norwester"/>
                <a:cs typeface="Norwester"/>
                <a:sym typeface="Norwester"/>
              </a:rPr>
              <a:t>BACHELOR OF SCIENCE (HONS) IN INFORMATION TECHNOLOGY </a:t>
            </a:r>
          </a:p>
          <a:p>
            <a:pPr algn="ctr">
              <a:lnSpc>
                <a:spcPts val="4199"/>
              </a:lnSpc>
              <a:spcBef>
                <a:spcPct val="0"/>
              </a:spcBef>
            </a:pPr>
            <a:r>
              <a:rPr lang="en-US" sz="2999">
                <a:solidFill>
                  <a:srgbClr val="7AFFF5"/>
                </a:solidFill>
                <a:latin typeface="Norwester"/>
                <a:ea typeface="Norwester"/>
                <a:cs typeface="Norwester"/>
                <a:sym typeface="Norwester"/>
              </a:rPr>
              <a:t>SPECIALIZING IN INFORMATION TECHNOLOGY</a:t>
            </a:r>
          </a:p>
        </p:txBody>
      </p:sp>
      <p:sp>
        <p:nvSpPr>
          <p:cNvPr id="5" name="TextBox 5"/>
          <p:cNvSpPr txBox="1"/>
          <p:nvPr/>
        </p:nvSpPr>
        <p:spPr>
          <a:xfrm>
            <a:off x="4180582" y="933450"/>
            <a:ext cx="9926836" cy="821055"/>
          </a:xfrm>
          <a:prstGeom prst="rect">
            <a:avLst/>
          </a:prstGeom>
        </p:spPr>
        <p:txBody>
          <a:bodyPr lIns="0" tIns="0" rIns="0" bIns="0" rtlCol="0" anchor="t">
            <a:spAutoFit/>
          </a:bodyPr>
          <a:lstStyle/>
          <a:p>
            <a:pPr algn="ctr">
              <a:lnSpc>
                <a:spcPts val="6719"/>
              </a:lnSpc>
              <a:spcBef>
                <a:spcPct val="0"/>
              </a:spcBef>
            </a:pPr>
            <a:r>
              <a:rPr lang="en-US" sz="4800">
                <a:solidFill>
                  <a:srgbClr val="7AFFF5"/>
                </a:solidFill>
                <a:latin typeface="Norwester"/>
                <a:ea typeface="Norwester"/>
                <a:cs typeface="Norwester"/>
                <a:sym typeface="Norwester"/>
              </a:rPr>
              <a:t>IT21815614 | KASTHURIRATHNE K.T.A.D.K </a:t>
            </a:r>
          </a:p>
        </p:txBody>
      </p:sp>
      <p:sp>
        <p:nvSpPr>
          <p:cNvPr id="6" name="TextBox 6"/>
          <p:cNvSpPr txBox="1"/>
          <p:nvPr/>
        </p:nvSpPr>
        <p:spPr>
          <a:xfrm>
            <a:off x="4011678" y="1940787"/>
            <a:ext cx="10644307" cy="1668780"/>
          </a:xfrm>
          <a:prstGeom prst="rect">
            <a:avLst/>
          </a:prstGeom>
        </p:spPr>
        <p:txBody>
          <a:bodyPr lIns="0" tIns="0" rIns="0" bIns="0" rtlCol="0" anchor="t">
            <a:spAutoFit/>
          </a:bodyPr>
          <a:lstStyle/>
          <a:p>
            <a:pPr algn="ctr">
              <a:lnSpc>
                <a:spcPts val="6719"/>
              </a:lnSpc>
            </a:pPr>
            <a:r>
              <a:rPr lang="en-US" sz="4800">
                <a:solidFill>
                  <a:srgbClr val="FFFFFF"/>
                </a:solidFill>
                <a:latin typeface="Norwester"/>
                <a:ea typeface="Norwester"/>
                <a:cs typeface="Norwester"/>
                <a:sym typeface="Norwester"/>
              </a:rPr>
              <a:t>COMPONENT 02: Predict the STRESS level </a:t>
            </a:r>
          </a:p>
          <a:p>
            <a:pPr algn="ctr">
              <a:lnSpc>
                <a:spcPts val="6719"/>
              </a:lnSpc>
            </a:pPr>
            <a:r>
              <a:rPr lang="en-US" sz="4800">
                <a:solidFill>
                  <a:srgbClr val="FFFFFF"/>
                </a:solidFill>
                <a:latin typeface="Norwester"/>
                <a:ea typeface="Norwester"/>
                <a:cs typeface="Norwester"/>
                <a:sym typeface="Norwester"/>
              </a:rPr>
              <a:t>through facial expressions</a:t>
            </a:r>
          </a:p>
        </p:txBody>
      </p:sp>
      <p:sp>
        <p:nvSpPr>
          <p:cNvPr id="7" name="TextBox 7"/>
          <p:cNvSpPr txBox="1"/>
          <p:nvPr/>
        </p:nvSpPr>
        <p:spPr>
          <a:xfrm>
            <a:off x="6696789" y="9442132"/>
            <a:ext cx="6245066" cy="415290"/>
          </a:xfrm>
          <a:prstGeom prst="rect">
            <a:avLst/>
          </a:prstGeom>
        </p:spPr>
        <p:txBody>
          <a:bodyPr lIns="0" tIns="0" rIns="0" bIns="0" rtlCol="0" anchor="t">
            <a:spAutoFit/>
          </a:bodyPr>
          <a:lstStyle/>
          <a:p>
            <a:pPr algn="ctr">
              <a:lnSpc>
                <a:spcPts val="3359"/>
              </a:lnSpc>
              <a:spcBef>
                <a:spcPct val="0"/>
              </a:spcBef>
            </a:pPr>
            <a:r>
              <a:rPr lang="en-US" sz="2400">
                <a:solidFill>
                  <a:srgbClr val="FFFFFF"/>
                </a:solidFill>
                <a:latin typeface="Norwester"/>
                <a:ea typeface="Norwester"/>
                <a:cs typeface="Norwester"/>
                <a:sym typeface="Norwester"/>
              </a:rPr>
              <a:t>IT21815614 | KASTHURIRATHNE K.T.A.D.K | R25-040</a:t>
            </a:r>
          </a:p>
        </p:txBody>
      </p:sp>
      <p:sp>
        <p:nvSpPr>
          <p:cNvPr id="8" name="TextBox 8"/>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825552" y="1426296"/>
            <a:ext cx="14636895" cy="1275207"/>
          </a:xfrm>
          <a:prstGeom prst="rect">
            <a:avLst/>
          </a:prstGeom>
        </p:spPr>
        <p:txBody>
          <a:bodyPr lIns="0" tIns="0" rIns="0" bIns="0" rtlCol="0" anchor="t">
            <a:spAutoFit/>
          </a:bodyPr>
          <a:lstStyle/>
          <a:p>
            <a:pPr algn="l">
              <a:lnSpc>
                <a:spcPts val="9504"/>
              </a:lnSpc>
            </a:pPr>
            <a:r>
              <a:rPr lang="en-US" sz="9600">
                <a:solidFill>
                  <a:srgbClr val="7AFFF5"/>
                </a:solidFill>
                <a:latin typeface="Norwester"/>
                <a:ea typeface="Norwester"/>
                <a:cs typeface="Norwester"/>
                <a:sym typeface="Norwester"/>
              </a:rPr>
              <a:t>SUMMARY OF THE COMPONENT </a:t>
            </a:r>
          </a:p>
        </p:txBody>
      </p:sp>
      <p:sp>
        <p:nvSpPr>
          <p:cNvPr id="4" name="TextBox 4"/>
          <p:cNvSpPr txBox="1"/>
          <p:nvPr/>
        </p:nvSpPr>
        <p:spPr>
          <a:xfrm>
            <a:off x="5593600" y="9432607"/>
            <a:ext cx="9367600"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IT21815614 | KASTHURIRATHNE K.T.A.D.K | R25-040</a:t>
            </a:r>
          </a:p>
        </p:txBody>
      </p:sp>
      <p:sp>
        <p:nvSpPr>
          <p:cNvPr id="5" name="Freeform 5"/>
          <p:cNvSpPr/>
          <p:nvPr/>
        </p:nvSpPr>
        <p:spPr>
          <a:xfrm>
            <a:off x="9783509" y="3415532"/>
            <a:ext cx="4475995" cy="1473009"/>
          </a:xfrm>
          <a:custGeom>
            <a:avLst/>
            <a:gdLst/>
            <a:ahLst/>
            <a:cxnLst/>
            <a:rect l="l" t="t" r="r" b="b"/>
            <a:pathLst>
              <a:path w="4475995" h="1473009">
                <a:moveTo>
                  <a:pt x="0" y="0"/>
                </a:moveTo>
                <a:lnTo>
                  <a:pt x="4475995" y="0"/>
                </a:lnTo>
                <a:lnTo>
                  <a:pt x="4475995" y="1473009"/>
                </a:lnTo>
                <a:lnTo>
                  <a:pt x="0" y="14730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9783509" y="6270844"/>
            <a:ext cx="4475995" cy="1473009"/>
          </a:xfrm>
          <a:custGeom>
            <a:avLst/>
            <a:gdLst/>
            <a:ahLst/>
            <a:cxnLst/>
            <a:rect l="l" t="t" r="r" b="b"/>
            <a:pathLst>
              <a:path w="4475995" h="1473009">
                <a:moveTo>
                  <a:pt x="0" y="0"/>
                </a:moveTo>
                <a:lnTo>
                  <a:pt x="4475995" y="0"/>
                </a:lnTo>
                <a:lnTo>
                  <a:pt x="4475995" y="1473009"/>
                </a:lnTo>
                <a:lnTo>
                  <a:pt x="0" y="14730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3832340" y="7007348"/>
            <a:ext cx="4475995" cy="1473009"/>
          </a:xfrm>
          <a:custGeom>
            <a:avLst/>
            <a:gdLst/>
            <a:ahLst/>
            <a:cxnLst/>
            <a:rect l="l" t="t" r="r" b="b"/>
            <a:pathLst>
              <a:path w="4475995" h="1473009">
                <a:moveTo>
                  <a:pt x="0" y="0"/>
                </a:moveTo>
                <a:lnTo>
                  <a:pt x="4475994" y="0"/>
                </a:lnTo>
                <a:lnTo>
                  <a:pt x="4475994" y="1473010"/>
                </a:lnTo>
                <a:lnTo>
                  <a:pt x="0" y="14730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a:off x="3320813" y="4152036"/>
            <a:ext cx="4475995" cy="1473009"/>
          </a:xfrm>
          <a:custGeom>
            <a:avLst/>
            <a:gdLst/>
            <a:ahLst/>
            <a:cxnLst/>
            <a:rect l="l" t="t" r="r" b="b"/>
            <a:pathLst>
              <a:path w="4475995" h="1473009">
                <a:moveTo>
                  <a:pt x="0" y="0"/>
                </a:moveTo>
                <a:lnTo>
                  <a:pt x="4475995" y="0"/>
                </a:lnTo>
                <a:lnTo>
                  <a:pt x="4475995" y="1473010"/>
                </a:lnTo>
                <a:lnTo>
                  <a:pt x="0" y="14730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TextBox 9"/>
          <p:cNvSpPr txBox="1"/>
          <p:nvPr/>
        </p:nvSpPr>
        <p:spPr>
          <a:xfrm>
            <a:off x="3320813" y="4548499"/>
            <a:ext cx="4475995"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BACKGROUND</a:t>
            </a:r>
          </a:p>
        </p:txBody>
      </p:sp>
      <p:sp>
        <p:nvSpPr>
          <p:cNvPr id="10" name="TextBox 10"/>
          <p:cNvSpPr txBox="1"/>
          <p:nvPr/>
        </p:nvSpPr>
        <p:spPr>
          <a:xfrm>
            <a:off x="3832340" y="7403811"/>
            <a:ext cx="4475995"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OBJECTIVES</a:t>
            </a:r>
          </a:p>
        </p:txBody>
      </p:sp>
      <p:sp>
        <p:nvSpPr>
          <p:cNvPr id="11" name="TextBox 11"/>
          <p:cNvSpPr txBox="1"/>
          <p:nvPr/>
        </p:nvSpPr>
        <p:spPr>
          <a:xfrm>
            <a:off x="10674314" y="3904834"/>
            <a:ext cx="2889286" cy="573234"/>
          </a:xfrm>
          <a:prstGeom prst="rect">
            <a:avLst/>
          </a:prstGeom>
        </p:spPr>
        <p:txBody>
          <a:bodyPr wrap="square" lIns="0" tIns="0" rIns="0" bIns="0" rtlCol="0" anchor="t">
            <a:spAutoFit/>
          </a:bodyPr>
          <a:lstStyle/>
          <a:p>
            <a:pPr algn="ctr">
              <a:lnSpc>
                <a:spcPts val="5040"/>
              </a:lnSpc>
              <a:spcBef>
                <a:spcPct val="0"/>
              </a:spcBef>
            </a:pPr>
            <a:r>
              <a:rPr lang="en-US" sz="3600" dirty="0">
                <a:solidFill>
                  <a:srgbClr val="FFFFFF"/>
                </a:solidFill>
                <a:latin typeface="Norwester"/>
                <a:ea typeface="Norwester"/>
                <a:cs typeface="Norwester"/>
                <a:sym typeface="Norwester"/>
              </a:rPr>
              <a:t>RESEARCH GAP</a:t>
            </a:r>
          </a:p>
        </p:txBody>
      </p:sp>
      <p:sp>
        <p:nvSpPr>
          <p:cNvPr id="12" name="TextBox 12"/>
          <p:cNvSpPr txBox="1"/>
          <p:nvPr/>
        </p:nvSpPr>
        <p:spPr>
          <a:xfrm>
            <a:off x="10277400" y="6668721"/>
            <a:ext cx="3982104" cy="573234"/>
          </a:xfrm>
          <a:prstGeom prst="rect">
            <a:avLst/>
          </a:prstGeom>
        </p:spPr>
        <p:txBody>
          <a:bodyPr wrap="square" lIns="0" tIns="0" rIns="0" bIns="0" rtlCol="0" anchor="t">
            <a:spAutoFit/>
          </a:bodyPr>
          <a:lstStyle/>
          <a:p>
            <a:pPr algn="ctr">
              <a:lnSpc>
                <a:spcPts val="5040"/>
              </a:lnSpc>
              <a:spcBef>
                <a:spcPct val="0"/>
              </a:spcBef>
            </a:pPr>
            <a:r>
              <a:rPr lang="en-US" sz="3600" dirty="0">
                <a:solidFill>
                  <a:srgbClr val="FFFFFF"/>
                </a:solidFill>
                <a:latin typeface="Norwester"/>
                <a:ea typeface="Norwester"/>
                <a:cs typeface="Norwester"/>
                <a:sym typeface="Norwester"/>
              </a:rPr>
              <a:t>RESEARCH QUESTION</a:t>
            </a:r>
          </a:p>
        </p:txBody>
      </p:sp>
      <p:sp>
        <p:nvSpPr>
          <p:cNvPr id="13" name="TextBox 13"/>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180743" y="2786503"/>
            <a:ext cx="11301259" cy="6116806"/>
          </a:xfrm>
          <a:custGeom>
            <a:avLst/>
            <a:gdLst/>
            <a:ahLst/>
            <a:cxnLst/>
            <a:rect l="l" t="t" r="r" b="b"/>
            <a:pathLst>
              <a:path w="11301259" h="6116806">
                <a:moveTo>
                  <a:pt x="0" y="0"/>
                </a:moveTo>
                <a:lnTo>
                  <a:pt x="11301259" y="0"/>
                </a:lnTo>
                <a:lnTo>
                  <a:pt x="11301259" y="6116806"/>
                </a:lnTo>
                <a:lnTo>
                  <a:pt x="0" y="6116806"/>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3437274" y="653844"/>
            <a:ext cx="12788196" cy="2070736"/>
          </a:xfrm>
          <a:prstGeom prst="rect">
            <a:avLst/>
          </a:prstGeom>
        </p:spPr>
        <p:txBody>
          <a:bodyPr lIns="0" tIns="0" rIns="0" bIns="0" rtlCol="0" anchor="t">
            <a:spAutoFit/>
          </a:bodyPr>
          <a:lstStyle/>
          <a:p>
            <a:pPr algn="ctr">
              <a:lnSpc>
                <a:spcPts val="7920"/>
              </a:lnSpc>
            </a:pPr>
            <a:r>
              <a:rPr lang="en-US" sz="8000">
                <a:solidFill>
                  <a:srgbClr val="7AFFF5"/>
                </a:solidFill>
                <a:latin typeface="Norwester"/>
                <a:ea typeface="Norwester"/>
                <a:cs typeface="Norwester"/>
                <a:sym typeface="Norwester"/>
              </a:rPr>
              <a:t>SYSTEM DIAGRAM &amp; METHODOLOGY</a:t>
            </a:r>
          </a:p>
        </p:txBody>
      </p:sp>
      <p:sp>
        <p:nvSpPr>
          <p:cNvPr id="4" name="Freeform 4"/>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5593600" y="9432607"/>
            <a:ext cx="9367600"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IT21815614 | KASTHURIRATHNE K.T.A.D.K | R25-040</a:t>
            </a:r>
          </a:p>
        </p:txBody>
      </p:sp>
      <p:sp>
        <p:nvSpPr>
          <p:cNvPr id="6" name="TextBox 6"/>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6323164" y="501638"/>
            <a:ext cx="6339483" cy="1104265"/>
          </a:xfrm>
          <a:prstGeom prst="rect">
            <a:avLst/>
          </a:prstGeom>
        </p:spPr>
        <p:txBody>
          <a:bodyPr lIns="0" tIns="0" rIns="0" bIns="0" rtlCol="0" anchor="t">
            <a:spAutoFit/>
          </a:bodyPr>
          <a:lstStyle/>
          <a:p>
            <a:pPr algn="ctr">
              <a:lnSpc>
                <a:spcPts val="8959"/>
              </a:lnSpc>
              <a:spcBef>
                <a:spcPct val="0"/>
              </a:spcBef>
            </a:pPr>
            <a:r>
              <a:rPr lang="en-US" sz="6399">
                <a:solidFill>
                  <a:srgbClr val="7AFFF5"/>
                </a:solidFill>
                <a:latin typeface="Norwester"/>
                <a:ea typeface="Norwester"/>
                <a:cs typeface="Norwester"/>
                <a:sym typeface="Norwester"/>
              </a:rPr>
              <a:t>CURRENT PROGRESS</a:t>
            </a:r>
          </a:p>
        </p:txBody>
      </p:sp>
      <p:sp>
        <p:nvSpPr>
          <p:cNvPr id="3" name="TextBox 3"/>
          <p:cNvSpPr txBox="1"/>
          <p:nvPr/>
        </p:nvSpPr>
        <p:spPr>
          <a:xfrm>
            <a:off x="701688" y="2482204"/>
            <a:ext cx="4874332" cy="1455420"/>
          </a:xfrm>
          <a:prstGeom prst="rect">
            <a:avLst/>
          </a:prstGeom>
        </p:spPr>
        <p:txBody>
          <a:bodyPr lIns="0" tIns="0" rIns="0" bIns="0" rtlCol="0" anchor="t">
            <a:spAutoFit/>
          </a:bodyPr>
          <a:lstStyle/>
          <a:p>
            <a:pPr algn="ctr">
              <a:lnSpc>
                <a:spcPts val="5880"/>
              </a:lnSpc>
            </a:pPr>
            <a:r>
              <a:rPr lang="en-US" sz="4200">
                <a:solidFill>
                  <a:srgbClr val="FFFFFF"/>
                </a:solidFill>
                <a:latin typeface="Norwester"/>
                <a:ea typeface="Norwester"/>
                <a:cs typeface="Norwester"/>
                <a:sym typeface="Norwester"/>
              </a:rPr>
              <a:t>Data gathering &amp; Analyzing</a:t>
            </a:r>
          </a:p>
        </p:txBody>
      </p:sp>
      <p:pic>
        <p:nvPicPr>
          <p:cNvPr id="4" name="Picture 4"/>
          <p:cNvPicPr>
            <a:picLocks noChangeAspect="1"/>
          </p:cNvPicPr>
          <p:nvPr/>
        </p:nvPicPr>
        <p:blipFill>
          <a:blip r:embed="rId2"/>
          <a:stretch>
            <a:fillRect/>
          </a:stretch>
        </p:blipFill>
        <p:spPr>
          <a:xfrm>
            <a:off x="1682070" y="4620650"/>
            <a:ext cx="3247870" cy="3247870"/>
          </a:xfrm>
          <a:prstGeom prst="rect">
            <a:avLst/>
          </a:prstGeom>
        </p:spPr>
      </p:pic>
      <p:sp>
        <p:nvSpPr>
          <p:cNvPr id="5" name="TextBox 5"/>
          <p:cNvSpPr txBox="1"/>
          <p:nvPr/>
        </p:nvSpPr>
        <p:spPr>
          <a:xfrm>
            <a:off x="7680864" y="2482204"/>
            <a:ext cx="3907155" cy="1455420"/>
          </a:xfrm>
          <a:prstGeom prst="rect">
            <a:avLst/>
          </a:prstGeom>
        </p:spPr>
        <p:txBody>
          <a:bodyPr lIns="0" tIns="0" rIns="0" bIns="0" rtlCol="0" anchor="t">
            <a:spAutoFit/>
          </a:bodyPr>
          <a:lstStyle/>
          <a:p>
            <a:pPr algn="ctr">
              <a:lnSpc>
                <a:spcPts val="5880"/>
              </a:lnSpc>
            </a:pPr>
            <a:r>
              <a:rPr lang="en-US" sz="4200">
                <a:solidFill>
                  <a:srgbClr val="FFFFFF"/>
                </a:solidFill>
                <a:latin typeface="Norwester"/>
                <a:ea typeface="Norwester"/>
                <a:cs typeface="Norwester"/>
                <a:sym typeface="Norwester"/>
              </a:rPr>
              <a:t>preprocessing &amp; </a:t>
            </a:r>
          </a:p>
          <a:p>
            <a:pPr algn="ctr">
              <a:lnSpc>
                <a:spcPts val="5880"/>
              </a:lnSpc>
            </a:pPr>
            <a:r>
              <a:rPr lang="en-US" sz="4200">
                <a:solidFill>
                  <a:srgbClr val="FFFFFF"/>
                </a:solidFill>
                <a:latin typeface="Norwester"/>
                <a:ea typeface="Norwester"/>
                <a:cs typeface="Norwester"/>
                <a:sym typeface="Norwester"/>
              </a:rPr>
              <a:t>model training </a:t>
            </a:r>
          </a:p>
        </p:txBody>
      </p:sp>
      <p:pic>
        <p:nvPicPr>
          <p:cNvPr id="6" name="Picture 6"/>
          <p:cNvPicPr>
            <a:picLocks noChangeAspect="1"/>
          </p:cNvPicPr>
          <p:nvPr/>
        </p:nvPicPr>
        <p:blipFill>
          <a:blip r:embed="rId3"/>
          <a:stretch>
            <a:fillRect/>
          </a:stretch>
        </p:blipFill>
        <p:spPr>
          <a:xfrm>
            <a:off x="8027704" y="4620287"/>
            <a:ext cx="3252224" cy="3252224"/>
          </a:xfrm>
          <a:prstGeom prst="rect">
            <a:avLst/>
          </a:prstGeom>
        </p:spPr>
      </p:pic>
      <p:sp>
        <p:nvSpPr>
          <p:cNvPr id="7" name="TextBox 7"/>
          <p:cNvSpPr txBox="1"/>
          <p:nvPr/>
        </p:nvSpPr>
        <p:spPr>
          <a:xfrm>
            <a:off x="13536972" y="2482204"/>
            <a:ext cx="3722328" cy="1455420"/>
          </a:xfrm>
          <a:prstGeom prst="rect">
            <a:avLst/>
          </a:prstGeom>
        </p:spPr>
        <p:txBody>
          <a:bodyPr lIns="0" tIns="0" rIns="0" bIns="0" rtlCol="0" anchor="t">
            <a:spAutoFit/>
          </a:bodyPr>
          <a:lstStyle/>
          <a:p>
            <a:pPr algn="ctr">
              <a:lnSpc>
                <a:spcPts val="5880"/>
              </a:lnSpc>
            </a:pPr>
            <a:r>
              <a:rPr lang="en-US" sz="4200">
                <a:solidFill>
                  <a:srgbClr val="FFFFFF"/>
                </a:solidFill>
                <a:latin typeface="Norwester"/>
                <a:ea typeface="Norwester"/>
                <a:cs typeface="Norwester"/>
                <a:sym typeface="Norwester"/>
              </a:rPr>
              <a:t>testing Model accuracy </a:t>
            </a:r>
          </a:p>
        </p:txBody>
      </p:sp>
      <p:pic>
        <p:nvPicPr>
          <p:cNvPr id="8" name="Picture 8"/>
          <p:cNvPicPr>
            <a:picLocks noChangeAspect="1"/>
          </p:cNvPicPr>
          <p:nvPr/>
        </p:nvPicPr>
        <p:blipFill>
          <a:blip r:embed="rId4"/>
          <a:stretch>
            <a:fillRect/>
          </a:stretch>
        </p:blipFill>
        <p:spPr>
          <a:xfrm>
            <a:off x="13937660" y="4632751"/>
            <a:ext cx="3223668" cy="3223668"/>
          </a:xfrm>
          <a:prstGeom prst="rect">
            <a:avLst/>
          </a:prstGeom>
        </p:spPr>
      </p:pic>
      <p:sp>
        <p:nvSpPr>
          <p:cNvPr id="9" name="TextBox 9"/>
          <p:cNvSpPr txBox="1"/>
          <p:nvPr/>
        </p:nvSpPr>
        <p:spPr>
          <a:xfrm>
            <a:off x="9239607" y="5953563"/>
            <a:ext cx="1047393" cy="480068"/>
          </a:xfrm>
          <a:prstGeom prst="rect">
            <a:avLst/>
          </a:prstGeom>
        </p:spPr>
        <p:txBody>
          <a:bodyPr wrap="square" lIns="0" tIns="0" rIns="0" bIns="0" rtlCol="0" anchor="t">
            <a:spAutoFit/>
          </a:bodyPr>
          <a:lstStyle/>
          <a:p>
            <a:pPr algn="ctr">
              <a:lnSpc>
                <a:spcPts val="4154"/>
              </a:lnSpc>
            </a:pPr>
            <a:r>
              <a:rPr lang="en-US" sz="2967" dirty="0">
                <a:solidFill>
                  <a:srgbClr val="FFFFFF"/>
                </a:solidFill>
                <a:latin typeface="Norwester"/>
                <a:ea typeface="Norwester"/>
                <a:cs typeface="Norwester"/>
                <a:sym typeface="Norwester"/>
              </a:rPr>
              <a:t>100%</a:t>
            </a:r>
          </a:p>
        </p:txBody>
      </p:sp>
      <p:sp>
        <p:nvSpPr>
          <p:cNvPr id="10" name="TextBox 10"/>
          <p:cNvSpPr txBox="1"/>
          <p:nvPr/>
        </p:nvSpPr>
        <p:spPr>
          <a:xfrm>
            <a:off x="15196929" y="5953563"/>
            <a:ext cx="705131" cy="515368"/>
          </a:xfrm>
          <a:prstGeom prst="rect">
            <a:avLst/>
          </a:prstGeom>
        </p:spPr>
        <p:txBody>
          <a:bodyPr lIns="0" tIns="0" rIns="0" bIns="0" rtlCol="0" anchor="t">
            <a:spAutoFit/>
          </a:bodyPr>
          <a:lstStyle/>
          <a:p>
            <a:pPr algn="ctr">
              <a:lnSpc>
                <a:spcPts val="4154"/>
              </a:lnSpc>
            </a:pPr>
            <a:r>
              <a:rPr lang="en-US" sz="2967">
                <a:solidFill>
                  <a:srgbClr val="FFFFFF"/>
                </a:solidFill>
                <a:latin typeface="Norwester"/>
                <a:ea typeface="Norwester"/>
                <a:cs typeface="Norwester"/>
                <a:sym typeface="Norwester"/>
              </a:rPr>
              <a:t>88%</a:t>
            </a:r>
          </a:p>
        </p:txBody>
      </p:sp>
      <p:sp>
        <p:nvSpPr>
          <p:cNvPr id="11" name="TextBox 11"/>
          <p:cNvSpPr txBox="1"/>
          <p:nvPr/>
        </p:nvSpPr>
        <p:spPr>
          <a:xfrm>
            <a:off x="2891795" y="5953563"/>
            <a:ext cx="994405" cy="480068"/>
          </a:xfrm>
          <a:prstGeom prst="rect">
            <a:avLst/>
          </a:prstGeom>
        </p:spPr>
        <p:txBody>
          <a:bodyPr wrap="square" lIns="0" tIns="0" rIns="0" bIns="0" rtlCol="0" anchor="t">
            <a:spAutoFit/>
          </a:bodyPr>
          <a:lstStyle/>
          <a:p>
            <a:pPr algn="ctr">
              <a:lnSpc>
                <a:spcPts val="4154"/>
              </a:lnSpc>
            </a:pPr>
            <a:r>
              <a:rPr lang="en-US" sz="2967" dirty="0">
                <a:solidFill>
                  <a:srgbClr val="FFFFFF"/>
                </a:solidFill>
                <a:latin typeface="Norwester"/>
                <a:ea typeface="Norwester"/>
                <a:cs typeface="Norwester"/>
                <a:sym typeface="Norwester"/>
              </a:rPr>
              <a:t>100%</a:t>
            </a:r>
          </a:p>
        </p:txBody>
      </p:sp>
      <p:sp>
        <p:nvSpPr>
          <p:cNvPr id="12" name="TextBox 12"/>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15</a:t>
            </a:r>
          </a:p>
        </p:txBody>
      </p:sp>
      <p:sp>
        <p:nvSpPr>
          <p:cNvPr id="13" name="Freeform 13"/>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5"/>
            <a:stretch>
              <a:fillRect/>
            </a:stretch>
          </a:blipFill>
        </p:spPr>
        <p:txBody>
          <a:bodyPr/>
          <a:lstStyle/>
          <a:p>
            <a:endParaRPr lang="en-US"/>
          </a:p>
        </p:txBody>
      </p:sp>
      <p:sp>
        <p:nvSpPr>
          <p:cNvPr id="14" name="TextBox 14"/>
          <p:cNvSpPr txBox="1"/>
          <p:nvPr/>
        </p:nvSpPr>
        <p:spPr>
          <a:xfrm>
            <a:off x="5593600" y="9432607"/>
            <a:ext cx="9367600"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IT21815614 | KASTHURIRATHNE K.T.A.D.K | R25-040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1743718" y="2303988"/>
            <a:ext cx="5002677" cy="3251740"/>
          </a:xfrm>
          <a:custGeom>
            <a:avLst/>
            <a:gdLst/>
            <a:ahLst/>
            <a:cxnLst/>
            <a:rect l="l" t="t" r="r" b="b"/>
            <a:pathLst>
              <a:path w="5002677" h="3251740">
                <a:moveTo>
                  <a:pt x="0" y="0"/>
                </a:moveTo>
                <a:lnTo>
                  <a:pt x="5002676" y="0"/>
                </a:lnTo>
                <a:lnTo>
                  <a:pt x="5002676" y="3251740"/>
                </a:lnTo>
                <a:lnTo>
                  <a:pt x="0" y="3251740"/>
                </a:lnTo>
                <a:lnTo>
                  <a:pt x="0" y="0"/>
                </a:lnTo>
                <a:close/>
              </a:path>
            </a:pathLst>
          </a:custGeom>
          <a:blipFill>
            <a:blip r:embed="rId2"/>
            <a:stretch>
              <a:fillRect/>
            </a:stretch>
          </a:blipFill>
        </p:spPr>
        <p:txBody>
          <a:bodyPr/>
          <a:lstStyle/>
          <a:p>
            <a:endParaRPr lang="en-US"/>
          </a:p>
        </p:txBody>
      </p:sp>
      <p:sp>
        <p:nvSpPr>
          <p:cNvPr id="3" name="Freeform 3"/>
          <p:cNvSpPr/>
          <p:nvPr/>
        </p:nvSpPr>
        <p:spPr>
          <a:xfrm>
            <a:off x="11669945" y="5910655"/>
            <a:ext cx="5150223" cy="3347645"/>
          </a:xfrm>
          <a:custGeom>
            <a:avLst/>
            <a:gdLst/>
            <a:ahLst/>
            <a:cxnLst/>
            <a:rect l="l" t="t" r="r" b="b"/>
            <a:pathLst>
              <a:path w="5150223" h="3347645">
                <a:moveTo>
                  <a:pt x="0" y="0"/>
                </a:moveTo>
                <a:lnTo>
                  <a:pt x="5150222" y="0"/>
                </a:lnTo>
                <a:lnTo>
                  <a:pt x="5150222" y="3347645"/>
                </a:lnTo>
                <a:lnTo>
                  <a:pt x="0" y="3347645"/>
                </a:lnTo>
                <a:lnTo>
                  <a:pt x="0" y="0"/>
                </a:lnTo>
                <a:close/>
              </a:path>
            </a:pathLst>
          </a:custGeom>
          <a:blipFill>
            <a:blip r:embed="rId3"/>
            <a:stretch>
              <a:fillRect/>
            </a:stretch>
          </a:blipFill>
        </p:spPr>
        <p:txBody>
          <a:bodyPr/>
          <a:lstStyle/>
          <a:p>
            <a:endParaRPr lang="en-US"/>
          </a:p>
        </p:txBody>
      </p:sp>
      <p:sp>
        <p:nvSpPr>
          <p:cNvPr id="4" name="Freeform 4"/>
          <p:cNvSpPr/>
          <p:nvPr/>
        </p:nvSpPr>
        <p:spPr>
          <a:xfrm>
            <a:off x="1028700" y="3155523"/>
            <a:ext cx="8917234" cy="5796202"/>
          </a:xfrm>
          <a:custGeom>
            <a:avLst/>
            <a:gdLst/>
            <a:ahLst/>
            <a:cxnLst/>
            <a:rect l="l" t="t" r="r" b="b"/>
            <a:pathLst>
              <a:path w="8917234" h="5796202">
                <a:moveTo>
                  <a:pt x="0" y="0"/>
                </a:moveTo>
                <a:lnTo>
                  <a:pt x="8917234" y="0"/>
                </a:lnTo>
                <a:lnTo>
                  <a:pt x="8917234" y="5796202"/>
                </a:lnTo>
                <a:lnTo>
                  <a:pt x="0" y="5796202"/>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1028700" y="1143000"/>
            <a:ext cx="10244562" cy="856488"/>
          </a:xfrm>
          <a:prstGeom prst="rect">
            <a:avLst/>
          </a:prstGeom>
        </p:spPr>
        <p:txBody>
          <a:bodyPr lIns="0" tIns="0" rIns="0" bIns="0" rtlCol="0" anchor="t">
            <a:spAutoFit/>
          </a:bodyPr>
          <a:lstStyle/>
          <a:p>
            <a:pPr algn="l">
              <a:lnSpc>
                <a:spcPts val="6335"/>
              </a:lnSpc>
            </a:pPr>
            <a:r>
              <a:rPr lang="en-US" sz="6399">
                <a:solidFill>
                  <a:srgbClr val="7AFFF5"/>
                </a:solidFill>
                <a:latin typeface="Norwester"/>
                <a:ea typeface="Norwester"/>
                <a:cs typeface="Norwester"/>
                <a:sym typeface="Norwester"/>
              </a:rPr>
              <a:t>EVIDENCES FOR COMPLETION</a:t>
            </a:r>
          </a:p>
        </p:txBody>
      </p:sp>
      <p:sp>
        <p:nvSpPr>
          <p:cNvPr id="6" name="TextBox 6"/>
          <p:cNvSpPr txBox="1"/>
          <p:nvPr/>
        </p:nvSpPr>
        <p:spPr>
          <a:xfrm>
            <a:off x="1028700" y="2237313"/>
            <a:ext cx="6343293" cy="613410"/>
          </a:xfrm>
          <a:prstGeom prst="rect">
            <a:avLst/>
          </a:prstGeom>
        </p:spPr>
        <p:txBody>
          <a:bodyPr lIns="0" tIns="0" rIns="0" bIns="0" rtlCol="0" anchor="t">
            <a:spAutoFit/>
          </a:bodyPr>
          <a:lstStyle/>
          <a:p>
            <a:pPr algn="ctr">
              <a:lnSpc>
                <a:spcPts val="5040"/>
              </a:lnSpc>
              <a:spcBef>
                <a:spcPct val="0"/>
              </a:spcBef>
            </a:pPr>
            <a:r>
              <a:rPr lang="en-US" sz="3600">
                <a:solidFill>
                  <a:srgbClr val="7AFFF5"/>
                </a:solidFill>
                <a:latin typeface="Norwester"/>
                <a:ea typeface="Norwester"/>
                <a:cs typeface="Norwester"/>
                <a:sym typeface="Norwester"/>
              </a:rPr>
              <a:t>ARCHITECTURE OF IMPLEMENTATION</a:t>
            </a:r>
          </a:p>
        </p:txBody>
      </p:sp>
      <p:sp>
        <p:nvSpPr>
          <p:cNvPr id="7" name="TextBox 7"/>
          <p:cNvSpPr txBox="1"/>
          <p:nvPr/>
        </p:nvSpPr>
        <p:spPr>
          <a:xfrm>
            <a:off x="12321786" y="1447419"/>
            <a:ext cx="2963585" cy="613410"/>
          </a:xfrm>
          <a:prstGeom prst="rect">
            <a:avLst/>
          </a:prstGeom>
        </p:spPr>
        <p:txBody>
          <a:bodyPr lIns="0" tIns="0" rIns="0" bIns="0" rtlCol="0" anchor="t">
            <a:spAutoFit/>
          </a:bodyPr>
          <a:lstStyle/>
          <a:p>
            <a:pPr algn="ctr">
              <a:lnSpc>
                <a:spcPts val="5040"/>
              </a:lnSpc>
              <a:spcBef>
                <a:spcPct val="0"/>
              </a:spcBef>
            </a:pPr>
            <a:r>
              <a:rPr lang="en-US" sz="3600">
                <a:solidFill>
                  <a:srgbClr val="7AFFF5"/>
                </a:solidFill>
                <a:latin typeface="Norwester"/>
                <a:ea typeface="Norwester"/>
                <a:cs typeface="Norwester"/>
                <a:sym typeface="Norwester"/>
              </a:rPr>
              <a:t>MODEL TRAINING</a:t>
            </a:r>
          </a:p>
        </p:txBody>
      </p:sp>
      <p:sp>
        <p:nvSpPr>
          <p:cNvPr id="8" name="TextBox 8"/>
          <p:cNvSpPr txBox="1"/>
          <p:nvPr/>
        </p:nvSpPr>
        <p:spPr>
          <a:xfrm>
            <a:off x="5593600" y="9432607"/>
            <a:ext cx="9367600"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IT21815614 | KASTHURIRATHNE K.T.A.D.K | R25-040</a:t>
            </a:r>
          </a:p>
        </p:txBody>
      </p:sp>
      <p:sp>
        <p:nvSpPr>
          <p:cNvPr id="9" name="Freeform 9"/>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5"/>
            <a:stretch>
              <a:fillRect/>
            </a:stretch>
          </a:blipFill>
        </p:spPr>
        <p:txBody>
          <a:bodyPr/>
          <a:lstStyle/>
          <a:p>
            <a:endParaRPr lang="en-US"/>
          </a:p>
        </p:txBody>
      </p:sp>
      <p:sp>
        <p:nvSpPr>
          <p:cNvPr id="10" name="TextBox 10"/>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143000"/>
            <a:ext cx="10244562" cy="856488"/>
          </a:xfrm>
          <a:prstGeom prst="rect">
            <a:avLst/>
          </a:prstGeom>
        </p:spPr>
        <p:txBody>
          <a:bodyPr lIns="0" tIns="0" rIns="0" bIns="0" rtlCol="0" anchor="t">
            <a:spAutoFit/>
          </a:bodyPr>
          <a:lstStyle/>
          <a:p>
            <a:pPr algn="l">
              <a:lnSpc>
                <a:spcPts val="6335"/>
              </a:lnSpc>
            </a:pPr>
            <a:r>
              <a:rPr lang="en-US" sz="6399">
                <a:solidFill>
                  <a:srgbClr val="7AFFF5"/>
                </a:solidFill>
                <a:latin typeface="Norwester"/>
                <a:ea typeface="Norwester"/>
                <a:cs typeface="Norwester"/>
                <a:sym typeface="Norwester"/>
              </a:rPr>
              <a:t>EVIDENCES FOR COMPLETION</a:t>
            </a:r>
          </a:p>
        </p:txBody>
      </p:sp>
      <p:sp>
        <p:nvSpPr>
          <p:cNvPr id="3" name="Freeform 3"/>
          <p:cNvSpPr/>
          <p:nvPr/>
        </p:nvSpPr>
        <p:spPr>
          <a:xfrm>
            <a:off x="1155136" y="2782158"/>
            <a:ext cx="4995845" cy="3247299"/>
          </a:xfrm>
          <a:custGeom>
            <a:avLst/>
            <a:gdLst/>
            <a:ahLst/>
            <a:cxnLst/>
            <a:rect l="l" t="t" r="r" b="b"/>
            <a:pathLst>
              <a:path w="4995845" h="3247299">
                <a:moveTo>
                  <a:pt x="0" y="0"/>
                </a:moveTo>
                <a:lnTo>
                  <a:pt x="4995845" y="0"/>
                </a:lnTo>
                <a:lnTo>
                  <a:pt x="4995845" y="3247299"/>
                </a:lnTo>
                <a:lnTo>
                  <a:pt x="0" y="3247299"/>
                </a:lnTo>
                <a:lnTo>
                  <a:pt x="0" y="0"/>
                </a:lnTo>
                <a:close/>
              </a:path>
            </a:pathLst>
          </a:custGeom>
          <a:blipFill>
            <a:blip r:embed="rId2"/>
            <a:stretch>
              <a:fillRect/>
            </a:stretch>
          </a:blipFill>
        </p:spPr>
        <p:txBody>
          <a:bodyPr/>
          <a:lstStyle/>
          <a:p>
            <a:endParaRPr lang="en-US"/>
          </a:p>
        </p:txBody>
      </p:sp>
      <p:sp>
        <p:nvSpPr>
          <p:cNvPr id="4" name="Freeform 4"/>
          <p:cNvSpPr/>
          <p:nvPr/>
        </p:nvSpPr>
        <p:spPr>
          <a:xfrm>
            <a:off x="1294930" y="6316112"/>
            <a:ext cx="4856051" cy="3156433"/>
          </a:xfrm>
          <a:custGeom>
            <a:avLst/>
            <a:gdLst/>
            <a:ahLst/>
            <a:cxnLst/>
            <a:rect l="l" t="t" r="r" b="b"/>
            <a:pathLst>
              <a:path w="4856051" h="3156433">
                <a:moveTo>
                  <a:pt x="0" y="0"/>
                </a:moveTo>
                <a:lnTo>
                  <a:pt x="4856051" y="0"/>
                </a:lnTo>
                <a:lnTo>
                  <a:pt x="4856051" y="3156433"/>
                </a:lnTo>
                <a:lnTo>
                  <a:pt x="0" y="3156433"/>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2598231" y="1932813"/>
            <a:ext cx="2249448" cy="613410"/>
          </a:xfrm>
          <a:prstGeom prst="rect">
            <a:avLst/>
          </a:prstGeom>
        </p:spPr>
        <p:txBody>
          <a:bodyPr lIns="0" tIns="0" rIns="0" bIns="0" rtlCol="0" anchor="t">
            <a:spAutoFit/>
          </a:bodyPr>
          <a:lstStyle/>
          <a:p>
            <a:pPr algn="ctr">
              <a:lnSpc>
                <a:spcPts val="5040"/>
              </a:lnSpc>
              <a:spcBef>
                <a:spcPct val="0"/>
              </a:spcBef>
            </a:pPr>
            <a:r>
              <a:rPr lang="en-US" sz="3600">
                <a:solidFill>
                  <a:srgbClr val="7AFFF5"/>
                </a:solidFill>
                <a:latin typeface="Norwester"/>
                <a:ea typeface="Norwester"/>
                <a:cs typeface="Norwester"/>
                <a:sym typeface="Norwester"/>
              </a:rPr>
              <a:t>PREDICTIONS</a:t>
            </a:r>
          </a:p>
        </p:txBody>
      </p:sp>
      <p:sp>
        <p:nvSpPr>
          <p:cNvPr id="6" name="Freeform 6"/>
          <p:cNvSpPr/>
          <p:nvPr/>
        </p:nvSpPr>
        <p:spPr>
          <a:xfrm>
            <a:off x="10938995" y="578070"/>
            <a:ext cx="6781809" cy="4408176"/>
          </a:xfrm>
          <a:custGeom>
            <a:avLst/>
            <a:gdLst/>
            <a:ahLst/>
            <a:cxnLst/>
            <a:rect l="l" t="t" r="r" b="b"/>
            <a:pathLst>
              <a:path w="6781809" h="4408176">
                <a:moveTo>
                  <a:pt x="0" y="0"/>
                </a:moveTo>
                <a:lnTo>
                  <a:pt x="6781808" y="0"/>
                </a:lnTo>
                <a:lnTo>
                  <a:pt x="6781808" y="4408176"/>
                </a:lnTo>
                <a:lnTo>
                  <a:pt x="0" y="4408176"/>
                </a:lnTo>
                <a:lnTo>
                  <a:pt x="0" y="0"/>
                </a:lnTo>
                <a:close/>
              </a:path>
            </a:pathLst>
          </a:custGeom>
          <a:blipFill>
            <a:blip r:embed="rId4"/>
            <a:stretch>
              <a:fillRect/>
            </a:stretch>
          </a:blipFill>
        </p:spPr>
        <p:txBody>
          <a:bodyPr/>
          <a:lstStyle/>
          <a:p>
            <a:endParaRPr lang="en-US"/>
          </a:p>
        </p:txBody>
      </p:sp>
      <p:sp>
        <p:nvSpPr>
          <p:cNvPr id="7" name="Freeform 7"/>
          <p:cNvSpPr/>
          <p:nvPr/>
        </p:nvSpPr>
        <p:spPr>
          <a:xfrm>
            <a:off x="12319444" y="5182222"/>
            <a:ext cx="5401359" cy="3510884"/>
          </a:xfrm>
          <a:custGeom>
            <a:avLst/>
            <a:gdLst/>
            <a:ahLst/>
            <a:cxnLst/>
            <a:rect l="l" t="t" r="r" b="b"/>
            <a:pathLst>
              <a:path w="5401359" h="3510884">
                <a:moveTo>
                  <a:pt x="0" y="0"/>
                </a:moveTo>
                <a:lnTo>
                  <a:pt x="5401359" y="0"/>
                </a:lnTo>
                <a:lnTo>
                  <a:pt x="5401359" y="3510884"/>
                </a:lnTo>
                <a:lnTo>
                  <a:pt x="0" y="3510884"/>
                </a:lnTo>
                <a:lnTo>
                  <a:pt x="0" y="0"/>
                </a:lnTo>
                <a:close/>
              </a:path>
            </a:pathLst>
          </a:custGeom>
          <a:blipFill>
            <a:blip r:embed="rId5"/>
            <a:stretch>
              <a:fillRect/>
            </a:stretch>
          </a:blipFill>
        </p:spPr>
        <p:txBody>
          <a:bodyPr/>
          <a:lstStyle/>
          <a:p>
            <a:endParaRPr lang="en-US"/>
          </a:p>
        </p:txBody>
      </p:sp>
      <p:sp>
        <p:nvSpPr>
          <p:cNvPr id="8" name="Freeform 8"/>
          <p:cNvSpPr/>
          <p:nvPr/>
        </p:nvSpPr>
        <p:spPr>
          <a:xfrm>
            <a:off x="6388647" y="5143500"/>
            <a:ext cx="5460932" cy="3549606"/>
          </a:xfrm>
          <a:custGeom>
            <a:avLst/>
            <a:gdLst/>
            <a:ahLst/>
            <a:cxnLst/>
            <a:rect l="l" t="t" r="r" b="b"/>
            <a:pathLst>
              <a:path w="5460932" h="3549606">
                <a:moveTo>
                  <a:pt x="0" y="0"/>
                </a:moveTo>
                <a:lnTo>
                  <a:pt x="5460932" y="0"/>
                </a:lnTo>
                <a:lnTo>
                  <a:pt x="5460932" y="3549606"/>
                </a:lnTo>
                <a:lnTo>
                  <a:pt x="0" y="3549606"/>
                </a:lnTo>
                <a:lnTo>
                  <a:pt x="0" y="0"/>
                </a:lnTo>
                <a:close/>
              </a:path>
            </a:pathLst>
          </a:custGeom>
          <a:blipFill>
            <a:blip r:embed="rId6"/>
            <a:stretch>
              <a:fillRect/>
            </a:stretch>
          </a:blipFill>
        </p:spPr>
        <p:txBody>
          <a:bodyPr/>
          <a:lstStyle/>
          <a:p>
            <a:endParaRPr lang="en-US"/>
          </a:p>
        </p:txBody>
      </p:sp>
      <p:sp>
        <p:nvSpPr>
          <p:cNvPr id="9" name="TextBox 9"/>
          <p:cNvSpPr txBox="1"/>
          <p:nvPr/>
        </p:nvSpPr>
        <p:spPr>
          <a:xfrm>
            <a:off x="5593600" y="9432607"/>
            <a:ext cx="9367600"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IT21815614 | KASTHURIRATHNE K.T.A.D.K | R25-040</a:t>
            </a:r>
          </a:p>
        </p:txBody>
      </p:sp>
      <p:sp>
        <p:nvSpPr>
          <p:cNvPr id="10" name="Freeform 10"/>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7"/>
            <a:stretch>
              <a:fillRect/>
            </a:stretch>
          </a:blipFill>
        </p:spPr>
        <p:txBody>
          <a:bodyPr/>
          <a:lstStyle/>
          <a:p>
            <a:endParaRPr lang="en-US"/>
          </a:p>
        </p:txBody>
      </p:sp>
      <p:sp>
        <p:nvSpPr>
          <p:cNvPr id="11" name="TextBox 11"/>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2"/>
            <a:stretch>
              <a:fillRect/>
            </a:stretch>
          </a:blipFill>
        </p:spPr>
        <p:txBody>
          <a:bodyPr/>
          <a:lstStyle/>
          <a:p>
            <a:endParaRPr lang="en-US"/>
          </a:p>
        </p:txBody>
      </p:sp>
      <p:sp>
        <p:nvSpPr>
          <p:cNvPr id="3" name="Freeform 3"/>
          <p:cNvSpPr/>
          <p:nvPr/>
        </p:nvSpPr>
        <p:spPr>
          <a:xfrm>
            <a:off x="6170681" y="3895317"/>
            <a:ext cx="5946639" cy="3560550"/>
          </a:xfrm>
          <a:custGeom>
            <a:avLst/>
            <a:gdLst/>
            <a:ahLst/>
            <a:cxnLst/>
            <a:rect l="l" t="t" r="r" b="b"/>
            <a:pathLst>
              <a:path w="5946639" h="3560550">
                <a:moveTo>
                  <a:pt x="0" y="0"/>
                </a:moveTo>
                <a:lnTo>
                  <a:pt x="5946638" y="0"/>
                </a:lnTo>
                <a:lnTo>
                  <a:pt x="5946638" y="3560550"/>
                </a:lnTo>
                <a:lnTo>
                  <a:pt x="0" y="356055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5106414" y="7855559"/>
            <a:ext cx="9065657" cy="1038225"/>
          </a:xfrm>
          <a:prstGeom prst="rect">
            <a:avLst/>
          </a:prstGeom>
        </p:spPr>
        <p:txBody>
          <a:bodyPr lIns="0" tIns="0" rIns="0" bIns="0" rtlCol="0" anchor="t">
            <a:spAutoFit/>
          </a:bodyPr>
          <a:lstStyle/>
          <a:p>
            <a:pPr algn="ctr">
              <a:lnSpc>
                <a:spcPts val="4199"/>
              </a:lnSpc>
              <a:spcBef>
                <a:spcPct val="0"/>
              </a:spcBef>
            </a:pPr>
            <a:r>
              <a:rPr lang="en-US" sz="2999">
                <a:solidFill>
                  <a:srgbClr val="7AFFF5"/>
                </a:solidFill>
                <a:latin typeface="Norwester"/>
                <a:ea typeface="Norwester"/>
                <a:cs typeface="Norwester"/>
                <a:sym typeface="Norwester"/>
              </a:rPr>
              <a:t>BACHELOR OF SCIENCE (HONS) IN INFORMATION TECHNOLOGY </a:t>
            </a:r>
          </a:p>
          <a:p>
            <a:pPr algn="ctr">
              <a:lnSpc>
                <a:spcPts val="4199"/>
              </a:lnSpc>
              <a:spcBef>
                <a:spcPct val="0"/>
              </a:spcBef>
            </a:pPr>
            <a:r>
              <a:rPr lang="en-US" sz="2999">
                <a:solidFill>
                  <a:srgbClr val="7AFFF5"/>
                </a:solidFill>
                <a:latin typeface="Norwester"/>
                <a:ea typeface="Norwester"/>
                <a:cs typeface="Norwester"/>
                <a:sym typeface="Norwester"/>
              </a:rPr>
              <a:t>SPECIALIZING IN INFORMATION TECHNOLOGY</a:t>
            </a:r>
          </a:p>
        </p:txBody>
      </p:sp>
      <p:sp>
        <p:nvSpPr>
          <p:cNvPr id="5" name="TextBox 5"/>
          <p:cNvSpPr txBox="1"/>
          <p:nvPr/>
        </p:nvSpPr>
        <p:spPr>
          <a:xfrm>
            <a:off x="4889242" y="933450"/>
            <a:ext cx="8509516" cy="821055"/>
          </a:xfrm>
          <a:prstGeom prst="rect">
            <a:avLst/>
          </a:prstGeom>
        </p:spPr>
        <p:txBody>
          <a:bodyPr lIns="0" tIns="0" rIns="0" bIns="0" rtlCol="0" anchor="t">
            <a:spAutoFit/>
          </a:bodyPr>
          <a:lstStyle/>
          <a:p>
            <a:pPr algn="ctr">
              <a:lnSpc>
                <a:spcPts val="6719"/>
              </a:lnSpc>
              <a:spcBef>
                <a:spcPct val="0"/>
              </a:spcBef>
            </a:pPr>
            <a:r>
              <a:rPr lang="en-US" sz="4800">
                <a:solidFill>
                  <a:srgbClr val="7AFFF5"/>
                </a:solidFill>
                <a:latin typeface="Norwester"/>
                <a:ea typeface="Norwester"/>
                <a:cs typeface="Norwester"/>
                <a:sym typeface="Norwester"/>
              </a:rPr>
              <a:t>IT21838620 | S.U.D.A GUNASEKARA</a:t>
            </a:r>
          </a:p>
        </p:txBody>
      </p:sp>
      <p:sp>
        <p:nvSpPr>
          <p:cNvPr id="6" name="TextBox 6"/>
          <p:cNvSpPr txBox="1"/>
          <p:nvPr/>
        </p:nvSpPr>
        <p:spPr>
          <a:xfrm>
            <a:off x="1615962" y="1940787"/>
            <a:ext cx="15435739" cy="821055"/>
          </a:xfrm>
          <a:prstGeom prst="rect">
            <a:avLst/>
          </a:prstGeom>
        </p:spPr>
        <p:txBody>
          <a:bodyPr lIns="0" tIns="0" rIns="0" bIns="0" rtlCol="0" anchor="t">
            <a:spAutoFit/>
          </a:bodyPr>
          <a:lstStyle/>
          <a:p>
            <a:pPr algn="ctr">
              <a:lnSpc>
                <a:spcPts val="6719"/>
              </a:lnSpc>
            </a:pPr>
            <a:r>
              <a:rPr lang="en-US" sz="4800">
                <a:solidFill>
                  <a:srgbClr val="FFFFFF"/>
                </a:solidFill>
                <a:latin typeface="Norwester"/>
                <a:ea typeface="Norwester"/>
                <a:cs typeface="Norwester"/>
                <a:sym typeface="Norwester"/>
              </a:rPr>
              <a:t>COMPONENT 03: Predict the Confident through eye contact </a:t>
            </a:r>
          </a:p>
        </p:txBody>
      </p:sp>
      <p:sp>
        <p:nvSpPr>
          <p:cNvPr id="7" name="TextBox 7"/>
          <p:cNvSpPr txBox="1"/>
          <p:nvPr/>
        </p:nvSpPr>
        <p:spPr>
          <a:xfrm>
            <a:off x="7013020" y="9442132"/>
            <a:ext cx="5612606" cy="415290"/>
          </a:xfrm>
          <a:prstGeom prst="rect">
            <a:avLst/>
          </a:prstGeom>
        </p:spPr>
        <p:txBody>
          <a:bodyPr lIns="0" tIns="0" rIns="0" bIns="0" rtlCol="0" anchor="t">
            <a:spAutoFit/>
          </a:bodyPr>
          <a:lstStyle/>
          <a:p>
            <a:pPr algn="ctr">
              <a:lnSpc>
                <a:spcPts val="3359"/>
              </a:lnSpc>
              <a:spcBef>
                <a:spcPct val="0"/>
              </a:spcBef>
            </a:pPr>
            <a:r>
              <a:rPr lang="en-US" sz="2400">
                <a:solidFill>
                  <a:srgbClr val="FFFFFF"/>
                </a:solidFill>
                <a:latin typeface="Norwester"/>
                <a:ea typeface="Norwester"/>
                <a:cs typeface="Norwester"/>
                <a:sym typeface="Norwester"/>
              </a:rPr>
              <a:t>IT21838620 | S.U.D.A GUNASEKARA | R25-040</a:t>
            </a:r>
          </a:p>
        </p:txBody>
      </p:sp>
      <p:sp>
        <p:nvSpPr>
          <p:cNvPr id="8" name="TextBox 8"/>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825552" y="1426296"/>
            <a:ext cx="14636895" cy="1275207"/>
          </a:xfrm>
          <a:prstGeom prst="rect">
            <a:avLst/>
          </a:prstGeom>
        </p:spPr>
        <p:txBody>
          <a:bodyPr lIns="0" tIns="0" rIns="0" bIns="0" rtlCol="0" anchor="t">
            <a:spAutoFit/>
          </a:bodyPr>
          <a:lstStyle/>
          <a:p>
            <a:pPr algn="l">
              <a:lnSpc>
                <a:spcPts val="9504"/>
              </a:lnSpc>
            </a:pPr>
            <a:r>
              <a:rPr lang="en-US" sz="9600">
                <a:solidFill>
                  <a:srgbClr val="7AFFF5"/>
                </a:solidFill>
                <a:latin typeface="Norwester"/>
                <a:ea typeface="Norwester"/>
                <a:cs typeface="Norwester"/>
                <a:sym typeface="Norwester"/>
              </a:rPr>
              <a:t>SUMMARY OF THE COMPONENT </a:t>
            </a:r>
          </a:p>
        </p:txBody>
      </p:sp>
      <p:sp>
        <p:nvSpPr>
          <p:cNvPr id="4" name="TextBox 4"/>
          <p:cNvSpPr txBox="1"/>
          <p:nvPr/>
        </p:nvSpPr>
        <p:spPr>
          <a:xfrm>
            <a:off x="6067945" y="9432607"/>
            <a:ext cx="8418909"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IT21838620 | S.U.D.A GUNASEKARA | R25-040</a:t>
            </a:r>
          </a:p>
        </p:txBody>
      </p:sp>
      <p:sp>
        <p:nvSpPr>
          <p:cNvPr id="5" name="Freeform 5"/>
          <p:cNvSpPr/>
          <p:nvPr/>
        </p:nvSpPr>
        <p:spPr>
          <a:xfrm>
            <a:off x="9783509" y="3415532"/>
            <a:ext cx="4475995" cy="1473009"/>
          </a:xfrm>
          <a:custGeom>
            <a:avLst/>
            <a:gdLst/>
            <a:ahLst/>
            <a:cxnLst/>
            <a:rect l="l" t="t" r="r" b="b"/>
            <a:pathLst>
              <a:path w="4475995" h="1473009">
                <a:moveTo>
                  <a:pt x="0" y="0"/>
                </a:moveTo>
                <a:lnTo>
                  <a:pt x="4475995" y="0"/>
                </a:lnTo>
                <a:lnTo>
                  <a:pt x="4475995" y="1473009"/>
                </a:lnTo>
                <a:lnTo>
                  <a:pt x="0" y="14730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9783509" y="6270844"/>
            <a:ext cx="4475995" cy="1473009"/>
          </a:xfrm>
          <a:custGeom>
            <a:avLst/>
            <a:gdLst/>
            <a:ahLst/>
            <a:cxnLst/>
            <a:rect l="l" t="t" r="r" b="b"/>
            <a:pathLst>
              <a:path w="4475995" h="1473009">
                <a:moveTo>
                  <a:pt x="0" y="0"/>
                </a:moveTo>
                <a:lnTo>
                  <a:pt x="4475995" y="0"/>
                </a:lnTo>
                <a:lnTo>
                  <a:pt x="4475995" y="1473009"/>
                </a:lnTo>
                <a:lnTo>
                  <a:pt x="0" y="14730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3832340" y="7007348"/>
            <a:ext cx="4475995" cy="1473009"/>
          </a:xfrm>
          <a:custGeom>
            <a:avLst/>
            <a:gdLst/>
            <a:ahLst/>
            <a:cxnLst/>
            <a:rect l="l" t="t" r="r" b="b"/>
            <a:pathLst>
              <a:path w="4475995" h="1473009">
                <a:moveTo>
                  <a:pt x="0" y="0"/>
                </a:moveTo>
                <a:lnTo>
                  <a:pt x="4475994" y="0"/>
                </a:lnTo>
                <a:lnTo>
                  <a:pt x="4475994" y="1473010"/>
                </a:lnTo>
                <a:lnTo>
                  <a:pt x="0" y="14730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a:off x="3320813" y="4152036"/>
            <a:ext cx="4475995" cy="1473009"/>
          </a:xfrm>
          <a:custGeom>
            <a:avLst/>
            <a:gdLst/>
            <a:ahLst/>
            <a:cxnLst/>
            <a:rect l="l" t="t" r="r" b="b"/>
            <a:pathLst>
              <a:path w="4475995" h="1473009">
                <a:moveTo>
                  <a:pt x="0" y="0"/>
                </a:moveTo>
                <a:lnTo>
                  <a:pt x="4475995" y="0"/>
                </a:lnTo>
                <a:lnTo>
                  <a:pt x="4475995" y="1473010"/>
                </a:lnTo>
                <a:lnTo>
                  <a:pt x="0" y="14730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9" name="TextBox 9"/>
          <p:cNvSpPr txBox="1"/>
          <p:nvPr/>
        </p:nvSpPr>
        <p:spPr>
          <a:xfrm>
            <a:off x="3320813" y="4548499"/>
            <a:ext cx="4475995"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BACKGROUND</a:t>
            </a:r>
          </a:p>
        </p:txBody>
      </p:sp>
      <p:sp>
        <p:nvSpPr>
          <p:cNvPr id="10" name="TextBox 10"/>
          <p:cNvSpPr txBox="1"/>
          <p:nvPr/>
        </p:nvSpPr>
        <p:spPr>
          <a:xfrm>
            <a:off x="3832340" y="7403811"/>
            <a:ext cx="4475995"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OBJECTIVES</a:t>
            </a:r>
          </a:p>
        </p:txBody>
      </p:sp>
      <p:sp>
        <p:nvSpPr>
          <p:cNvPr id="11" name="TextBox 11"/>
          <p:cNvSpPr txBox="1"/>
          <p:nvPr/>
        </p:nvSpPr>
        <p:spPr>
          <a:xfrm>
            <a:off x="10674314" y="3904834"/>
            <a:ext cx="2813086" cy="573234"/>
          </a:xfrm>
          <a:prstGeom prst="rect">
            <a:avLst/>
          </a:prstGeom>
        </p:spPr>
        <p:txBody>
          <a:bodyPr wrap="square" lIns="0" tIns="0" rIns="0" bIns="0" rtlCol="0" anchor="t">
            <a:spAutoFit/>
          </a:bodyPr>
          <a:lstStyle/>
          <a:p>
            <a:pPr algn="ctr">
              <a:lnSpc>
                <a:spcPts val="5040"/>
              </a:lnSpc>
              <a:spcBef>
                <a:spcPct val="0"/>
              </a:spcBef>
            </a:pPr>
            <a:r>
              <a:rPr lang="en-US" sz="3600" dirty="0">
                <a:solidFill>
                  <a:srgbClr val="FFFFFF"/>
                </a:solidFill>
                <a:latin typeface="Norwester"/>
                <a:ea typeface="Norwester"/>
                <a:cs typeface="Norwester"/>
                <a:sym typeface="Norwester"/>
              </a:rPr>
              <a:t>RESEARCH GAP</a:t>
            </a:r>
          </a:p>
        </p:txBody>
      </p:sp>
      <p:sp>
        <p:nvSpPr>
          <p:cNvPr id="12" name="TextBox 12"/>
          <p:cNvSpPr txBox="1"/>
          <p:nvPr/>
        </p:nvSpPr>
        <p:spPr>
          <a:xfrm>
            <a:off x="10277400" y="6668721"/>
            <a:ext cx="3743400" cy="573234"/>
          </a:xfrm>
          <a:prstGeom prst="rect">
            <a:avLst/>
          </a:prstGeom>
        </p:spPr>
        <p:txBody>
          <a:bodyPr wrap="square" lIns="0" tIns="0" rIns="0" bIns="0" rtlCol="0" anchor="t">
            <a:spAutoFit/>
          </a:bodyPr>
          <a:lstStyle/>
          <a:p>
            <a:pPr algn="ctr">
              <a:lnSpc>
                <a:spcPts val="5040"/>
              </a:lnSpc>
              <a:spcBef>
                <a:spcPct val="0"/>
              </a:spcBef>
            </a:pPr>
            <a:r>
              <a:rPr lang="en-US" sz="3600" dirty="0">
                <a:solidFill>
                  <a:srgbClr val="FFFFFF"/>
                </a:solidFill>
                <a:latin typeface="Norwester"/>
                <a:ea typeface="Norwester"/>
                <a:cs typeface="Norwester"/>
                <a:sym typeface="Norwester"/>
              </a:rPr>
              <a:t>RESEARCH QUESTION</a:t>
            </a:r>
          </a:p>
        </p:txBody>
      </p:sp>
      <p:sp>
        <p:nvSpPr>
          <p:cNvPr id="13" name="TextBox 13"/>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2"/>
            <a:stretch>
              <a:fillRect/>
            </a:stretch>
          </a:blipFill>
        </p:spPr>
        <p:txBody>
          <a:bodyPr/>
          <a:lstStyle/>
          <a:p>
            <a:endParaRPr lang="en-US"/>
          </a:p>
        </p:txBody>
      </p:sp>
      <p:sp>
        <p:nvSpPr>
          <p:cNvPr id="3" name="Freeform 3"/>
          <p:cNvSpPr/>
          <p:nvPr/>
        </p:nvSpPr>
        <p:spPr>
          <a:xfrm>
            <a:off x="5795737" y="2567858"/>
            <a:ext cx="7168315" cy="6281668"/>
          </a:xfrm>
          <a:custGeom>
            <a:avLst/>
            <a:gdLst/>
            <a:ahLst/>
            <a:cxnLst/>
            <a:rect l="l" t="t" r="r" b="b"/>
            <a:pathLst>
              <a:path w="7168315" h="6281668">
                <a:moveTo>
                  <a:pt x="0" y="0"/>
                </a:moveTo>
                <a:lnTo>
                  <a:pt x="7168315" y="0"/>
                </a:lnTo>
                <a:lnTo>
                  <a:pt x="7168315" y="6281668"/>
                </a:lnTo>
                <a:lnTo>
                  <a:pt x="0" y="6281668"/>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847491"/>
            <a:ext cx="16230600" cy="1070611"/>
          </a:xfrm>
          <a:prstGeom prst="rect">
            <a:avLst/>
          </a:prstGeom>
        </p:spPr>
        <p:txBody>
          <a:bodyPr lIns="0" tIns="0" rIns="0" bIns="0" rtlCol="0" anchor="t">
            <a:spAutoFit/>
          </a:bodyPr>
          <a:lstStyle/>
          <a:p>
            <a:pPr algn="ctr">
              <a:lnSpc>
                <a:spcPts val="7920"/>
              </a:lnSpc>
            </a:pPr>
            <a:r>
              <a:rPr lang="en-US" sz="8000">
                <a:solidFill>
                  <a:srgbClr val="7AFFF5"/>
                </a:solidFill>
                <a:latin typeface="Norwester"/>
                <a:ea typeface="Norwester"/>
                <a:cs typeface="Norwester"/>
                <a:sym typeface="Norwester"/>
              </a:rPr>
              <a:t>SYSTEM DIAGRAM &amp; METHODOLOGY</a:t>
            </a:r>
          </a:p>
        </p:txBody>
      </p:sp>
      <p:sp>
        <p:nvSpPr>
          <p:cNvPr id="5" name="TextBox 5"/>
          <p:cNvSpPr txBox="1"/>
          <p:nvPr/>
        </p:nvSpPr>
        <p:spPr>
          <a:xfrm>
            <a:off x="6067945" y="9432607"/>
            <a:ext cx="8418909"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IT21838620 | S.U.D.A GUNASEKARA | R25-040</a:t>
            </a:r>
          </a:p>
        </p:txBody>
      </p:sp>
      <p:sp>
        <p:nvSpPr>
          <p:cNvPr id="6" name="TextBox 6"/>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6323164" y="501638"/>
            <a:ext cx="6339483" cy="1104265"/>
          </a:xfrm>
          <a:prstGeom prst="rect">
            <a:avLst/>
          </a:prstGeom>
        </p:spPr>
        <p:txBody>
          <a:bodyPr lIns="0" tIns="0" rIns="0" bIns="0" rtlCol="0" anchor="t">
            <a:spAutoFit/>
          </a:bodyPr>
          <a:lstStyle/>
          <a:p>
            <a:pPr algn="ctr">
              <a:lnSpc>
                <a:spcPts val="8959"/>
              </a:lnSpc>
              <a:spcBef>
                <a:spcPct val="0"/>
              </a:spcBef>
            </a:pPr>
            <a:r>
              <a:rPr lang="en-US" sz="6399">
                <a:solidFill>
                  <a:srgbClr val="7AFFF5"/>
                </a:solidFill>
                <a:latin typeface="Norwester"/>
                <a:ea typeface="Norwester"/>
                <a:cs typeface="Norwester"/>
                <a:sym typeface="Norwester"/>
              </a:rPr>
              <a:t>CURRENT PROGRESS</a:t>
            </a:r>
          </a:p>
        </p:txBody>
      </p:sp>
      <p:sp>
        <p:nvSpPr>
          <p:cNvPr id="3" name="TextBox 3"/>
          <p:cNvSpPr txBox="1"/>
          <p:nvPr/>
        </p:nvSpPr>
        <p:spPr>
          <a:xfrm>
            <a:off x="701688" y="2482204"/>
            <a:ext cx="4874332" cy="1455420"/>
          </a:xfrm>
          <a:prstGeom prst="rect">
            <a:avLst/>
          </a:prstGeom>
        </p:spPr>
        <p:txBody>
          <a:bodyPr lIns="0" tIns="0" rIns="0" bIns="0" rtlCol="0" anchor="t">
            <a:spAutoFit/>
          </a:bodyPr>
          <a:lstStyle/>
          <a:p>
            <a:pPr algn="ctr">
              <a:lnSpc>
                <a:spcPts val="5880"/>
              </a:lnSpc>
            </a:pPr>
            <a:r>
              <a:rPr lang="en-US" sz="4200">
                <a:solidFill>
                  <a:srgbClr val="FFFFFF"/>
                </a:solidFill>
                <a:latin typeface="Norwester"/>
                <a:ea typeface="Norwester"/>
                <a:cs typeface="Norwester"/>
                <a:sym typeface="Norwester"/>
              </a:rPr>
              <a:t>Data gathering &amp; Analyzing</a:t>
            </a:r>
          </a:p>
        </p:txBody>
      </p:sp>
      <p:pic>
        <p:nvPicPr>
          <p:cNvPr id="4" name="Picture 4"/>
          <p:cNvPicPr>
            <a:picLocks noChangeAspect="1"/>
          </p:cNvPicPr>
          <p:nvPr/>
        </p:nvPicPr>
        <p:blipFill>
          <a:blip r:embed="rId2"/>
          <a:stretch>
            <a:fillRect/>
          </a:stretch>
        </p:blipFill>
        <p:spPr>
          <a:xfrm>
            <a:off x="1682070" y="4620650"/>
            <a:ext cx="3247870" cy="3247870"/>
          </a:xfrm>
          <a:prstGeom prst="rect">
            <a:avLst/>
          </a:prstGeom>
        </p:spPr>
      </p:pic>
      <p:sp>
        <p:nvSpPr>
          <p:cNvPr id="5" name="TextBox 5"/>
          <p:cNvSpPr txBox="1"/>
          <p:nvPr/>
        </p:nvSpPr>
        <p:spPr>
          <a:xfrm>
            <a:off x="7680864" y="2482204"/>
            <a:ext cx="3907155" cy="1455420"/>
          </a:xfrm>
          <a:prstGeom prst="rect">
            <a:avLst/>
          </a:prstGeom>
        </p:spPr>
        <p:txBody>
          <a:bodyPr lIns="0" tIns="0" rIns="0" bIns="0" rtlCol="0" anchor="t">
            <a:spAutoFit/>
          </a:bodyPr>
          <a:lstStyle/>
          <a:p>
            <a:pPr algn="ctr">
              <a:lnSpc>
                <a:spcPts val="5880"/>
              </a:lnSpc>
            </a:pPr>
            <a:r>
              <a:rPr lang="en-US" sz="4200">
                <a:solidFill>
                  <a:srgbClr val="FFFFFF"/>
                </a:solidFill>
                <a:latin typeface="Norwester"/>
                <a:ea typeface="Norwester"/>
                <a:cs typeface="Norwester"/>
                <a:sym typeface="Norwester"/>
              </a:rPr>
              <a:t>preprocessing &amp; </a:t>
            </a:r>
          </a:p>
          <a:p>
            <a:pPr algn="ctr">
              <a:lnSpc>
                <a:spcPts val="5880"/>
              </a:lnSpc>
            </a:pPr>
            <a:r>
              <a:rPr lang="en-US" sz="4200">
                <a:solidFill>
                  <a:srgbClr val="FFFFFF"/>
                </a:solidFill>
                <a:latin typeface="Norwester"/>
                <a:ea typeface="Norwester"/>
                <a:cs typeface="Norwester"/>
                <a:sym typeface="Norwester"/>
              </a:rPr>
              <a:t>model training </a:t>
            </a:r>
          </a:p>
        </p:txBody>
      </p:sp>
      <p:pic>
        <p:nvPicPr>
          <p:cNvPr id="6" name="Picture 6"/>
          <p:cNvPicPr>
            <a:picLocks noChangeAspect="1"/>
          </p:cNvPicPr>
          <p:nvPr/>
        </p:nvPicPr>
        <p:blipFill>
          <a:blip r:embed="rId3"/>
          <a:stretch>
            <a:fillRect/>
          </a:stretch>
        </p:blipFill>
        <p:spPr>
          <a:xfrm>
            <a:off x="8027704" y="4620287"/>
            <a:ext cx="3252224" cy="3252224"/>
          </a:xfrm>
          <a:prstGeom prst="rect">
            <a:avLst/>
          </a:prstGeom>
        </p:spPr>
      </p:pic>
      <p:sp>
        <p:nvSpPr>
          <p:cNvPr id="7" name="TextBox 7"/>
          <p:cNvSpPr txBox="1"/>
          <p:nvPr/>
        </p:nvSpPr>
        <p:spPr>
          <a:xfrm>
            <a:off x="13536972" y="2482204"/>
            <a:ext cx="3722328" cy="1455420"/>
          </a:xfrm>
          <a:prstGeom prst="rect">
            <a:avLst/>
          </a:prstGeom>
        </p:spPr>
        <p:txBody>
          <a:bodyPr lIns="0" tIns="0" rIns="0" bIns="0" rtlCol="0" anchor="t">
            <a:spAutoFit/>
          </a:bodyPr>
          <a:lstStyle/>
          <a:p>
            <a:pPr algn="ctr">
              <a:lnSpc>
                <a:spcPts val="5880"/>
              </a:lnSpc>
            </a:pPr>
            <a:r>
              <a:rPr lang="en-US" sz="4200">
                <a:solidFill>
                  <a:srgbClr val="FFFFFF"/>
                </a:solidFill>
                <a:latin typeface="Norwester"/>
                <a:ea typeface="Norwester"/>
                <a:cs typeface="Norwester"/>
                <a:sym typeface="Norwester"/>
              </a:rPr>
              <a:t>testing Model accuracy </a:t>
            </a:r>
          </a:p>
        </p:txBody>
      </p:sp>
      <p:pic>
        <p:nvPicPr>
          <p:cNvPr id="8" name="Picture 8"/>
          <p:cNvPicPr>
            <a:picLocks noChangeAspect="1"/>
          </p:cNvPicPr>
          <p:nvPr/>
        </p:nvPicPr>
        <p:blipFill>
          <a:blip r:embed="rId4"/>
          <a:stretch>
            <a:fillRect/>
          </a:stretch>
        </p:blipFill>
        <p:spPr>
          <a:xfrm>
            <a:off x="13937660" y="4632751"/>
            <a:ext cx="3223668" cy="3223668"/>
          </a:xfrm>
          <a:prstGeom prst="rect">
            <a:avLst/>
          </a:prstGeom>
        </p:spPr>
      </p:pic>
      <p:sp>
        <p:nvSpPr>
          <p:cNvPr id="9" name="TextBox 9"/>
          <p:cNvSpPr txBox="1"/>
          <p:nvPr/>
        </p:nvSpPr>
        <p:spPr>
          <a:xfrm>
            <a:off x="9239607" y="5953563"/>
            <a:ext cx="894993" cy="480068"/>
          </a:xfrm>
          <a:prstGeom prst="rect">
            <a:avLst/>
          </a:prstGeom>
        </p:spPr>
        <p:txBody>
          <a:bodyPr wrap="square" lIns="0" tIns="0" rIns="0" bIns="0" rtlCol="0" anchor="t">
            <a:spAutoFit/>
          </a:bodyPr>
          <a:lstStyle/>
          <a:p>
            <a:pPr algn="ctr">
              <a:lnSpc>
                <a:spcPts val="4154"/>
              </a:lnSpc>
            </a:pPr>
            <a:r>
              <a:rPr lang="en-US" sz="2967" dirty="0">
                <a:solidFill>
                  <a:srgbClr val="FFFFFF"/>
                </a:solidFill>
                <a:latin typeface="Norwester"/>
                <a:ea typeface="Norwester"/>
                <a:cs typeface="Norwester"/>
                <a:sym typeface="Norwester"/>
              </a:rPr>
              <a:t>100%</a:t>
            </a:r>
          </a:p>
        </p:txBody>
      </p:sp>
      <p:sp>
        <p:nvSpPr>
          <p:cNvPr id="10" name="TextBox 10"/>
          <p:cNvSpPr txBox="1"/>
          <p:nvPr/>
        </p:nvSpPr>
        <p:spPr>
          <a:xfrm>
            <a:off x="15197113" y="5953563"/>
            <a:ext cx="804887" cy="480068"/>
          </a:xfrm>
          <a:prstGeom prst="rect">
            <a:avLst/>
          </a:prstGeom>
        </p:spPr>
        <p:txBody>
          <a:bodyPr wrap="square" lIns="0" tIns="0" rIns="0" bIns="0" rtlCol="0" anchor="t">
            <a:spAutoFit/>
          </a:bodyPr>
          <a:lstStyle/>
          <a:p>
            <a:pPr algn="ctr">
              <a:lnSpc>
                <a:spcPts val="4154"/>
              </a:lnSpc>
            </a:pPr>
            <a:r>
              <a:rPr lang="en-US" sz="2967" dirty="0">
                <a:solidFill>
                  <a:srgbClr val="FFFFFF"/>
                </a:solidFill>
                <a:latin typeface="Norwester"/>
                <a:ea typeface="Norwester"/>
                <a:cs typeface="Norwester"/>
                <a:sym typeface="Norwester"/>
              </a:rPr>
              <a:t>85%</a:t>
            </a:r>
          </a:p>
        </p:txBody>
      </p:sp>
      <p:sp>
        <p:nvSpPr>
          <p:cNvPr id="11" name="TextBox 11"/>
          <p:cNvSpPr txBox="1"/>
          <p:nvPr/>
        </p:nvSpPr>
        <p:spPr>
          <a:xfrm>
            <a:off x="2891795" y="5953563"/>
            <a:ext cx="842005" cy="480068"/>
          </a:xfrm>
          <a:prstGeom prst="rect">
            <a:avLst/>
          </a:prstGeom>
        </p:spPr>
        <p:txBody>
          <a:bodyPr wrap="square" lIns="0" tIns="0" rIns="0" bIns="0" rtlCol="0" anchor="t">
            <a:spAutoFit/>
          </a:bodyPr>
          <a:lstStyle/>
          <a:p>
            <a:pPr algn="ctr">
              <a:lnSpc>
                <a:spcPts val="4154"/>
              </a:lnSpc>
            </a:pPr>
            <a:r>
              <a:rPr lang="en-US" sz="2967" dirty="0">
                <a:solidFill>
                  <a:srgbClr val="FFFFFF"/>
                </a:solidFill>
                <a:latin typeface="Norwester"/>
                <a:ea typeface="Norwester"/>
                <a:cs typeface="Norwester"/>
                <a:sym typeface="Norwester"/>
              </a:rPr>
              <a:t>100%</a:t>
            </a:r>
          </a:p>
        </p:txBody>
      </p:sp>
      <p:sp>
        <p:nvSpPr>
          <p:cNvPr id="12" name="Freeform 12"/>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5"/>
            <a:stretch>
              <a:fillRect/>
            </a:stretch>
          </a:blipFill>
        </p:spPr>
        <p:txBody>
          <a:bodyPr/>
          <a:lstStyle/>
          <a:p>
            <a:endParaRPr lang="en-US"/>
          </a:p>
        </p:txBody>
      </p:sp>
      <p:sp>
        <p:nvSpPr>
          <p:cNvPr id="13" name="TextBox 13"/>
          <p:cNvSpPr txBox="1"/>
          <p:nvPr/>
        </p:nvSpPr>
        <p:spPr>
          <a:xfrm>
            <a:off x="6067945" y="9432607"/>
            <a:ext cx="8418909"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IT21838620 | S.U.D.A GUNASEKARA | R25-040</a:t>
            </a:r>
          </a:p>
        </p:txBody>
      </p:sp>
      <p:sp>
        <p:nvSpPr>
          <p:cNvPr id="14" name="TextBox 14"/>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028700" y="1143000"/>
            <a:ext cx="10244562" cy="856488"/>
          </a:xfrm>
          <a:prstGeom prst="rect">
            <a:avLst/>
          </a:prstGeom>
        </p:spPr>
        <p:txBody>
          <a:bodyPr lIns="0" tIns="0" rIns="0" bIns="0" rtlCol="0" anchor="t">
            <a:spAutoFit/>
          </a:bodyPr>
          <a:lstStyle/>
          <a:p>
            <a:pPr algn="l">
              <a:lnSpc>
                <a:spcPts val="6335"/>
              </a:lnSpc>
            </a:pPr>
            <a:r>
              <a:rPr lang="en-US" sz="6399">
                <a:solidFill>
                  <a:srgbClr val="7AFFF5"/>
                </a:solidFill>
                <a:latin typeface="Norwester"/>
                <a:ea typeface="Norwester"/>
                <a:cs typeface="Norwester"/>
                <a:sym typeface="Norwester"/>
              </a:rPr>
              <a:t>EVIDENCES FOR COMPLETION</a:t>
            </a:r>
          </a:p>
        </p:txBody>
      </p:sp>
      <p:sp>
        <p:nvSpPr>
          <p:cNvPr id="3" name="TextBox 3"/>
          <p:cNvSpPr txBox="1"/>
          <p:nvPr/>
        </p:nvSpPr>
        <p:spPr>
          <a:xfrm>
            <a:off x="3189923" y="2237313"/>
            <a:ext cx="2020848" cy="613410"/>
          </a:xfrm>
          <a:prstGeom prst="rect">
            <a:avLst/>
          </a:prstGeom>
        </p:spPr>
        <p:txBody>
          <a:bodyPr lIns="0" tIns="0" rIns="0" bIns="0" rtlCol="0" anchor="t">
            <a:spAutoFit/>
          </a:bodyPr>
          <a:lstStyle/>
          <a:p>
            <a:pPr algn="ctr">
              <a:lnSpc>
                <a:spcPts val="5040"/>
              </a:lnSpc>
              <a:spcBef>
                <a:spcPct val="0"/>
              </a:spcBef>
            </a:pPr>
            <a:r>
              <a:rPr lang="en-US" sz="3600">
                <a:solidFill>
                  <a:srgbClr val="7AFFF5"/>
                </a:solidFill>
                <a:latin typeface="Norwester"/>
                <a:ea typeface="Norwester"/>
                <a:cs typeface="Norwester"/>
                <a:sym typeface="Norwester"/>
              </a:rPr>
              <a:t>PREDICTION</a:t>
            </a:r>
          </a:p>
        </p:txBody>
      </p:sp>
      <p:sp>
        <p:nvSpPr>
          <p:cNvPr id="4" name="TextBox 4"/>
          <p:cNvSpPr txBox="1"/>
          <p:nvPr/>
        </p:nvSpPr>
        <p:spPr>
          <a:xfrm>
            <a:off x="13271981" y="900684"/>
            <a:ext cx="2963585" cy="613410"/>
          </a:xfrm>
          <a:prstGeom prst="rect">
            <a:avLst/>
          </a:prstGeom>
        </p:spPr>
        <p:txBody>
          <a:bodyPr lIns="0" tIns="0" rIns="0" bIns="0" rtlCol="0" anchor="t">
            <a:spAutoFit/>
          </a:bodyPr>
          <a:lstStyle/>
          <a:p>
            <a:pPr algn="ctr">
              <a:lnSpc>
                <a:spcPts val="5040"/>
              </a:lnSpc>
              <a:spcBef>
                <a:spcPct val="0"/>
              </a:spcBef>
            </a:pPr>
            <a:r>
              <a:rPr lang="en-US" sz="3600">
                <a:solidFill>
                  <a:srgbClr val="7AFFF5"/>
                </a:solidFill>
                <a:latin typeface="Norwester"/>
                <a:ea typeface="Norwester"/>
                <a:cs typeface="Norwester"/>
                <a:sym typeface="Norwester"/>
              </a:rPr>
              <a:t>MODEL TRAINING</a:t>
            </a:r>
          </a:p>
        </p:txBody>
      </p:sp>
      <p:sp>
        <p:nvSpPr>
          <p:cNvPr id="5" name="Freeform 5"/>
          <p:cNvSpPr/>
          <p:nvPr/>
        </p:nvSpPr>
        <p:spPr>
          <a:xfrm>
            <a:off x="9187654" y="5345599"/>
            <a:ext cx="8800523" cy="3763927"/>
          </a:xfrm>
          <a:custGeom>
            <a:avLst/>
            <a:gdLst/>
            <a:ahLst/>
            <a:cxnLst/>
            <a:rect l="l" t="t" r="r" b="b"/>
            <a:pathLst>
              <a:path w="8800523" h="3763927">
                <a:moveTo>
                  <a:pt x="0" y="0"/>
                </a:moveTo>
                <a:lnTo>
                  <a:pt x="8800523" y="0"/>
                </a:lnTo>
                <a:lnTo>
                  <a:pt x="8800523" y="3763926"/>
                </a:lnTo>
                <a:lnTo>
                  <a:pt x="0" y="3763926"/>
                </a:lnTo>
                <a:lnTo>
                  <a:pt x="0" y="0"/>
                </a:lnTo>
                <a:close/>
              </a:path>
            </a:pathLst>
          </a:custGeom>
          <a:blipFill>
            <a:blip r:embed="rId2"/>
            <a:stretch>
              <a:fillRect t="-2461" b="-2461"/>
            </a:stretch>
          </a:blipFill>
        </p:spPr>
        <p:txBody>
          <a:bodyPr/>
          <a:lstStyle/>
          <a:p>
            <a:endParaRPr lang="en-US"/>
          </a:p>
        </p:txBody>
      </p:sp>
      <p:sp>
        <p:nvSpPr>
          <p:cNvPr id="6" name="Freeform 6"/>
          <p:cNvSpPr/>
          <p:nvPr/>
        </p:nvSpPr>
        <p:spPr>
          <a:xfrm>
            <a:off x="10277400" y="1717315"/>
            <a:ext cx="7710778" cy="3238527"/>
          </a:xfrm>
          <a:custGeom>
            <a:avLst/>
            <a:gdLst/>
            <a:ahLst/>
            <a:cxnLst/>
            <a:rect l="l" t="t" r="r" b="b"/>
            <a:pathLst>
              <a:path w="7710778" h="3238527">
                <a:moveTo>
                  <a:pt x="0" y="0"/>
                </a:moveTo>
                <a:lnTo>
                  <a:pt x="7710777" y="0"/>
                </a:lnTo>
                <a:lnTo>
                  <a:pt x="7710777" y="3238526"/>
                </a:lnTo>
                <a:lnTo>
                  <a:pt x="0" y="3238526"/>
                </a:lnTo>
                <a:lnTo>
                  <a:pt x="0" y="0"/>
                </a:lnTo>
                <a:close/>
              </a:path>
            </a:pathLst>
          </a:custGeom>
          <a:blipFill>
            <a:blip r:embed="rId3"/>
            <a:stretch>
              <a:fillRect/>
            </a:stretch>
          </a:blipFill>
        </p:spPr>
        <p:txBody>
          <a:bodyPr/>
          <a:lstStyle/>
          <a:p>
            <a:endParaRPr lang="en-US"/>
          </a:p>
        </p:txBody>
      </p:sp>
      <p:sp>
        <p:nvSpPr>
          <p:cNvPr id="7" name="Freeform 7"/>
          <p:cNvSpPr/>
          <p:nvPr/>
        </p:nvSpPr>
        <p:spPr>
          <a:xfrm>
            <a:off x="4017257" y="4353280"/>
            <a:ext cx="4848473" cy="3151507"/>
          </a:xfrm>
          <a:custGeom>
            <a:avLst/>
            <a:gdLst/>
            <a:ahLst/>
            <a:cxnLst/>
            <a:rect l="l" t="t" r="r" b="b"/>
            <a:pathLst>
              <a:path w="4848473" h="3151507">
                <a:moveTo>
                  <a:pt x="0" y="0"/>
                </a:moveTo>
                <a:lnTo>
                  <a:pt x="4848473" y="0"/>
                </a:lnTo>
                <a:lnTo>
                  <a:pt x="4848473" y="3151508"/>
                </a:lnTo>
                <a:lnTo>
                  <a:pt x="0" y="3151508"/>
                </a:lnTo>
                <a:lnTo>
                  <a:pt x="0" y="0"/>
                </a:lnTo>
                <a:close/>
              </a:path>
            </a:pathLst>
          </a:custGeom>
          <a:blipFill>
            <a:blip r:embed="rId4"/>
            <a:stretch>
              <a:fillRect/>
            </a:stretch>
          </a:blipFill>
        </p:spPr>
        <p:txBody>
          <a:bodyPr/>
          <a:lstStyle/>
          <a:p>
            <a:endParaRPr lang="en-US"/>
          </a:p>
        </p:txBody>
      </p:sp>
      <p:sp>
        <p:nvSpPr>
          <p:cNvPr id="8" name="Freeform 8"/>
          <p:cNvSpPr/>
          <p:nvPr/>
        </p:nvSpPr>
        <p:spPr>
          <a:xfrm>
            <a:off x="1028700" y="3138795"/>
            <a:ext cx="4848473" cy="3151507"/>
          </a:xfrm>
          <a:custGeom>
            <a:avLst/>
            <a:gdLst/>
            <a:ahLst/>
            <a:cxnLst/>
            <a:rect l="l" t="t" r="r" b="b"/>
            <a:pathLst>
              <a:path w="4848473" h="3151507">
                <a:moveTo>
                  <a:pt x="0" y="0"/>
                </a:moveTo>
                <a:lnTo>
                  <a:pt x="4848473" y="0"/>
                </a:lnTo>
                <a:lnTo>
                  <a:pt x="4848473" y="3151508"/>
                </a:lnTo>
                <a:lnTo>
                  <a:pt x="0" y="3151508"/>
                </a:lnTo>
                <a:lnTo>
                  <a:pt x="0" y="0"/>
                </a:lnTo>
                <a:close/>
              </a:path>
            </a:pathLst>
          </a:custGeom>
          <a:blipFill>
            <a:blip r:embed="rId5"/>
            <a:stretch>
              <a:fillRect/>
            </a:stretch>
          </a:blipFill>
        </p:spPr>
        <p:txBody>
          <a:bodyPr/>
          <a:lstStyle/>
          <a:p>
            <a:endParaRPr lang="en-US"/>
          </a:p>
        </p:txBody>
      </p:sp>
      <p:sp>
        <p:nvSpPr>
          <p:cNvPr id="9" name="TextBox 9"/>
          <p:cNvSpPr txBox="1"/>
          <p:nvPr/>
        </p:nvSpPr>
        <p:spPr>
          <a:xfrm>
            <a:off x="6067945" y="9432607"/>
            <a:ext cx="8418909"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IT21838620 | S.U.D.A GUNASEKARA | R25-040</a:t>
            </a:r>
          </a:p>
        </p:txBody>
      </p:sp>
      <p:sp>
        <p:nvSpPr>
          <p:cNvPr id="10" name="Freeform 10"/>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6"/>
            <a:stretch>
              <a:fillRect/>
            </a:stretch>
          </a:blipFill>
        </p:spPr>
        <p:txBody>
          <a:bodyPr/>
          <a:lstStyle/>
          <a:p>
            <a:endParaRPr lang="en-US"/>
          </a:p>
        </p:txBody>
      </p:sp>
      <p:sp>
        <p:nvSpPr>
          <p:cNvPr id="11" name="TextBox 11"/>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5809950" y="3155523"/>
            <a:ext cx="8917234" cy="5796202"/>
          </a:xfrm>
          <a:custGeom>
            <a:avLst/>
            <a:gdLst/>
            <a:ahLst/>
            <a:cxnLst/>
            <a:rect l="l" t="t" r="r" b="b"/>
            <a:pathLst>
              <a:path w="8917234" h="5796202">
                <a:moveTo>
                  <a:pt x="0" y="0"/>
                </a:moveTo>
                <a:lnTo>
                  <a:pt x="8917234" y="0"/>
                </a:lnTo>
                <a:lnTo>
                  <a:pt x="8917234" y="5796202"/>
                </a:lnTo>
                <a:lnTo>
                  <a:pt x="0" y="5796202"/>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1028700" y="1143000"/>
            <a:ext cx="10244562" cy="856488"/>
          </a:xfrm>
          <a:prstGeom prst="rect">
            <a:avLst/>
          </a:prstGeom>
        </p:spPr>
        <p:txBody>
          <a:bodyPr lIns="0" tIns="0" rIns="0" bIns="0" rtlCol="0" anchor="t">
            <a:spAutoFit/>
          </a:bodyPr>
          <a:lstStyle/>
          <a:p>
            <a:pPr algn="l">
              <a:lnSpc>
                <a:spcPts val="6335"/>
              </a:lnSpc>
            </a:pPr>
            <a:r>
              <a:rPr lang="en-US" sz="6399">
                <a:solidFill>
                  <a:srgbClr val="7AFFF5"/>
                </a:solidFill>
                <a:latin typeface="Norwester"/>
                <a:ea typeface="Norwester"/>
                <a:cs typeface="Norwester"/>
                <a:sym typeface="Norwester"/>
              </a:rPr>
              <a:t>EVIDENCES FOR COMPLETION</a:t>
            </a:r>
          </a:p>
        </p:txBody>
      </p:sp>
      <p:sp>
        <p:nvSpPr>
          <p:cNvPr id="4" name="TextBox 4"/>
          <p:cNvSpPr txBox="1"/>
          <p:nvPr/>
        </p:nvSpPr>
        <p:spPr>
          <a:xfrm>
            <a:off x="1028700" y="2237313"/>
            <a:ext cx="6343293" cy="613410"/>
          </a:xfrm>
          <a:prstGeom prst="rect">
            <a:avLst/>
          </a:prstGeom>
        </p:spPr>
        <p:txBody>
          <a:bodyPr lIns="0" tIns="0" rIns="0" bIns="0" rtlCol="0" anchor="t">
            <a:spAutoFit/>
          </a:bodyPr>
          <a:lstStyle/>
          <a:p>
            <a:pPr algn="ctr">
              <a:lnSpc>
                <a:spcPts val="5040"/>
              </a:lnSpc>
              <a:spcBef>
                <a:spcPct val="0"/>
              </a:spcBef>
            </a:pPr>
            <a:r>
              <a:rPr lang="en-US" sz="3600">
                <a:solidFill>
                  <a:srgbClr val="7AFFF5"/>
                </a:solidFill>
                <a:latin typeface="Norwester"/>
                <a:ea typeface="Norwester"/>
                <a:cs typeface="Norwester"/>
                <a:sym typeface="Norwester"/>
              </a:rPr>
              <a:t>ARCHITECTURE OF IMPLEMENTATION</a:t>
            </a:r>
          </a:p>
        </p:txBody>
      </p:sp>
      <p:sp>
        <p:nvSpPr>
          <p:cNvPr id="5" name="TextBox 5"/>
          <p:cNvSpPr txBox="1"/>
          <p:nvPr/>
        </p:nvSpPr>
        <p:spPr>
          <a:xfrm>
            <a:off x="6067945" y="9432607"/>
            <a:ext cx="8418909"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IT21838620 | S.U.D.A GUNASEKARA | R25-040</a:t>
            </a:r>
          </a:p>
        </p:txBody>
      </p:sp>
      <p:sp>
        <p:nvSpPr>
          <p:cNvPr id="6" name="Freeform 6"/>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3"/>
            <a:stretch>
              <a:fillRect/>
            </a:stretch>
          </a:blipFill>
        </p:spPr>
        <p:txBody>
          <a:bodyPr/>
          <a:lstStyle/>
          <a:p>
            <a:endParaRPr lang="en-US"/>
          </a:p>
        </p:txBody>
      </p:sp>
      <p:sp>
        <p:nvSpPr>
          <p:cNvPr id="7" name="TextBox 7"/>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2"/>
            <a:stretch>
              <a:fillRect/>
            </a:stretch>
          </a:blipFill>
        </p:spPr>
        <p:txBody>
          <a:bodyPr/>
          <a:lstStyle/>
          <a:p>
            <a:endParaRPr lang="en-US"/>
          </a:p>
        </p:txBody>
      </p:sp>
      <p:sp>
        <p:nvSpPr>
          <p:cNvPr id="3" name="Freeform 3"/>
          <p:cNvSpPr/>
          <p:nvPr/>
        </p:nvSpPr>
        <p:spPr>
          <a:xfrm>
            <a:off x="6202967" y="3805212"/>
            <a:ext cx="5882065" cy="3921377"/>
          </a:xfrm>
          <a:custGeom>
            <a:avLst/>
            <a:gdLst/>
            <a:ahLst/>
            <a:cxnLst/>
            <a:rect l="l" t="t" r="r" b="b"/>
            <a:pathLst>
              <a:path w="5882065" h="3921377">
                <a:moveTo>
                  <a:pt x="0" y="0"/>
                </a:moveTo>
                <a:lnTo>
                  <a:pt x="5882066" y="0"/>
                </a:lnTo>
                <a:lnTo>
                  <a:pt x="5882066" y="3921377"/>
                </a:lnTo>
                <a:lnTo>
                  <a:pt x="0" y="392137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5106414" y="7855559"/>
            <a:ext cx="9065657" cy="1038225"/>
          </a:xfrm>
          <a:prstGeom prst="rect">
            <a:avLst/>
          </a:prstGeom>
        </p:spPr>
        <p:txBody>
          <a:bodyPr lIns="0" tIns="0" rIns="0" bIns="0" rtlCol="0" anchor="t">
            <a:spAutoFit/>
          </a:bodyPr>
          <a:lstStyle/>
          <a:p>
            <a:pPr algn="ctr">
              <a:lnSpc>
                <a:spcPts val="4199"/>
              </a:lnSpc>
              <a:spcBef>
                <a:spcPct val="0"/>
              </a:spcBef>
            </a:pPr>
            <a:r>
              <a:rPr lang="en-US" sz="2999">
                <a:solidFill>
                  <a:srgbClr val="7AFFF5"/>
                </a:solidFill>
                <a:latin typeface="Norwester"/>
                <a:ea typeface="Norwester"/>
                <a:cs typeface="Norwester"/>
                <a:sym typeface="Norwester"/>
              </a:rPr>
              <a:t>BACHELOR OF SCIENCE (HONS) IN INFORMATION TECHNOLOGY </a:t>
            </a:r>
          </a:p>
          <a:p>
            <a:pPr algn="ctr">
              <a:lnSpc>
                <a:spcPts val="4199"/>
              </a:lnSpc>
              <a:spcBef>
                <a:spcPct val="0"/>
              </a:spcBef>
            </a:pPr>
            <a:r>
              <a:rPr lang="en-US" sz="2999">
                <a:solidFill>
                  <a:srgbClr val="7AFFF5"/>
                </a:solidFill>
                <a:latin typeface="Norwester"/>
                <a:ea typeface="Norwester"/>
                <a:cs typeface="Norwester"/>
                <a:sym typeface="Norwester"/>
              </a:rPr>
              <a:t>SPECIALIZING IN INFORMATION TECHNOLOGY</a:t>
            </a:r>
          </a:p>
        </p:txBody>
      </p:sp>
      <p:sp>
        <p:nvSpPr>
          <p:cNvPr id="5" name="TextBox 5"/>
          <p:cNvSpPr txBox="1"/>
          <p:nvPr/>
        </p:nvSpPr>
        <p:spPr>
          <a:xfrm>
            <a:off x="5539740" y="933450"/>
            <a:ext cx="7208520" cy="821055"/>
          </a:xfrm>
          <a:prstGeom prst="rect">
            <a:avLst/>
          </a:prstGeom>
        </p:spPr>
        <p:txBody>
          <a:bodyPr lIns="0" tIns="0" rIns="0" bIns="0" rtlCol="0" anchor="t">
            <a:spAutoFit/>
          </a:bodyPr>
          <a:lstStyle/>
          <a:p>
            <a:pPr algn="ctr">
              <a:lnSpc>
                <a:spcPts val="6719"/>
              </a:lnSpc>
              <a:spcBef>
                <a:spcPct val="0"/>
              </a:spcBef>
            </a:pPr>
            <a:r>
              <a:rPr lang="en-US" sz="4800">
                <a:solidFill>
                  <a:srgbClr val="7AFFF5"/>
                </a:solidFill>
                <a:latin typeface="Norwester"/>
                <a:ea typeface="Norwester"/>
                <a:cs typeface="Norwester"/>
                <a:sym typeface="Norwester"/>
              </a:rPr>
              <a:t>IT21819810 | B.D.A.M KUMARA</a:t>
            </a:r>
          </a:p>
        </p:txBody>
      </p:sp>
      <p:sp>
        <p:nvSpPr>
          <p:cNvPr id="6" name="TextBox 6"/>
          <p:cNvSpPr txBox="1"/>
          <p:nvPr/>
        </p:nvSpPr>
        <p:spPr>
          <a:xfrm>
            <a:off x="379662" y="1940787"/>
            <a:ext cx="17908338" cy="1668780"/>
          </a:xfrm>
          <a:prstGeom prst="rect">
            <a:avLst/>
          </a:prstGeom>
        </p:spPr>
        <p:txBody>
          <a:bodyPr lIns="0" tIns="0" rIns="0" bIns="0" rtlCol="0" anchor="t">
            <a:spAutoFit/>
          </a:bodyPr>
          <a:lstStyle/>
          <a:p>
            <a:pPr algn="ctr">
              <a:lnSpc>
                <a:spcPts val="6719"/>
              </a:lnSpc>
            </a:pPr>
            <a:r>
              <a:rPr lang="en-US" sz="4800">
                <a:solidFill>
                  <a:srgbClr val="FFFFFF"/>
                </a:solidFill>
                <a:latin typeface="Norwester"/>
                <a:ea typeface="Norwester"/>
                <a:cs typeface="Norwester"/>
                <a:sym typeface="Norwester"/>
              </a:rPr>
              <a:t>COMPONENT 04: Predict confident through hand gestures in real time</a:t>
            </a:r>
          </a:p>
        </p:txBody>
      </p:sp>
      <p:sp>
        <p:nvSpPr>
          <p:cNvPr id="7" name="TextBox 7"/>
          <p:cNvSpPr txBox="1"/>
          <p:nvPr/>
        </p:nvSpPr>
        <p:spPr>
          <a:xfrm>
            <a:off x="7376339" y="9442132"/>
            <a:ext cx="4885968" cy="415290"/>
          </a:xfrm>
          <a:prstGeom prst="rect">
            <a:avLst/>
          </a:prstGeom>
        </p:spPr>
        <p:txBody>
          <a:bodyPr lIns="0" tIns="0" rIns="0" bIns="0" rtlCol="0" anchor="t">
            <a:spAutoFit/>
          </a:bodyPr>
          <a:lstStyle/>
          <a:p>
            <a:pPr algn="ctr">
              <a:lnSpc>
                <a:spcPts val="3359"/>
              </a:lnSpc>
              <a:spcBef>
                <a:spcPct val="0"/>
              </a:spcBef>
            </a:pPr>
            <a:r>
              <a:rPr lang="en-US" sz="2400">
                <a:solidFill>
                  <a:srgbClr val="FFFFFF"/>
                </a:solidFill>
                <a:latin typeface="Norwester"/>
                <a:ea typeface="Norwester"/>
                <a:cs typeface="Norwester"/>
                <a:sym typeface="Norwester"/>
              </a:rPr>
              <a:t>IT21819810 |B.D.A.M KUMARA | R25-040</a:t>
            </a:r>
          </a:p>
        </p:txBody>
      </p:sp>
      <p:sp>
        <p:nvSpPr>
          <p:cNvPr id="8" name="TextBox 8"/>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2"/>
            <a:stretch>
              <a:fillRect/>
            </a:stretch>
          </a:blipFill>
        </p:spPr>
        <p:txBody>
          <a:bodyPr/>
          <a:lstStyle/>
          <a:p>
            <a:endParaRPr lang="en-US"/>
          </a:p>
        </p:txBody>
      </p:sp>
      <p:sp>
        <p:nvSpPr>
          <p:cNvPr id="3" name="Freeform 3"/>
          <p:cNvSpPr/>
          <p:nvPr/>
        </p:nvSpPr>
        <p:spPr>
          <a:xfrm>
            <a:off x="9783509" y="3415532"/>
            <a:ext cx="4475995" cy="1473009"/>
          </a:xfrm>
          <a:custGeom>
            <a:avLst/>
            <a:gdLst/>
            <a:ahLst/>
            <a:cxnLst/>
            <a:rect l="l" t="t" r="r" b="b"/>
            <a:pathLst>
              <a:path w="4475995" h="1473009">
                <a:moveTo>
                  <a:pt x="0" y="0"/>
                </a:moveTo>
                <a:lnTo>
                  <a:pt x="4475995" y="0"/>
                </a:lnTo>
                <a:lnTo>
                  <a:pt x="4475995" y="1473009"/>
                </a:lnTo>
                <a:lnTo>
                  <a:pt x="0" y="14730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9783509" y="6270844"/>
            <a:ext cx="4475995" cy="1473009"/>
          </a:xfrm>
          <a:custGeom>
            <a:avLst/>
            <a:gdLst/>
            <a:ahLst/>
            <a:cxnLst/>
            <a:rect l="l" t="t" r="r" b="b"/>
            <a:pathLst>
              <a:path w="4475995" h="1473009">
                <a:moveTo>
                  <a:pt x="0" y="0"/>
                </a:moveTo>
                <a:lnTo>
                  <a:pt x="4475995" y="0"/>
                </a:lnTo>
                <a:lnTo>
                  <a:pt x="4475995" y="1473009"/>
                </a:lnTo>
                <a:lnTo>
                  <a:pt x="0" y="14730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3832340" y="7007348"/>
            <a:ext cx="4475995" cy="1473009"/>
          </a:xfrm>
          <a:custGeom>
            <a:avLst/>
            <a:gdLst/>
            <a:ahLst/>
            <a:cxnLst/>
            <a:rect l="l" t="t" r="r" b="b"/>
            <a:pathLst>
              <a:path w="4475995" h="1473009">
                <a:moveTo>
                  <a:pt x="0" y="0"/>
                </a:moveTo>
                <a:lnTo>
                  <a:pt x="4475994" y="0"/>
                </a:lnTo>
                <a:lnTo>
                  <a:pt x="4475994" y="1473010"/>
                </a:lnTo>
                <a:lnTo>
                  <a:pt x="0" y="14730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3320813" y="4152036"/>
            <a:ext cx="4475995" cy="1473009"/>
          </a:xfrm>
          <a:custGeom>
            <a:avLst/>
            <a:gdLst/>
            <a:ahLst/>
            <a:cxnLst/>
            <a:rect l="l" t="t" r="r" b="b"/>
            <a:pathLst>
              <a:path w="4475995" h="1473009">
                <a:moveTo>
                  <a:pt x="0" y="0"/>
                </a:moveTo>
                <a:lnTo>
                  <a:pt x="4475995" y="0"/>
                </a:lnTo>
                <a:lnTo>
                  <a:pt x="4475995" y="1473010"/>
                </a:lnTo>
                <a:lnTo>
                  <a:pt x="0" y="147301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1825552" y="1426296"/>
            <a:ext cx="14636895" cy="1275207"/>
          </a:xfrm>
          <a:prstGeom prst="rect">
            <a:avLst/>
          </a:prstGeom>
        </p:spPr>
        <p:txBody>
          <a:bodyPr lIns="0" tIns="0" rIns="0" bIns="0" rtlCol="0" anchor="t">
            <a:spAutoFit/>
          </a:bodyPr>
          <a:lstStyle/>
          <a:p>
            <a:pPr algn="l">
              <a:lnSpc>
                <a:spcPts val="9504"/>
              </a:lnSpc>
            </a:pPr>
            <a:r>
              <a:rPr lang="en-US" sz="9600">
                <a:solidFill>
                  <a:srgbClr val="7AFFF5"/>
                </a:solidFill>
                <a:latin typeface="Norwester"/>
                <a:ea typeface="Norwester"/>
                <a:cs typeface="Norwester"/>
                <a:sym typeface="Norwester"/>
              </a:rPr>
              <a:t>SUMMARY OF THE COMPONENT </a:t>
            </a:r>
          </a:p>
        </p:txBody>
      </p:sp>
      <p:sp>
        <p:nvSpPr>
          <p:cNvPr id="8" name="TextBox 8"/>
          <p:cNvSpPr txBox="1"/>
          <p:nvPr/>
        </p:nvSpPr>
        <p:spPr>
          <a:xfrm>
            <a:off x="6612894" y="9432607"/>
            <a:ext cx="7329011"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IT21819810 |B.D.A.M KUMARA | R25-040</a:t>
            </a:r>
          </a:p>
        </p:txBody>
      </p:sp>
      <p:sp>
        <p:nvSpPr>
          <p:cNvPr id="9" name="TextBox 9"/>
          <p:cNvSpPr txBox="1"/>
          <p:nvPr/>
        </p:nvSpPr>
        <p:spPr>
          <a:xfrm>
            <a:off x="3320813" y="4548499"/>
            <a:ext cx="4475995"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BACKGROUND</a:t>
            </a:r>
          </a:p>
        </p:txBody>
      </p:sp>
      <p:sp>
        <p:nvSpPr>
          <p:cNvPr id="10" name="TextBox 10"/>
          <p:cNvSpPr txBox="1"/>
          <p:nvPr/>
        </p:nvSpPr>
        <p:spPr>
          <a:xfrm>
            <a:off x="3832340" y="7403811"/>
            <a:ext cx="4475995"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OBJECTIVES</a:t>
            </a:r>
          </a:p>
        </p:txBody>
      </p:sp>
      <p:sp>
        <p:nvSpPr>
          <p:cNvPr id="11" name="TextBox 11"/>
          <p:cNvSpPr txBox="1"/>
          <p:nvPr/>
        </p:nvSpPr>
        <p:spPr>
          <a:xfrm>
            <a:off x="10674314" y="3904834"/>
            <a:ext cx="2889286" cy="573234"/>
          </a:xfrm>
          <a:prstGeom prst="rect">
            <a:avLst/>
          </a:prstGeom>
        </p:spPr>
        <p:txBody>
          <a:bodyPr wrap="square" lIns="0" tIns="0" rIns="0" bIns="0" rtlCol="0" anchor="t">
            <a:spAutoFit/>
          </a:bodyPr>
          <a:lstStyle/>
          <a:p>
            <a:pPr algn="ctr">
              <a:lnSpc>
                <a:spcPts val="5040"/>
              </a:lnSpc>
              <a:spcBef>
                <a:spcPct val="0"/>
              </a:spcBef>
            </a:pPr>
            <a:r>
              <a:rPr lang="en-US" sz="3600" dirty="0">
                <a:solidFill>
                  <a:srgbClr val="FFFFFF"/>
                </a:solidFill>
                <a:latin typeface="Norwester"/>
                <a:ea typeface="Norwester"/>
                <a:cs typeface="Norwester"/>
                <a:sym typeface="Norwester"/>
              </a:rPr>
              <a:t>RESEARCH GAP</a:t>
            </a:r>
          </a:p>
        </p:txBody>
      </p:sp>
      <p:sp>
        <p:nvSpPr>
          <p:cNvPr id="12" name="TextBox 12"/>
          <p:cNvSpPr txBox="1"/>
          <p:nvPr/>
        </p:nvSpPr>
        <p:spPr>
          <a:xfrm>
            <a:off x="10277399" y="6668721"/>
            <a:ext cx="3664505" cy="573234"/>
          </a:xfrm>
          <a:prstGeom prst="rect">
            <a:avLst/>
          </a:prstGeom>
        </p:spPr>
        <p:txBody>
          <a:bodyPr wrap="square" lIns="0" tIns="0" rIns="0" bIns="0" rtlCol="0" anchor="t">
            <a:spAutoFit/>
          </a:bodyPr>
          <a:lstStyle/>
          <a:p>
            <a:pPr algn="ctr">
              <a:lnSpc>
                <a:spcPts val="5040"/>
              </a:lnSpc>
              <a:spcBef>
                <a:spcPct val="0"/>
              </a:spcBef>
            </a:pPr>
            <a:r>
              <a:rPr lang="en-US" sz="3600" dirty="0">
                <a:solidFill>
                  <a:srgbClr val="FFFFFF"/>
                </a:solidFill>
                <a:latin typeface="Norwester"/>
                <a:ea typeface="Norwester"/>
                <a:cs typeface="Norwester"/>
                <a:sym typeface="Norwester"/>
              </a:rPr>
              <a:t>RESEARCH QUESTION</a:t>
            </a:r>
          </a:p>
        </p:txBody>
      </p:sp>
      <p:sp>
        <p:nvSpPr>
          <p:cNvPr id="13" name="TextBox 13"/>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2"/>
            <a:stretch>
              <a:fillRect/>
            </a:stretch>
          </a:blipFill>
        </p:spPr>
        <p:txBody>
          <a:bodyPr/>
          <a:lstStyle/>
          <a:p>
            <a:endParaRPr lang="en-US"/>
          </a:p>
        </p:txBody>
      </p:sp>
      <p:sp>
        <p:nvSpPr>
          <p:cNvPr id="3" name="Freeform 3"/>
          <p:cNvSpPr/>
          <p:nvPr/>
        </p:nvSpPr>
        <p:spPr>
          <a:xfrm>
            <a:off x="5707197" y="2384747"/>
            <a:ext cx="6873605" cy="6347180"/>
          </a:xfrm>
          <a:custGeom>
            <a:avLst/>
            <a:gdLst/>
            <a:ahLst/>
            <a:cxnLst/>
            <a:rect l="l" t="t" r="r" b="b"/>
            <a:pathLst>
              <a:path w="6873605" h="6347180">
                <a:moveTo>
                  <a:pt x="0" y="0"/>
                </a:moveTo>
                <a:lnTo>
                  <a:pt x="6873606" y="0"/>
                </a:lnTo>
                <a:lnTo>
                  <a:pt x="6873606" y="6347180"/>
                </a:lnTo>
                <a:lnTo>
                  <a:pt x="0" y="634718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863983"/>
            <a:ext cx="16941090" cy="1204737"/>
          </a:xfrm>
          <a:prstGeom prst="rect">
            <a:avLst/>
          </a:prstGeom>
        </p:spPr>
        <p:txBody>
          <a:bodyPr lIns="0" tIns="0" rIns="0" bIns="0" rtlCol="0" anchor="t">
            <a:spAutoFit/>
          </a:bodyPr>
          <a:lstStyle/>
          <a:p>
            <a:pPr algn="l">
              <a:lnSpc>
                <a:spcPts val="9009"/>
              </a:lnSpc>
            </a:pPr>
            <a:r>
              <a:rPr lang="en-US" sz="9100">
                <a:solidFill>
                  <a:srgbClr val="7AFFF5"/>
                </a:solidFill>
                <a:latin typeface="Norwester"/>
                <a:ea typeface="Norwester"/>
                <a:cs typeface="Norwester"/>
                <a:sym typeface="Norwester"/>
              </a:rPr>
              <a:t>SYSTEM DIAGRAM &amp; METHODOLOGY</a:t>
            </a:r>
          </a:p>
        </p:txBody>
      </p:sp>
      <p:sp>
        <p:nvSpPr>
          <p:cNvPr id="5" name="TextBox 5"/>
          <p:cNvSpPr txBox="1"/>
          <p:nvPr/>
        </p:nvSpPr>
        <p:spPr>
          <a:xfrm>
            <a:off x="6612894" y="9432607"/>
            <a:ext cx="7329011"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IT21819810 |B.D.A.M KUMARA | R25-040</a:t>
            </a:r>
          </a:p>
        </p:txBody>
      </p:sp>
      <p:sp>
        <p:nvSpPr>
          <p:cNvPr id="6" name="TextBox 6"/>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6323164" y="501638"/>
            <a:ext cx="6339483" cy="1104265"/>
          </a:xfrm>
          <a:prstGeom prst="rect">
            <a:avLst/>
          </a:prstGeom>
        </p:spPr>
        <p:txBody>
          <a:bodyPr lIns="0" tIns="0" rIns="0" bIns="0" rtlCol="0" anchor="t">
            <a:spAutoFit/>
          </a:bodyPr>
          <a:lstStyle/>
          <a:p>
            <a:pPr algn="ctr">
              <a:lnSpc>
                <a:spcPts val="8959"/>
              </a:lnSpc>
              <a:spcBef>
                <a:spcPct val="0"/>
              </a:spcBef>
            </a:pPr>
            <a:r>
              <a:rPr lang="en-US" sz="6399">
                <a:solidFill>
                  <a:srgbClr val="7AFFF5"/>
                </a:solidFill>
                <a:latin typeface="Norwester"/>
                <a:ea typeface="Norwester"/>
                <a:cs typeface="Norwester"/>
                <a:sym typeface="Norwester"/>
              </a:rPr>
              <a:t>CURRENT PROGRESS</a:t>
            </a:r>
          </a:p>
        </p:txBody>
      </p:sp>
      <p:sp>
        <p:nvSpPr>
          <p:cNvPr id="3" name="TextBox 3"/>
          <p:cNvSpPr txBox="1"/>
          <p:nvPr/>
        </p:nvSpPr>
        <p:spPr>
          <a:xfrm>
            <a:off x="701688" y="2482204"/>
            <a:ext cx="4874332" cy="1455420"/>
          </a:xfrm>
          <a:prstGeom prst="rect">
            <a:avLst/>
          </a:prstGeom>
        </p:spPr>
        <p:txBody>
          <a:bodyPr lIns="0" tIns="0" rIns="0" bIns="0" rtlCol="0" anchor="t">
            <a:spAutoFit/>
          </a:bodyPr>
          <a:lstStyle/>
          <a:p>
            <a:pPr algn="ctr">
              <a:lnSpc>
                <a:spcPts val="5880"/>
              </a:lnSpc>
            </a:pPr>
            <a:r>
              <a:rPr lang="en-US" sz="4200">
                <a:solidFill>
                  <a:srgbClr val="FFFFFF"/>
                </a:solidFill>
                <a:latin typeface="Norwester"/>
                <a:ea typeface="Norwester"/>
                <a:cs typeface="Norwester"/>
                <a:sym typeface="Norwester"/>
              </a:rPr>
              <a:t>Data gathering &amp; Analyzing</a:t>
            </a:r>
          </a:p>
        </p:txBody>
      </p:sp>
      <p:pic>
        <p:nvPicPr>
          <p:cNvPr id="4" name="Picture 4"/>
          <p:cNvPicPr>
            <a:picLocks noChangeAspect="1"/>
          </p:cNvPicPr>
          <p:nvPr/>
        </p:nvPicPr>
        <p:blipFill>
          <a:blip r:embed="rId2"/>
          <a:stretch>
            <a:fillRect/>
          </a:stretch>
        </p:blipFill>
        <p:spPr>
          <a:xfrm>
            <a:off x="1682070" y="4620650"/>
            <a:ext cx="3247870" cy="3247870"/>
          </a:xfrm>
          <a:prstGeom prst="rect">
            <a:avLst/>
          </a:prstGeom>
        </p:spPr>
      </p:pic>
      <p:sp>
        <p:nvSpPr>
          <p:cNvPr id="5" name="TextBox 5"/>
          <p:cNvSpPr txBox="1"/>
          <p:nvPr/>
        </p:nvSpPr>
        <p:spPr>
          <a:xfrm>
            <a:off x="7680864" y="2482204"/>
            <a:ext cx="3907155" cy="1455420"/>
          </a:xfrm>
          <a:prstGeom prst="rect">
            <a:avLst/>
          </a:prstGeom>
        </p:spPr>
        <p:txBody>
          <a:bodyPr lIns="0" tIns="0" rIns="0" bIns="0" rtlCol="0" anchor="t">
            <a:spAutoFit/>
          </a:bodyPr>
          <a:lstStyle/>
          <a:p>
            <a:pPr algn="ctr">
              <a:lnSpc>
                <a:spcPts val="5880"/>
              </a:lnSpc>
            </a:pPr>
            <a:r>
              <a:rPr lang="en-US" sz="4200">
                <a:solidFill>
                  <a:srgbClr val="FFFFFF"/>
                </a:solidFill>
                <a:latin typeface="Norwester"/>
                <a:ea typeface="Norwester"/>
                <a:cs typeface="Norwester"/>
                <a:sym typeface="Norwester"/>
              </a:rPr>
              <a:t>preprocessing &amp; </a:t>
            </a:r>
          </a:p>
          <a:p>
            <a:pPr algn="ctr">
              <a:lnSpc>
                <a:spcPts val="5880"/>
              </a:lnSpc>
            </a:pPr>
            <a:r>
              <a:rPr lang="en-US" sz="4200">
                <a:solidFill>
                  <a:srgbClr val="FFFFFF"/>
                </a:solidFill>
                <a:latin typeface="Norwester"/>
                <a:ea typeface="Norwester"/>
                <a:cs typeface="Norwester"/>
                <a:sym typeface="Norwester"/>
              </a:rPr>
              <a:t>model training </a:t>
            </a:r>
          </a:p>
        </p:txBody>
      </p:sp>
      <p:pic>
        <p:nvPicPr>
          <p:cNvPr id="6" name="Picture 6"/>
          <p:cNvPicPr>
            <a:picLocks noChangeAspect="1"/>
          </p:cNvPicPr>
          <p:nvPr/>
        </p:nvPicPr>
        <p:blipFill>
          <a:blip r:embed="rId3"/>
          <a:stretch>
            <a:fillRect/>
          </a:stretch>
        </p:blipFill>
        <p:spPr>
          <a:xfrm>
            <a:off x="8027704" y="4620287"/>
            <a:ext cx="3252224" cy="3252224"/>
          </a:xfrm>
          <a:prstGeom prst="rect">
            <a:avLst/>
          </a:prstGeom>
        </p:spPr>
      </p:pic>
      <p:sp>
        <p:nvSpPr>
          <p:cNvPr id="7" name="TextBox 7"/>
          <p:cNvSpPr txBox="1"/>
          <p:nvPr/>
        </p:nvSpPr>
        <p:spPr>
          <a:xfrm>
            <a:off x="13536972" y="2482204"/>
            <a:ext cx="3722328" cy="1455420"/>
          </a:xfrm>
          <a:prstGeom prst="rect">
            <a:avLst/>
          </a:prstGeom>
        </p:spPr>
        <p:txBody>
          <a:bodyPr lIns="0" tIns="0" rIns="0" bIns="0" rtlCol="0" anchor="t">
            <a:spAutoFit/>
          </a:bodyPr>
          <a:lstStyle/>
          <a:p>
            <a:pPr algn="ctr">
              <a:lnSpc>
                <a:spcPts val="5880"/>
              </a:lnSpc>
            </a:pPr>
            <a:r>
              <a:rPr lang="en-US" sz="4200">
                <a:solidFill>
                  <a:srgbClr val="FFFFFF"/>
                </a:solidFill>
                <a:latin typeface="Norwester"/>
                <a:ea typeface="Norwester"/>
                <a:cs typeface="Norwester"/>
                <a:sym typeface="Norwester"/>
              </a:rPr>
              <a:t>testing Model accuracy </a:t>
            </a:r>
          </a:p>
        </p:txBody>
      </p:sp>
      <p:pic>
        <p:nvPicPr>
          <p:cNvPr id="8" name="Picture 8"/>
          <p:cNvPicPr>
            <a:picLocks noChangeAspect="1"/>
          </p:cNvPicPr>
          <p:nvPr/>
        </p:nvPicPr>
        <p:blipFill>
          <a:blip r:embed="rId4"/>
          <a:stretch>
            <a:fillRect/>
          </a:stretch>
        </p:blipFill>
        <p:spPr>
          <a:xfrm>
            <a:off x="13885544" y="4622667"/>
            <a:ext cx="3223668" cy="3223668"/>
          </a:xfrm>
          <a:prstGeom prst="rect">
            <a:avLst/>
          </a:prstGeom>
        </p:spPr>
      </p:pic>
      <p:sp>
        <p:nvSpPr>
          <p:cNvPr id="9" name="TextBox 9"/>
          <p:cNvSpPr txBox="1"/>
          <p:nvPr/>
        </p:nvSpPr>
        <p:spPr>
          <a:xfrm>
            <a:off x="9239607" y="5953563"/>
            <a:ext cx="894993" cy="480068"/>
          </a:xfrm>
          <a:prstGeom prst="rect">
            <a:avLst/>
          </a:prstGeom>
        </p:spPr>
        <p:txBody>
          <a:bodyPr wrap="square" lIns="0" tIns="0" rIns="0" bIns="0" rtlCol="0" anchor="t">
            <a:spAutoFit/>
          </a:bodyPr>
          <a:lstStyle/>
          <a:p>
            <a:pPr algn="ctr">
              <a:lnSpc>
                <a:spcPts val="4154"/>
              </a:lnSpc>
            </a:pPr>
            <a:r>
              <a:rPr lang="en-US" sz="2967" dirty="0">
                <a:solidFill>
                  <a:srgbClr val="FFFFFF"/>
                </a:solidFill>
                <a:latin typeface="Norwester"/>
                <a:ea typeface="Norwester"/>
                <a:cs typeface="Norwester"/>
                <a:sym typeface="Norwester"/>
              </a:rPr>
              <a:t>100%</a:t>
            </a:r>
          </a:p>
        </p:txBody>
      </p:sp>
      <p:sp>
        <p:nvSpPr>
          <p:cNvPr id="10" name="TextBox 10"/>
          <p:cNvSpPr txBox="1"/>
          <p:nvPr/>
        </p:nvSpPr>
        <p:spPr>
          <a:xfrm>
            <a:off x="15192788" y="5953563"/>
            <a:ext cx="713412" cy="515368"/>
          </a:xfrm>
          <a:prstGeom prst="rect">
            <a:avLst/>
          </a:prstGeom>
        </p:spPr>
        <p:txBody>
          <a:bodyPr lIns="0" tIns="0" rIns="0" bIns="0" rtlCol="0" anchor="t">
            <a:spAutoFit/>
          </a:bodyPr>
          <a:lstStyle/>
          <a:p>
            <a:pPr algn="ctr">
              <a:lnSpc>
                <a:spcPts val="4154"/>
              </a:lnSpc>
            </a:pPr>
            <a:r>
              <a:rPr lang="en-US" sz="2967">
                <a:solidFill>
                  <a:srgbClr val="FFFFFF"/>
                </a:solidFill>
                <a:latin typeface="Norwester"/>
                <a:ea typeface="Norwester"/>
                <a:cs typeface="Norwester"/>
                <a:sym typeface="Norwester"/>
              </a:rPr>
              <a:t>87%</a:t>
            </a:r>
          </a:p>
        </p:txBody>
      </p:sp>
      <p:sp>
        <p:nvSpPr>
          <p:cNvPr id="11" name="TextBox 11"/>
          <p:cNvSpPr txBox="1"/>
          <p:nvPr/>
        </p:nvSpPr>
        <p:spPr>
          <a:xfrm>
            <a:off x="2891795" y="5953563"/>
            <a:ext cx="918205" cy="480068"/>
          </a:xfrm>
          <a:prstGeom prst="rect">
            <a:avLst/>
          </a:prstGeom>
        </p:spPr>
        <p:txBody>
          <a:bodyPr wrap="square" lIns="0" tIns="0" rIns="0" bIns="0" rtlCol="0" anchor="t">
            <a:spAutoFit/>
          </a:bodyPr>
          <a:lstStyle/>
          <a:p>
            <a:pPr algn="ctr">
              <a:lnSpc>
                <a:spcPts val="4154"/>
              </a:lnSpc>
            </a:pPr>
            <a:r>
              <a:rPr lang="en-US" sz="2967" dirty="0">
                <a:solidFill>
                  <a:srgbClr val="FFFFFF"/>
                </a:solidFill>
                <a:latin typeface="Norwester"/>
                <a:ea typeface="Norwester"/>
                <a:cs typeface="Norwester"/>
                <a:sym typeface="Norwester"/>
              </a:rPr>
              <a:t>100%</a:t>
            </a:r>
          </a:p>
        </p:txBody>
      </p:sp>
      <p:sp>
        <p:nvSpPr>
          <p:cNvPr id="12" name="Freeform 12"/>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5"/>
            <a:stretch>
              <a:fillRect/>
            </a:stretch>
          </a:blipFill>
        </p:spPr>
        <p:txBody>
          <a:bodyPr/>
          <a:lstStyle/>
          <a:p>
            <a:endParaRPr lang="en-US"/>
          </a:p>
        </p:txBody>
      </p:sp>
      <p:sp>
        <p:nvSpPr>
          <p:cNvPr id="13" name="TextBox 13"/>
          <p:cNvSpPr txBox="1"/>
          <p:nvPr/>
        </p:nvSpPr>
        <p:spPr>
          <a:xfrm>
            <a:off x="6612894" y="9432607"/>
            <a:ext cx="7329011"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IT21819810 |B.D.A.M KUMARA | R25-040</a:t>
            </a:r>
          </a:p>
        </p:txBody>
      </p:sp>
      <p:sp>
        <p:nvSpPr>
          <p:cNvPr id="14" name="TextBox 14"/>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9144000" y="2850723"/>
            <a:ext cx="8386655" cy="5150973"/>
          </a:xfrm>
          <a:custGeom>
            <a:avLst/>
            <a:gdLst/>
            <a:ahLst/>
            <a:cxnLst/>
            <a:rect l="l" t="t" r="r" b="b"/>
            <a:pathLst>
              <a:path w="8386655" h="5150973">
                <a:moveTo>
                  <a:pt x="0" y="0"/>
                </a:moveTo>
                <a:lnTo>
                  <a:pt x="8386655" y="0"/>
                </a:lnTo>
                <a:lnTo>
                  <a:pt x="8386655" y="5150973"/>
                </a:lnTo>
                <a:lnTo>
                  <a:pt x="0" y="5150973"/>
                </a:lnTo>
                <a:lnTo>
                  <a:pt x="0" y="0"/>
                </a:lnTo>
                <a:close/>
              </a:path>
            </a:pathLst>
          </a:custGeom>
          <a:blipFill>
            <a:blip r:embed="rId2"/>
            <a:stretch>
              <a:fillRect/>
            </a:stretch>
          </a:blipFill>
        </p:spPr>
        <p:txBody>
          <a:bodyPr/>
          <a:lstStyle/>
          <a:p>
            <a:endParaRPr lang="en-US"/>
          </a:p>
        </p:txBody>
      </p:sp>
      <p:sp>
        <p:nvSpPr>
          <p:cNvPr id="3" name="Freeform 3"/>
          <p:cNvSpPr/>
          <p:nvPr/>
        </p:nvSpPr>
        <p:spPr>
          <a:xfrm>
            <a:off x="1028700" y="2997889"/>
            <a:ext cx="7471755" cy="4856640"/>
          </a:xfrm>
          <a:custGeom>
            <a:avLst/>
            <a:gdLst/>
            <a:ahLst/>
            <a:cxnLst/>
            <a:rect l="l" t="t" r="r" b="b"/>
            <a:pathLst>
              <a:path w="7471755" h="4856640">
                <a:moveTo>
                  <a:pt x="0" y="0"/>
                </a:moveTo>
                <a:lnTo>
                  <a:pt x="7471755" y="0"/>
                </a:lnTo>
                <a:lnTo>
                  <a:pt x="7471755" y="4856641"/>
                </a:lnTo>
                <a:lnTo>
                  <a:pt x="0" y="4856641"/>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028700" y="1143000"/>
            <a:ext cx="10244562" cy="856488"/>
          </a:xfrm>
          <a:prstGeom prst="rect">
            <a:avLst/>
          </a:prstGeom>
        </p:spPr>
        <p:txBody>
          <a:bodyPr lIns="0" tIns="0" rIns="0" bIns="0" rtlCol="0" anchor="t">
            <a:spAutoFit/>
          </a:bodyPr>
          <a:lstStyle/>
          <a:p>
            <a:pPr algn="l">
              <a:lnSpc>
                <a:spcPts val="6335"/>
              </a:lnSpc>
            </a:pPr>
            <a:r>
              <a:rPr lang="en-US" sz="6399">
                <a:solidFill>
                  <a:srgbClr val="7AFFF5"/>
                </a:solidFill>
                <a:latin typeface="Norwester"/>
                <a:ea typeface="Norwester"/>
                <a:cs typeface="Norwester"/>
                <a:sym typeface="Norwester"/>
              </a:rPr>
              <a:t>EVIDENCES FOR COMPLETION</a:t>
            </a:r>
          </a:p>
        </p:txBody>
      </p:sp>
      <p:sp>
        <p:nvSpPr>
          <p:cNvPr id="5" name="TextBox 5"/>
          <p:cNvSpPr txBox="1"/>
          <p:nvPr/>
        </p:nvSpPr>
        <p:spPr>
          <a:xfrm>
            <a:off x="1028700" y="2237313"/>
            <a:ext cx="6343293" cy="613410"/>
          </a:xfrm>
          <a:prstGeom prst="rect">
            <a:avLst/>
          </a:prstGeom>
        </p:spPr>
        <p:txBody>
          <a:bodyPr lIns="0" tIns="0" rIns="0" bIns="0" rtlCol="0" anchor="t">
            <a:spAutoFit/>
          </a:bodyPr>
          <a:lstStyle/>
          <a:p>
            <a:pPr algn="ctr">
              <a:lnSpc>
                <a:spcPts val="5040"/>
              </a:lnSpc>
              <a:spcBef>
                <a:spcPct val="0"/>
              </a:spcBef>
            </a:pPr>
            <a:r>
              <a:rPr lang="en-US" sz="3600">
                <a:solidFill>
                  <a:srgbClr val="7AFFF5"/>
                </a:solidFill>
                <a:latin typeface="Norwester"/>
                <a:ea typeface="Norwester"/>
                <a:cs typeface="Norwester"/>
                <a:sym typeface="Norwester"/>
              </a:rPr>
              <a:t>ARCHITECTURE OF IMPLEMENTATION</a:t>
            </a:r>
          </a:p>
        </p:txBody>
      </p:sp>
      <p:sp>
        <p:nvSpPr>
          <p:cNvPr id="6" name="TextBox 6"/>
          <p:cNvSpPr txBox="1"/>
          <p:nvPr/>
        </p:nvSpPr>
        <p:spPr>
          <a:xfrm>
            <a:off x="12035131" y="1690578"/>
            <a:ext cx="2963585" cy="613410"/>
          </a:xfrm>
          <a:prstGeom prst="rect">
            <a:avLst/>
          </a:prstGeom>
        </p:spPr>
        <p:txBody>
          <a:bodyPr lIns="0" tIns="0" rIns="0" bIns="0" rtlCol="0" anchor="t">
            <a:spAutoFit/>
          </a:bodyPr>
          <a:lstStyle/>
          <a:p>
            <a:pPr algn="ctr">
              <a:lnSpc>
                <a:spcPts val="5040"/>
              </a:lnSpc>
              <a:spcBef>
                <a:spcPct val="0"/>
              </a:spcBef>
            </a:pPr>
            <a:r>
              <a:rPr lang="en-US" sz="3600">
                <a:solidFill>
                  <a:srgbClr val="7AFFF5"/>
                </a:solidFill>
                <a:latin typeface="Norwester"/>
                <a:ea typeface="Norwester"/>
                <a:cs typeface="Norwester"/>
                <a:sym typeface="Norwester"/>
              </a:rPr>
              <a:t>MODEL TRAINING</a:t>
            </a:r>
          </a:p>
        </p:txBody>
      </p:sp>
      <p:sp>
        <p:nvSpPr>
          <p:cNvPr id="7" name="TextBox 7"/>
          <p:cNvSpPr txBox="1"/>
          <p:nvPr/>
        </p:nvSpPr>
        <p:spPr>
          <a:xfrm>
            <a:off x="6612894" y="9432607"/>
            <a:ext cx="7329011"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IT21819810 |B.D.A.M KUMARA | R25-040</a:t>
            </a:r>
          </a:p>
        </p:txBody>
      </p:sp>
      <p:sp>
        <p:nvSpPr>
          <p:cNvPr id="8" name="Freeform 8"/>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4"/>
            <a:stretch>
              <a:fillRect/>
            </a:stretch>
          </a:blipFill>
        </p:spPr>
        <p:txBody>
          <a:bodyPr/>
          <a:lstStyle/>
          <a:p>
            <a:endParaRPr lang="en-US"/>
          </a:p>
        </p:txBody>
      </p:sp>
      <p:sp>
        <p:nvSpPr>
          <p:cNvPr id="9" name="TextBox 9"/>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2"/>
            <a:stretch>
              <a:fillRect/>
            </a:stretch>
          </a:blipFill>
        </p:spPr>
        <p:txBody>
          <a:bodyPr/>
          <a:lstStyle/>
          <a:p>
            <a:endParaRPr lang="en-US"/>
          </a:p>
        </p:txBody>
      </p:sp>
      <p:sp>
        <p:nvSpPr>
          <p:cNvPr id="3" name="Freeform 3"/>
          <p:cNvSpPr/>
          <p:nvPr/>
        </p:nvSpPr>
        <p:spPr>
          <a:xfrm>
            <a:off x="1629078" y="2532886"/>
            <a:ext cx="5061235" cy="2940771"/>
          </a:xfrm>
          <a:custGeom>
            <a:avLst/>
            <a:gdLst/>
            <a:ahLst/>
            <a:cxnLst/>
            <a:rect l="l" t="t" r="r" b="b"/>
            <a:pathLst>
              <a:path w="5061235" h="2940771">
                <a:moveTo>
                  <a:pt x="0" y="0"/>
                </a:moveTo>
                <a:lnTo>
                  <a:pt x="5061235" y="0"/>
                </a:lnTo>
                <a:lnTo>
                  <a:pt x="5061235" y="2940770"/>
                </a:lnTo>
                <a:lnTo>
                  <a:pt x="0" y="2940770"/>
                </a:lnTo>
                <a:lnTo>
                  <a:pt x="0" y="0"/>
                </a:lnTo>
                <a:close/>
              </a:path>
            </a:pathLst>
          </a:custGeom>
          <a:blipFill>
            <a:blip r:embed="rId3"/>
            <a:stretch>
              <a:fillRect l="-2603" t="-1481" b="-1481"/>
            </a:stretch>
          </a:blipFill>
        </p:spPr>
        <p:txBody>
          <a:bodyPr/>
          <a:lstStyle/>
          <a:p>
            <a:endParaRPr lang="en-US"/>
          </a:p>
        </p:txBody>
      </p:sp>
      <p:sp>
        <p:nvSpPr>
          <p:cNvPr id="4" name="Freeform 4"/>
          <p:cNvSpPr/>
          <p:nvPr/>
        </p:nvSpPr>
        <p:spPr>
          <a:xfrm>
            <a:off x="10277400" y="2331717"/>
            <a:ext cx="5691639" cy="3397463"/>
          </a:xfrm>
          <a:custGeom>
            <a:avLst/>
            <a:gdLst/>
            <a:ahLst/>
            <a:cxnLst/>
            <a:rect l="l" t="t" r="r" b="b"/>
            <a:pathLst>
              <a:path w="5691639" h="3397463">
                <a:moveTo>
                  <a:pt x="0" y="0"/>
                </a:moveTo>
                <a:lnTo>
                  <a:pt x="5691639" y="0"/>
                </a:lnTo>
                <a:lnTo>
                  <a:pt x="5691639" y="3397463"/>
                </a:lnTo>
                <a:lnTo>
                  <a:pt x="0" y="3397463"/>
                </a:lnTo>
                <a:lnTo>
                  <a:pt x="0" y="0"/>
                </a:lnTo>
                <a:close/>
              </a:path>
            </a:pathLst>
          </a:custGeom>
          <a:blipFill>
            <a:blip r:embed="rId4"/>
            <a:stretch>
              <a:fillRect t="-1599"/>
            </a:stretch>
          </a:blipFill>
        </p:spPr>
        <p:txBody>
          <a:bodyPr/>
          <a:lstStyle/>
          <a:p>
            <a:endParaRPr lang="en-US"/>
          </a:p>
        </p:txBody>
      </p:sp>
      <p:sp>
        <p:nvSpPr>
          <p:cNvPr id="5" name="Freeform 5"/>
          <p:cNvSpPr/>
          <p:nvPr/>
        </p:nvSpPr>
        <p:spPr>
          <a:xfrm>
            <a:off x="10277400" y="6210147"/>
            <a:ext cx="5633519" cy="3289136"/>
          </a:xfrm>
          <a:custGeom>
            <a:avLst/>
            <a:gdLst/>
            <a:ahLst/>
            <a:cxnLst/>
            <a:rect l="l" t="t" r="r" b="b"/>
            <a:pathLst>
              <a:path w="5633519" h="3289136">
                <a:moveTo>
                  <a:pt x="0" y="0"/>
                </a:moveTo>
                <a:lnTo>
                  <a:pt x="5633519" y="0"/>
                </a:lnTo>
                <a:lnTo>
                  <a:pt x="5633519" y="3289135"/>
                </a:lnTo>
                <a:lnTo>
                  <a:pt x="0" y="3289135"/>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6612894" y="9432607"/>
            <a:ext cx="7329011" cy="613410"/>
          </a:xfrm>
          <a:prstGeom prst="rect">
            <a:avLst/>
          </a:prstGeom>
        </p:spPr>
        <p:txBody>
          <a:bodyPr lIns="0" tIns="0" rIns="0" bIns="0" rtlCol="0" anchor="t">
            <a:spAutoFit/>
          </a:bodyPr>
          <a:lstStyle/>
          <a:p>
            <a:pPr algn="ctr">
              <a:lnSpc>
                <a:spcPts val="5040"/>
              </a:lnSpc>
              <a:spcBef>
                <a:spcPct val="0"/>
              </a:spcBef>
            </a:pPr>
            <a:r>
              <a:rPr lang="en-US" sz="3600">
                <a:solidFill>
                  <a:srgbClr val="FFFFFF"/>
                </a:solidFill>
                <a:latin typeface="Norwester"/>
                <a:ea typeface="Norwester"/>
                <a:cs typeface="Norwester"/>
                <a:sym typeface="Norwester"/>
              </a:rPr>
              <a:t>IT21819810 |B.D.A.M KUMARA | R25-040</a:t>
            </a:r>
          </a:p>
        </p:txBody>
      </p:sp>
      <p:sp>
        <p:nvSpPr>
          <p:cNvPr id="7" name="TextBox 7"/>
          <p:cNvSpPr txBox="1"/>
          <p:nvPr/>
        </p:nvSpPr>
        <p:spPr>
          <a:xfrm>
            <a:off x="803600" y="363650"/>
            <a:ext cx="7307974" cy="1054454"/>
          </a:xfrm>
          <a:prstGeom prst="rect">
            <a:avLst/>
          </a:prstGeom>
        </p:spPr>
        <p:txBody>
          <a:bodyPr lIns="0" tIns="0" rIns="0" bIns="0" rtlCol="0" anchor="t">
            <a:spAutoFit/>
          </a:bodyPr>
          <a:lstStyle/>
          <a:p>
            <a:pPr algn="l">
              <a:lnSpc>
                <a:spcPts val="7803"/>
              </a:lnSpc>
            </a:pPr>
            <a:r>
              <a:rPr lang="en-US" sz="7882">
                <a:solidFill>
                  <a:srgbClr val="7AFFF5"/>
                </a:solidFill>
                <a:latin typeface="Norwester"/>
                <a:ea typeface="Norwester"/>
                <a:cs typeface="Norwester"/>
                <a:sym typeface="Norwester"/>
              </a:rPr>
              <a:t>PREDICTION</a:t>
            </a:r>
          </a:p>
        </p:txBody>
      </p:sp>
      <p:sp>
        <p:nvSpPr>
          <p:cNvPr id="8" name="TextBox 8"/>
          <p:cNvSpPr txBox="1"/>
          <p:nvPr/>
        </p:nvSpPr>
        <p:spPr>
          <a:xfrm>
            <a:off x="1629078" y="1635758"/>
            <a:ext cx="5886331" cy="695959"/>
          </a:xfrm>
          <a:prstGeom prst="rect">
            <a:avLst/>
          </a:prstGeom>
        </p:spPr>
        <p:txBody>
          <a:bodyPr wrap="square" lIns="0" tIns="0" rIns="0" bIns="0" rtlCol="0" anchor="t">
            <a:spAutoFit/>
          </a:bodyPr>
          <a:lstStyle/>
          <a:p>
            <a:pPr algn="ctr">
              <a:lnSpc>
                <a:spcPts val="5740"/>
              </a:lnSpc>
            </a:pPr>
            <a:r>
              <a:rPr lang="en-US" sz="4100" b="1" dirty="0">
                <a:solidFill>
                  <a:srgbClr val="FFFFFF"/>
                </a:solidFill>
                <a:latin typeface="Canva Sans Bold"/>
                <a:ea typeface="Canva Sans Bold"/>
                <a:cs typeface="Canva Sans Bold"/>
                <a:sym typeface="Canva Sans Bold"/>
              </a:rPr>
              <a:t>Positive Hand Gesture</a:t>
            </a:r>
          </a:p>
        </p:txBody>
      </p:sp>
      <p:sp>
        <p:nvSpPr>
          <p:cNvPr id="9" name="TextBox 9"/>
          <p:cNvSpPr txBox="1"/>
          <p:nvPr/>
        </p:nvSpPr>
        <p:spPr>
          <a:xfrm>
            <a:off x="10197365" y="1635758"/>
            <a:ext cx="6033235" cy="695959"/>
          </a:xfrm>
          <a:prstGeom prst="rect">
            <a:avLst/>
          </a:prstGeom>
        </p:spPr>
        <p:txBody>
          <a:bodyPr wrap="square" lIns="0" tIns="0" rIns="0" bIns="0" rtlCol="0" anchor="t">
            <a:spAutoFit/>
          </a:bodyPr>
          <a:lstStyle/>
          <a:p>
            <a:pPr algn="ctr">
              <a:lnSpc>
                <a:spcPts val="5740"/>
              </a:lnSpc>
            </a:pPr>
            <a:r>
              <a:rPr lang="en-US" sz="4100" b="1" dirty="0">
                <a:solidFill>
                  <a:srgbClr val="FFFFFF"/>
                </a:solidFill>
                <a:latin typeface="Canva Sans Bold"/>
                <a:ea typeface="Canva Sans Bold"/>
                <a:cs typeface="Canva Sans Bold"/>
                <a:sym typeface="Canva Sans Bold"/>
              </a:rPr>
              <a:t>Negative Hand Gesture</a:t>
            </a:r>
          </a:p>
        </p:txBody>
      </p:sp>
      <p:sp>
        <p:nvSpPr>
          <p:cNvPr id="10" name="TextBox 10"/>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740946" y="3662061"/>
            <a:ext cx="7766168" cy="5048009"/>
          </a:xfrm>
          <a:custGeom>
            <a:avLst/>
            <a:gdLst/>
            <a:ahLst/>
            <a:cxnLst/>
            <a:rect l="l" t="t" r="r" b="b"/>
            <a:pathLst>
              <a:path w="7766168" h="5048009">
                <a:moveTo>
                  <a:pt x="0" y="0"/>
                </a:moveTo>
                <a:lnTo>
                  <a:pt x="7766168" y="0"/>
                </a:lnTo>
                <a:lnTo>
                  <a:pt x="7766168" y="5048009"/>
                </a:lnTo>
                <a:lnTo>
                  <a:pt x="0" y="5048009"/>
                </a:lnTo>
                <a:lnTo>
                  <a:pt x="0" y="0"/>
                </a:lnTo>
                <a:close/>
              </a:path>
            </a:pathLst>
          </a:custGeom>
          <a:blipFill>
            <a:blip r:embed="rId2"/>
            <a:stretch>
              <a:fillRect/>
            </a:stretch>
          </a:blipFill>
        </p:spPr>
        <p:txBody>
          <a:bodyPr/>
          <a:lstStyle/>
          <a:p>
            <a:endParaRPr lang="en-US"/>
          </a:p>
        </p:txBody>
      </p:sp>
      <p:sp>
        <p:nvSpPr>
          <p:cNvPr id="3" name="Freeform 3"/>
          <p:cNvSpPr/>
          <p:nvPr/>
        </p:nvSpPr>
        <p:spPr>
          <a:xfrm>
            <a:off x="9972243" y="3662061"/>
            <a:ext cx="7562626" cy="4915707"/>
          </a:xfrm>
          <a:custGeom>
            <a:avLst/>
            <a:gdLst/>
            <a:ahLst/>
            <a:cxnLst/>
            <a:rect l="l" t="t" r="r" b="b"/>
            <a:pathLst>
              <a:path w="7562626" h="4915707">
                <a:moveTo>
                  <a:pt x="0" y="0"/>
                </a:moveTo>
                <a:lnTo>
                  <a:pt x="7562626" y="0"/>
                </a:lnTo>
                <a:lnTo>
                  <a:pt x="7562626" y="4915707"/>
                </a:lnTo>
                <a:lnTo>
                  <a:pt x="0" y="491570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2435325" y="738506"/>
            <a:ext cx="14143579" cy="2041555"/>
          </a:xfrm>
          <a:prstGeom prst="rect">
            <a:avLst/>
          </a:prstGeom>
        </p:spPr>
        <p:txBody>
          <a:bodyPr lIns="0" tIns="0" rIns="0" bIns="0" rtlCol="0" anchor="t">
            <a:spAutoFit/>
          </a:bodyPr>
          <a:lstStyle/>
          <a:p>
            <a:pPr algn="l">
              <a:lnSpc>
                <a:spcPts val="7803"/>
              </a:lnSpc>
            </a:pPr>
            <a:r>
              <a:rPr lang="en-US" sz="7882">
                <a:solidFill>
                  <a:srgbClr val="7AFFF5"/>
                </a:solidFill>
                <a:latin typeface="Norwester"/>
                <a:ea typeface="Norwester"/>
                <a:cs typeface="Norwester"/>
                <a:sym typeface="Norwester"/>
              </a:rPr>
              <a:t>EVIDENCES OF IMPLEMENTATIONS OF THE APPLICATION</a:t>
            </a:r>
          </a:p>
        </p:txBody>
      </p:sp>
      <p:sp>
        <p:nvSpPr>
          <p:cNvPr id="5" name="TextBox 5"/>
          <p:cNvSpPr txBox="1"/>
          <p:nvPr/>
        </p:nvSpPr>
        <p:spPr>
          <a:xfrm>
            <a:off x="2435325" y="2703861"/>
            <a:ext cx="6708675" cy="695959"/>
          </a:xfrm>
          <a:prstGeom prst="rect">
            <a:avLst/>
          </a:prstGeom>
        </p:spPr>
        <p:txBody>
          <a:bodyPr wrap="square" lIns="0" tIns="0" rIns="0" bIns="0" rtlCol="0" anchor="t">
            <a:spAutoFit/>
          </a:bodyPr>
          <a:lstStyle/>
          <a:p>
            <a:pPr algn="ctr">
              <a:lnSpc>
                <a:spcPts val="5740"/>
              </a:lnSpc>
            </a:pPr>
            <a:r>
              <a:rPr lang="en-US" sz="4100" b="1" dirty="0">
                <a:solidFill>
                  <a:srgbClr val="FFFFFF"/>
                </a:solidFill>
                <a:latin typeface="Canva Sans Bold"/>
                <a:ea typeface="Canva Sans Bold"/>
                <a:cs typeface="Canva Sans Bold"/>
                <a:sym typeface="Canva Sans Bold"/>
              </a:rPr>
              <a:t>Backend Implementation</a:t>
            </a:r>
          </a:p>
        </p:txBody>
      </p:sp>
      <p:sp>
        <p:nvSpPr>
          <p:cNvPr id="6" name="TextBox 6"/>
          <p:cNvSpPr txBox="1"/>
          <p:nvPr/>
        </p:nvSpPr>
        <p:spPr>
          <a:xfrm>
            <a:off x="9972243" y="2703861"/>
            <a:ext cx="8163357" cy="683970"/>
          </a:xfrm>
          <a:prstGeom prst="rect">
            <a:avLst/>
          </a:prstGeom>
        </p:spPr>
        <p:txBody>
          <a:bodyPr wrap="square" lIns="0" tIns="0" rIns="0" bIns="0" rtlCol="0" anchor="t">
            <a:spAutoFit/>
          </a:bodyPr>
          <a:lstStyle/>
          <a:p>
            <a:pPr algn="ctr">
              <a:lnSpc>
                <a:spcPts val="5739"/>
              </a:lnSpc>
              <a:spcBef>
                <a:spcPct val="0"/>
              </a:spcBef>
            </a:pPr>
            <a:r>
              <a:rPr lang="en-US" sz="4099" b="1" dirty="0">
                <a:solidFill>
                  <a:srgbClr val="FFFFFF"/>
                </a:solidFill>
                <a:latin typeface="Canva Sans Bold"/>
                <a:ea typeface="Canva Sans Bold"/>
                <a:cs typeface="Canva Sans Bold"/>
                <a:sym typeface="Canva Sans Bold"/>
              </a:rPr>
              <a:t>FRONTEND IMPLEMENTATION</a:t>
            </a:r>
          </a:p>
        </p:txBody>
      </p:sp>
      <p:sp>
        <p:nvSpPr>
          <p:cNvPr id="7" name="Freeform 7"/>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4"/>
            <a:stretch>
              <a:fillRect/>
            </a:stretch>
          </a:blipFill>
        </p:spPr>
        <p:txBody>
          <a:bodyPr/>
          <a:lstStyle/>
          <a:p>
            <a:endParaRPr lang="en-US"/>
          </a:p>
        </p:txBody>
      </p:sp>
      <p:sp>
        <p:nvSpPr>
          <p:cNvPr id="8" name="TextBox 8"/>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9746016" y="2408680"/>
            <a:ext cx="7513284" cy="4883635"/>
          </a:xfrm>
          <a:custGeom>
            <a:avLst/>
            <a:gdLst/>
            <a:ahLst/>
            <a:cxnLst/>
            <a:rect l="l" t="t" r="r" b="b"/>
            <a:pathLst>
              <a:path w="7513284" h="4883635">
                <a:moveTo>
                  <a:pt x="0" y="0"/>
                </a:moveTo>
                <a:lnTo>
                  <a:pt x="7513284" y="0"/>
                </a:lnTo>
                <a:lnTo>
                  <a:pt x="7513284" y="4883635"/>
                </a:lnTo>
                <a:lnTo>
                  <a:pt x="0" y="4883635"/>
                </a:lnTo>
                <a:lnTo>
                  <a:pt x="0" y="0"/>
                </a:lnTo>
                <a:close/>
              </a:path>
            </a:pathLst>
          </a:custGeom>
          <a:blipFill>
            <a:blip r:embed="rId2"/>
            <a:stretch>
              <a:fillRect/>
            </a:stretch>
          </a:blipFill>
        </p:spPr>
        <p:txBody>
          <a:bodyPr/>
          <a:lstStyle/>
          <a:p>
            <a:endParaRPr lang="en-US"/>
          </a:p>
        </p:txBody>
      </p:sp>
      <p:sp>
        <p:nvSpPr>
          <p:cNvPr id="3" name="Freeform 3"/>
          <p:cNvSpPr/>
          <p:nvPr/>
        </p:nvSpPr>
        <p:spPr>
          <a:xfrm>
            <a:off x="1419981" y="2408680"/>
            <a:ext cx="7581037" cy="4927674"/>
          </a:xfrm>
          <a:custGeom>
            <a:avLst/>
            <a:gdLst/>
            <a:ahLst/>
            <a:cxnLst/>
            <a:rect l="l" t="t" r="r" b="b"/>
            <a:pathLst>
              <a:path w="7581037" h="4927674">
                <a:moveTo>
                  <a:pt x="0" y="0"/>
                </a:moveTo>
                <a:lnTo>
                  <a:pt x="7581037" y="0"/>
                </a:lnTo>
                <a:lnTo>
                  <a:pt x="7581037" y="4927674"/>
                </a:lnTo>
                <a:lnTo>
                  <a:pt x="0" y="4927674"/>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751882" y="1463952"/>
            <a:ext cx="8917234" cy="695960"/>
          </a:xfrm>
          <a:prstGeom prst="rect">
            <a:avLst/>
          </a:prstGeom>
        </p:spPr>
        <p:txBody>
          <a:bodyPr lIns="0" tIns="0" rIns="0" bIns="0" rtlCol="0" anchor="t">
            <a:spAutoFit/>
          </a:bodyPr>
          <a:lstStyle/>
          <a:p>
            <a:pPr algn="ctr">
              <a:lnSpc>
                <a:spcPts val="5740"/>
              </a:lnSpc>
              <a:spcBef>
                <a:spcPct val="0"/>
              </a:spcBef>
            </a:pPr>
            <a:r>
              <a:rPr lang="en-US" sz="4100" b="1">
                <a:solidFill>
                  <a:srgbClr val="FFFFFF"/>
                </a:solidFill>
                <a:latin typeface="Canva Sans Bold"/>
                <a:ea typeface="Canva Sans Bold"/>
                <a:cs typeface="Canva Sans Bold"/>
                <a:sym typeface="Canva Sans Bold"/>
              </a:rPr>
              <a:t>LOGIN TO APPLICATION</a:t>
            </a:r>
          </a:p>
        </p:txBody>
      </p:sp>
      <p:sp>
        <p:nvSpPr>
          <p:cNvPr id="5" name="TextBox 5"/>
          <p:cNvSpPr txBox="1"/>
          <p:nvPr/>
        </p:nvSpPr>
        <p:spPr>
          <a:xfrm>
            <a:off x="10447990" y="1463952"/>
            <a:ext cx="6239810" cy="695960"/>
          </a:xfrm>
          <a:prstGeom prst="rect">
            <a:avLst/>
          </a:prstGeom>
        </p:spPr>
        <p:txBody>
          <a:bodyPr wrap="square" lIns="0" tIns="0" rIns="0" bIns="0" rtlCol="0" anchor="t">
            <a:spAutoFit/>
          </a:bodyPr>
          <a:lstStyle/>
          <a:p>
            <a:pPr algn="ctr">
              <a:lnSpc>
                <a:spcPts val="5740"/>
              </a:lnSpc>
              <a:spcBef>
                <a:spcPct val="0"/>
              </a:spcBef>
            </a:pPr>
            <a:r>
              <a:rPr lang="en-US" sz="4100" b="1" dirty="0">
                <a:solidFill>
                  <a:srgbClr val="FFFFFF"/>
                </a:solidFill>
                <a:latin typeface="Canva Sans Bold"/>
                <a:ea typeface="Canva Sans Bold"/>
                <a:cs typeface="Canva Sans Bold"/>
                <a:sym typeface="Canva Sans Bold"/>
              </a:rPr>
              <a:t>LOGIN TO APPLICATION</a:t>
            </a:r>
          </a:p>
        </p:txBody>
      </p:sp>
      <p:sp>
        <p:nvSpPr>
          <p:cNvPr id="6" name="Freeform 6"/>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4"/>
            <a:stretch>
              <a:fillRect/>
            </a:stretch>
          </a:blipFill>
        </p:spPr>
        <p:txBody>
          <a:bodyPr/>
          <a:lstStyle/>
          <a:p>
            <a:endParaRPr lang="en-US"/>
          </a:p>
        </p:txBody>
      </p:sp>
      <p:sp>
        <p:nvSpPr>
          <p:cNvPr id="7" name="TextBox 7"/>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69320" y="565239"/>
            <a:ext cx="8917234" cy="5796202"/>
          </a:xfrm>
          <a:custGeom>
            <a:avLst/>
            <a:gdLst/>
            <a:ahLst/>
            <a:cxnLst/>
            <a:rect l="l" t="t" r="r" b="b"/>
            <a:pathLst>
              <a:path w="8917234" h="5796202">
                <a:moveTo>
                  <a:pt x="0" y="0"/>
                </a:moveTo>
                <a:lnTo>
                  <a:pt x="8917234" y="0"/>
                </a:lnTo>
                <a:lnTo>
                  <a:pt x="8917234" y="5796202"/>
                </a:lnTo>
                <a:lnTo>
                  <a:pt x="0" y="5796202"/>
                </a:lnTo>
                <a:lnTo>
                  <a:pt x="0" y="0"/>
                </a:lnTo>
                <a:close/>
              </a:path>
            </a:pathLst>
          </a:custGeom>
          <a:blipFill>
            <a:blip r:embed="rId2"/>
            <a:stretch>
              <a:fillRect/>
            </a:stretch>
          </a:blipFill>
        </p:spPr>
        <p:txBody>
          <a:bodyPr/>
          <a:lstStyle/>
          <a:p>
            <a:endParaRPr lang="en-US"/>
          </a:p>
        </p:txBody>
      </p:sp>
      <p:sp>
        <p:nvSpPr>
          <p:cNvPr id="3" name="Freeform 3"/>
          <p:cNvSpPr/>
          <p:nvPr/>
        </p:nvSpPr>
        <p:spPr>
          <a:xfrm>
            <a:off x="9675471" y="3699421"/>
            <a:ext cx="8190830" cy="5324040"/>
          </a:xfrm>
          <a:custGeom>
            <a:avLst/>
            <a:gdLst/>
            <a:ahLst/>
            <a:cxnLst/>
            <a:rect l="l" t="t" r="r" b="b"/>
            <a:pathLst>
              <a:path w="8190830" h="5324040">
                <a:moveTo>
                  <a:pt x="0" y="0"/>
                </a:moveTo>
                <a:lnTo>
                  <a:pt x="8190830" y="0"/>
                </a:lnTo>
                <a:lnTo>
                  <a:pt x="8190830" y="5324040"/>
                </a:lnTo>
                <a:lnTo>
                  <a:pt x="0" y="5324040"/>
                </a:lnTo>
                <a:lnTo>
                  <a:pt x="0" y="0"/>
                </a:lnTo>
                <a:close/>
              </a:path>
            </a:pathLst>
          </a:custGeom>
          <a:blipFill>
            <a:blip r:embed="rId3"/>
            <a:stretch>
              <a:fillRect/>
            </a:stretch>
          </a:blipFill>
        </p:spPr>
        <p:txBody>
          <a:bodyPr/>
          <a:lstStyle/>
          <a:p>
            <a:endParaRPr lang="en-US"/>
          </a:p>
        </p:txBody>
      </p:sp>
      <p:sp>
        <p:nvSpPr>
          <p:cNvPr id="4" name="Freeform 4"/>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3508050" y="1480133"/>
            <a:ext cx="11271900" cy="7326735"/>
          </a:xfrm>
          <a:custGeom>
            <a:avLst/>
            <a:gdLst/>
            <a:ahLst/>
            <a:cxnLst/>
            <a:rect l="l" t="t" r="r" b="b"/>
            <a:pathLst>
              <a:path w="11271900" h="7326735">
                <a:moveTo>
                  <a:pt x="0" y="0"/>
                </a:moveTo>
                <a:lnTo>
                  <a:pt x="11271900" y="0"/>
                </a:lnTo>
                <a:lnTo>
                  <a:pt x="11271900" y="7326734"/>
                </a:lnTo>
                <a:lnTo>
                  <a:pt x="0" y="7326734"/>
                </a:lnTo>
                <a:lnTo>
                  <a:pt x="0" y="0"/>
                </a:lnTo>
                <a:close/>
              </a:path>
            </a:pathLst>
          </a:custGeom>
          <a:blipFill>
            <a:blip r:embed="rId2"/>
            <a:stretch>
              <a:fillRect/>
            </a:stretch>
          </a:blipFill>
        </p:spPr>
        <p:txBody>
          <a:bodyPr/>
          <a:lstStyle/>
          <a:p>
            <a:endParaRPr lang="en-US"/>
          </a:p>
        </p:txBody>
      </p:sp>
      <p:sp>
        <p:nvSpPr>
          <p:cNvPr id="3" name="Freeform 3"/>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0764104" y="288945"/>
            <a:ext cx="7138597" cy="4640088"/>
          </a:xfrm>
          <a:custGeom>
            <a:avLst/>
            <a:gdLst/>
            <a:ahLst/>
            <a:cxnLst/>
            <a:rect l="l" t="t" r="r" b="b"/>
            <a:pathLst>
              <a:path w="7138597" h="4640088">
                <a:moveTo>
                  <a:pt x="0" y="0"/>
                </a:moveTo>
                <a:lnTo>
                  <a:pt x="7138597" y="0"/>
                </a:lnTo>
                <a:lnTo>
                  <a:pt x="7138597" y="4640088"/>
                </a:lnTo>
                <a:lnTo>
                  <a:pt x="0" y="4640088"/>
                </a:lnTo>
                <a:lnTo>
                  <a:pt x="0" y="0"/>
                </a:lnTo>
                <a:close/>
              </a:path>
            </a:pathLst>
          </a:custGeom>
          <a:blipFill>
            <a:blip r:embed="rId2"/>
            <a:stretch>
              <a:fillRect/>
            </a:stretch>
          </a:blipFill>
        </p:spPr>
        <p:txBody>
          <a:bodyPr/>
          <a:lstStyle/>
          <a:p>
            <a:endParaRPr lang="en-US"/>
          </a:p>
        </p:txBody>
      </p:sp>
      <p:sp>
        <p:nvSpPr>
          <p:cNvPr id="3" name="Freeform 3"/>
          <p:cNvSpPr/>
          <p:nvPr/>
        </p:nvSpPr>
        <p:spPr>
          <a:xfrm>
            <a:off x="9239742" y="5131038"/>
            <a:ext cx="7138597" cy="4640088"/>
          </a:xfrm>
          <a:custGeom>
            <a:avLst/>
            <a:gdLst/>
            <a:ahLst/>
            <a:cxnLst/>
            <a:rect l="l" t="t" r="r" b="b"/>
            <a:pathLst>
              <a:path w="7138597" h="4640088">
                <a:moveTo>
                  <a:pt x="0" y="0"/>
                </a:moveTo>
                <a:lnTo>
                  <a:pt x="7138597" y="0"/>
                </a:lnTo>
                <a:lnTo>
                  <a:pt x="7138597" y="4640088"/>
                </a:lnTo>
                <a:lnTo>
                  <a:pt x="0" y="4640088"/>
                </a:lnTo>
                <a:lnTo>
                  <a:pt x="0" y="0"/>
                </a:lnTo>
                <a:close/>
              </a:path>
            </a:pathLst>
          </a:custGeom>
          <a:blipFill>
            <a:blip r:embed="rId3"/>
            <a:stretch>
              <a:fillRect/>
            </a:stretch>
          </a:blipFill>
        </p:spPr>
        <p:txBody>
          <a:bodyPr/>
          <a:lstStyle/>
          <a:p>
            <a:endParaRPr lang="en-US"/>
          </a:p>
        </p:txBody>
      </p:sp>
      <p:sp>
        <p:nvSpPr>
          <p:cNvPr id="4" name="Freeform 4"/>
          <p:cNvSpPr/>
          <p:nvPr/>
        </p:nvSpPr>
        <p:spPr>
          <a:xfrm>
            <a:off x="1199463" y="3001392"/>
            <a:ext cx="7421659" cy="4824078"/>
          </a:xfrm>
          <a:custGeom>
            <a:avLst/>
            <a:gdLst/>
            <a:ahLst/>
            <a:cxnLst/>
            <a:rect l="l" t="t" r="r" b="b"/>
            <a:pathLst>
              <a:path w="7421659" h="4824078">
                <a:moveTo>
                  <a:pt x="0" y="0"/>
                </a:moveTo>
                <a:lnTo>
                  <a:pt x="7421659" y="0"/>
                </a:lnTo>
                <a:lnTo>
                  <a:pt x="7421659" y="4824078"/>
                </a:lnTo>
                <a:lnTo>
                  <a:pt x="0" y="4824078"/>
                </a:lnTo>
                <a:lnTo>
                  <a:pt x="0" y="0"/>
                </a:lnTo>
                <a:close/>
              </a:path>
            </a:pathLst>
          </a:custGeom>
          <a:blipFill>
            <a:blip r:embed="rId4"/>
            <a:stretch>
              <a:fillRect/>
            </a:stretch>
          </a:blipFill>
        </p:spPr>
        <p:txBody>
          <a:bodyPr/>
          <a:lstStyle/>
          <a:p>
            <a:endParaRPr lang="en-US"/>
          </a:p>
        </p:txBody>
      </p:sp>
      <p:sp>
        <p:nvSpPr>
          <p:cNvPr id="5" name="Freeform 5"/>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8429314" y="4803715"/>
            <a:ext cx="3312042" cy="1623691"/>
          </a:xfrm>
          <a:custGeom>
            <a:avLst/>
            <a:gdLst/>
            <a:ahLst/>
            <a:cxnLst/>
            <a:rect l="l" t="t" r="r" b="b"/>
            <a:pathLst>
              <a:path w="3312042" h="1623691">
                <a:moveTo>
                  <a:pt x="0" y="0"/>
                </a:moveTo>
                <a:lnTo>
                  <a:pt x="3312043" y="0"/>
                </a:lnTo>
                <a:lnTo>
                  <a:pt x="3312043" y="1623691"/>
                </a:lnTo>
                <a:lnTo>
                  <a:pt x="0" y="1623691"/>
                </a:lnTo>
                <a:lnTo>
                  <a:pt x="0" y="0"/>
                </a:lnTo>
                <a:close/>
              </a:path>
            </a:pathLst>
          </a:custGeom>
          <a:blipFill>
            <a:blip r:embed="rId2"/>
            <a:stretch>
              <a:fillRect/>
            </a:stretch>
          </a:blipFill>
        </p:spPr>
        <p:txBody>
          <a:bodyPr/>
          <a:lstStyle/>
          <a:p>
            <a:endParaRPr lang="en-US"/>
          </a:p>
        </p:txBody>
      </p:sp>
      <p:sp>
        <p:nvSpPr>
          <p:cNvPr id="3" name="Freeform 3"/>
          <p:cNvSpPr/>
          <p:nvPr/>
        </p:nvSpPr>
        <p:spPr>
          <a:xfrm>
            <a:off x="1788608" y="3192370"/>
            <a:ext cx="3056523" cy="1951130"/>
          </a:xfrm>
          <a:custGeom>
            <a:avLst/>
            <a:gdLst/>
            <a:ahLst/>
            <a:cxnLst/>
            <a:rect l="l" t="t" r="r" b="b"/>
            <a:pathLst>
              <a:path w="3056523" h="1951130">
                <a:moveTo>
                  <a:pt x="0" y="0"/>
                </a:moveTo>
                <a:lnTo>
                  <a:pt x="3056523" y="0"/>
                </a:lnTo>
                <a:lnTo>
                  <a:pt x="3056523" y="1951130"/>
                </a:lnTo>
                <a:lnTo>
                  <a:pt x="0" y="1951130"/>
                </a:lnTo>
                <a:lnTo>
                  <a:pt x="0" y="0"/>
                </a:lnTo>
                <a:close/>
              </a:path>
            </a:pathLst>
          </a:custGeom>
          <a:blipFill>
            <a:blip r:embed="rId3"/>
            <a:stretch>
              <a:fillRect/>
            </a:stretch>
          </a:blipFill>
        </p:spPr>
        <p:txBody>
          <a:bodyPr/>
          <a:lstStyle/>
          <a:p>
            <a:endParaRPr lang="en-US"/>
          </a:p>
        </p:txBody>
      </p:sp>
      <p:sp>
        <p:nvSpPr>
          <p:cNvPr id="4" name="Freeform 4"/>
          <p:cNvSpPr/>
          <p:nvPr/>
        </p:nvSpPr>
        <p:spPr>
          <a:xfrm>
            <a:off x="1788608" y="6427406"/>
            <a:ext cx="2977373" cy="2111858"/>
          </a:xfrm>
          <a:custGeom>
            <a:avLst/>
            <a:gdLst/>
            <a:ahLst/>
            <a:cxnLst/>
            <a:rect l="l" t="t" r="r" b="b"/>
            <a:pathLst>
              <a:path w="2977373" h="2111858">
                <a:moveTo>
                  <a:pt x="0" y="0"/>
                </a:moveTo>
                <a:lnTo>
                  <a:pt x="2977373" y="0"/>
                </a:lnTo>
                <a:lnTo>
                  <a:pt x="2977373" y="2111858"/>
                </a:lnTo>
                <a:lnTo>
                  <a:pt x="0" y="2111858"/>
                </a:lnTo>
                <a:lnTo>
                  <a:pt x="0" y="0"/>
                </a:lnTo>
                <a:close/>
              </a:path>
            </a:pathLst>
          </a:custGeom>
          <a:blipFill>
            <a:blip r:embed="rId4"/>
            <a:stretch>
              <a:fillRect/>
            </a:stretch>
          </a:blipFill>
        </p:spPr>
        <p:txBody>
          <a:bodyPr/>
          <a:lstStyle/>
          <a:p>
            <a:endParaRPr lang="en-US"/>
          </a:p>
        </p:txBody>
      </p:sp>
      <p:sp>
        <p:nvSpPr>
          <p:cNvPr id="5" name="Freeform 5"/>
          <p:cNvSpPr/>
          <p:nvPr/>
        </p:nvSpPr>
        <p:spPr>
          <a:xfrm>
            <a:off x="5520715" y="4426931"/>
            <a:ext cx="1759081" cy="1764050"/>
          </a:xfrm>
          <a:custGeom>
            <a:avLst/>
            <a:gdLst/>
            <a:ahLst/>
            <a:cxnLst/>
            <a:rect l="l" t="t" r="r" b="b"/>
            <a:pathLst>
              <a:path w="1759081" h="1764050">
                <a:moveTo>
                  <a:pt x="0" y="0"/>
                </a:moveTo>
                <a:lnTo>
                  <a:pt x="1759081" y="0"/>
                </a:lnTo>
                <a:lnTo>
                  <a:pt x="1759081" y="1764050"/>
                </a:lnTo>
                <a:lnTo>
                  <a:pt x="0" y="1764050"/>
                </a:lnTo>
                <a:lnTo>
                  <a:pt x="0" y="0"/>
                </a:lnTo>
                <a:close/>
              </a:path>
            </a:pathLst>
          </a:custGeom>
          <a:blipFill>
            <a:blip r:embed="rId5"/>
            <a:stretch>
              <a:fillRect/>
            </a:stretch>
          </a:blipFill>
        </p:spPr>
        <p:txBody>
          <a:bodyPr/>
          <a:lstStyle/>
          <a:p>
            <a:endParaRPr lang="en-US"/>
          </a:p>
        </p:txBody>
      </p:sp>
      <p:sp>
        <p:nvSpPr>
          <p:cNvPr id="6" name="Freeform 6"/>
          <p:cNvSpPr/>
          <p:nvPr/>
        </p:nvSpPr>
        <p:spPr>
          <a:xfrm>
            <a:off x="5339970" y="1028700"/>
            <a:ext cx="2120572" cy="2120572"/>
          </a:xfrm>
          <a:custGeom>
            <a:avLst/>
            <a:gdLst/>
            <a:ahLst/>
            <a:cxnLst/>
            <a:rect l="l" t="t" r="r" b="b"/>
            <a:pathLst>
              <a:path w="2120572" h="2120572">
                <a:moveTo>
                  <a:pt x="0" y="0"/>
                </a:moveTo>
                <a:lnTo>
                  <a:pt x="2120572" y="0"/>
                </a:lnTo>
                <a:lnTo>
                  <a:pt x="2120572" y="2120572"/>
                </a:lnTo>
                <a:lnTo>
                  <a:pt x="0" y="2120572"/>
                </a:lnTo>
                <a:lnTo>
                  <a:pt x="0" y="0"/>
                </a:lnTo>
                <a:close/>
              </a:path>
            </a:pathLst>
          </a:custGeom>
          <a:blipFill>
            <a:blip r:embed="rId6"/>
            <a:stretch>
              <a:fillRect/>
            </a:stretch>
          </a:blipFill>
        </p:spPr>
        <p:txBody>
          <a:bodyPr/>
          <a:lstStyle/>
          <a:p>
            <a:endParaRPr lang="en-US"/>
          </a:p>
        </p:txBody>
      </p:sp>
      <p:sp>
        <p:nvSpPr>
          <p:cNvPr id="7" name="Freeform 7"/>
          <p:cNvSpPr/>
          <p:nvPr/>
        </p:nvSpPr>
        <p:spPr>
          <a:xfrm>
            <a:off x="13843577" y="5132970"/>
            <a:ext cx="3307601" cy="1653800"/>
          </a:xfrm>
          <a:custGeom>
            <a:avLst/>
            <a:gdLst/>
            <a:ahLst/>
            <a:cxnLst/>
            <a:rect l="l" t="t" r="r" b="b"/>
            <a:pathLst>
              <a:path w="3307601" h="1653800">
                <a:moveTo>
                  <a:pt x="0" y="0"/>
                </a:moveTo>
                <a:lnTo>
                  <a:pt x="3307601" y="0"/>
                </a:lnTo>
                <a:lnTo>
                  <a:pt x="3307601" y="1653801"/>
                </a:lnTo>
                <a:lnTo>
                  <a:pt x="0" y="1653801"/>
                </a:lnTo>
                <a:lnTo>
                  <a:pt x="0" y="0"/>
                </a:lnTo>
                <a:close/>
              </a:path>
            </a:pathLst>
          </a:custGeom>
          <a:blipFill>
            <a:blip r:embed="rId7"/>
            <a:stretch>
              <a:fillRect/>
            </a:stretch>
          </a:blipFill>
        </p:spPr>
        <p:txBody>
          <a:bodyPr/>
          <a:lstStyle/>
          <a:p>
            <a:endParaRPr lang="en-US"/>
          </a:p>
        </p:txBody>
      </p:sp>
      <p:sp>
        <p:nvSpPr>
          <p:cNvPr id="8" name="Freeform 8"/>
          <p:cNvSpPr/>
          <p:nvPr/>
        </p:nvSpPr>
        <p:spPr>
          <a:xfrm>
            <a:off x="10182401" y="7664492"/>
            <a:ext cx="1558956" cy="1558956"/>
          </a:xfrm>
          <a:custGeom>
            <a:avLst/>
            <a:gdLst/>
            <a:ahLst/>
            <a:cxnLst/>
            <a:rect l="l" t="t" r="r" b="b"/>
            <a:pathLst>
              <a:path w="1558956" h="1558956">
                <a:moveTo>
                  <a:pt x="0" y="0"/>
                </a:moveTo>
                <a:lnTo>
                  <a:pt x="1558956" y="0"/>
                </a:lnTo>
                <a:lnTo>
                  <a:pt x="1558956" y="1558956"/>
                </a:lnTo>
                <a:lnTo>
                  <a:pt x="0" y="1558956"/>
                </a:lnTo>
                <a:lnTo>
                  <a:pt x="0" y="0"/>
                </a:lnTo>
                <a:close/>
              </a:path>
            </a:pathLst>
          </a:custGeom>
          <a:blipFill>
            <a:blip r:embed="rId8"/>
            <a:stretch>
              <a:fillRect/>
            </a:stretch>
          </a:blipFill>
        </p:spPr>
        <p:txBody>
          <a:bodyPr/>
          <a:lstStyle/>
          <a:p>
            <a:endParaRPr lang="en-US"/>
          </a:p>
        </p:txBody>
      </p:sp>
      <p:sp>
        <p:nvSpPr>
          <p:cNvPr id="9" name="Freeform 9"/>
          <p:cNvSpPr/>
          <p:nvPr/>
        </p:nvSpPr>
        <p:spPr>
          <a:xfrm>
            <a:off x="6055042" y="7468640"/>
            <a:ext cx="2810999" cy="1474721"/>
          </a:xfrm>
          <a:custGeom>
            <a:avLst/>
            <a:gdLst/>
            <a:ahLst/>
            <a:cxnLst/>
            <a:rect l="l" t="t" r="r" b="b"/>
            <a:pathLst>
              <a:path w="2810999" h="1474721">
                <a:moveTo>
                  <a:pt x="0" y="0"/>
                </a:moveTo>
                <a:lnTo>
                  <a:pt x="2811000" y="0"/>
                </a:lnTo>
                <a:lnTo>
                  <a:pt x="2811000" y="1474721"/>
                </a:lnTo>
                <a:lnTo>
                  <a:pt x="0" y="1474721"/>
                </a:lnTo>
                <a:lnTo>
                  <a:pt x="0" y="0"/>
                </a:lnTo>
                <a:close/>
              </a:path>
            </a:pathLst>
          </a:custGeom>
          <a:blipFill>
            <a:blip r:embed="rId9"/>
            <a:stretch>
              <a:fillRect/>
            </a:stretch>
          </a:blipFill>
        </p:spPr>
        <p:txBody>
          <a:bodyPr/>
          <a:lstStyle/>
          <a:p>
            <a:endParaRPr lang="en-US"/>
          </a:p>
        </p:txBody>
      </p:sp>
      <p:sp>
        <p:nvSpPr>
          <p:cNvPr id="10" name="Freeform 10"/>
          <p:cNvSpPr/>
          <p:nvPr/>
        </p:nvSpPr>
        <p:spPr>
          <a:xfrm>
            <a:off x="2367770" y="1054661"/>
            <a:ext cx="1819049" cy="1365798"/>
          </a:xfrm>
          <a:custGeom>
            <a:avLst/>
            <a:gdLst/>
            <a:ahLst/>
            <a:cxnLst/>
            <a:rect l="l" t="t" r="r" b="b"/>
            <a:pathLst>
              <a:path w="1819049" h="1365798">
                <a:moveTo>
                  <a:pt x="0" y="0"/>
                </a:moveTo>
                <a:lnTo>
                  <a:pt x="1819049" y="0"/>
                </a:lnTo>
                <a:lnTo>
                  <a:pt x="1819049" y="1365798"/>
                </a:lnTo>
                <a:lnTo>
                  <a:pt x="0" y="1365798"/>
                </a:lnTo>
                <a:lnTo>
                  <a:pt x="0" y="0"/>
                </a:lnTo>
                <a:close/>
              </a:path>
            </a:pathLst>
          </a:custGeom>
          <a:blipFill>
            <a:blip r:embed="rId10"/>
            <a:stretch>
              <a:fillRect/>
            </a:stretch>
          </a:blipFill>
        </p:spPr>
        <p:txBody>
          <a:bodyPr/>
          <a:lstStyle/>
          <a:p>
            <a:endParaRPr lang="en-US"/>
          </a:p>
        </p:txBody>
      </p:sp>
      <p:sp>
        <p:nvSpPr>
          <p:cNvPr id="11" name="TextBox 11"/>
          <p:cNvSpPr txBox="1"/>
          <p:nvPr/>
        </p:nvSpPr>
        <p:spPr>
          <a:xfrm>
            <a:off x="8470793" y="1000207"/>
            <a:ext cx="8788507" cy="3069104"/>
          </a:xfrm>
          <a:prstGeom prst="rect">
            <a:avLst/>
          </a:prstGeom>
        </p:spPr>
        <p:txBody>
          <a:bodyPr lIns="0" tIns="0" rIns="0" bIns="0" rtlCol="0" anchor="t">
            <a:spAutoFit/>
          </a:bodyPr>
          <a:lstStyle/>
          <a:p>
            <a:pPr algn="l">
              <a:lnSpc>
                <a:spcPts val="11780"/>
              </a:lnSpc>
            </a:pPr>
            <a:r>
              <a:rPr lang="en-US" sz="11899">
                <a:solidFill>
                  <a:srgbClr val="7AFFF5"/>
                </a:solidFill>
                <a:latin typeface="Norwester"/>
                <a:ea typeface="Norwester"/>
                <a:cs typeface="Norwester"/>
                <a:sym typeface="Norwester"/>
              </a:rPr>
              <a:t>TOOLS &amp; TECHNOLOGIES</a:t>
            </a:r>
          </a:p>
        </p:txBody>
      </p:sp>
      <p:sp>
        <p:nvSpPr>
          <p:cNvPr id="12" name="Freeform 12"/>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11"/>
            <a:stretch>
              <a:fillRect/>
            </a:stretch>
          </a:blipFill>
        </p:spPr>
        <p:txBody>
          <a:bodyPr/>
          <a:lstStyle/>
          <a:p>
            <a:endParaRPr lang="en-US"/>
          </a:p>
        </p:txBody>
      </p:sp>
      <p:sp>
        <p:nvSpPr>
          <p:cNvPr id="13" name="Freeform 13"/>
          <p:cNvSpPr/>
          <p:nvPr/>
        </p:nvSpPr>
        <p:spPr>
          <a:xfrm>
            <a:off x="13178106" y="7483335"/>
            <a:ext cx="3016467" cy="1236752"/>
          </a:xfrm>
          <a:custGeom>
            <a:avLst/>
            <a:gdLst/>
            <a:ahLst/>
            <a:cxnLst/>
            <a:rect l="l" t="t" r="r" b="b"/>
            <a:pathLst>
              <a:path w="3016467" h="1236752">
                <a:moveTo>
                  <a:pt x="0" y="0"/>
                </a:moveTo>
                <a:lnTo>
                  <a:pt x="3016468" y="0"/>
                </a:lnTo>
                <a:lnTo>
                  <a:pt x="3016468" y="1236752"/>
                </a:lnTo>
                <a:lnTo>
                  <a:pt x="0" y="1236752"/>
                </a:lnTo>
                <a:lnTo>
                  <a:pt x="0" y="0"/>
                </a:lnTo>
                <a:close/>
              </a:path>
            </a:pathLst>
          </a:custGeom>
          <a:blipFill>
            <a:blip r:embed="rId12"/>
            <a:stretch>
              <a:fillRect/>
            </a:stretch>
          </a:blipFill>
        </p:spPr>
        <p:txBody>
          <a:bodyPr/>
          <a:lstStyle/>
          <a:p>
            <a:endParaRPr lang="en-US"/>
          </a:p>
        </p:txBody>
      </p:sp>
      <p:sp>
        <p:nvSpPr>
          <p:cNvPr id="14" name="Freeform 14"/>
          <p:cNvSpPr/>
          <p:nvPr/>
        </p:nvSpPr>
        <p:spPr>
          <a:xfrm>
            <a:off x="14432651" y="291006"/>
            <a:ext cx="2129453" cy="2129453"/>
          </a:xfrm>
          <a:custGeom>
            <a:avLst/>
            <a:gdLst/>
            <a:ahLst/>
            <a:cxnLst/>
            <a:rect l="l" t="t" r="r" b="b"/>
            <a:pathLst>
              <a:path w="2129453" h="2129453">
                <a:moveTo>
                  <a:pt x="0" y="0"/>
                </a:moveTo>
                <a:lnTo>
                  <a:pt x="2129453" y="0"/>
                </a:lnTo>
                <a:lnTo>
                  <a:pt x="2129453" y="2129453"/>
                </a:lnTo>
                <a:lnTo>
                  <a:pt x="0" y="2129453"/>
                </a:lnTo>
                <a:lnTo>
                  <a:pt x="0" y="0"/>
                </a:lnTo>
                <a:close/>
              </a:path>
            </a:pathLst>
          </a:custGeom>
          <a:blipFill>
            <a:blip r:embed="rId13"/>
            <a:stretch>
              <a:fillRect/>
            </a:stretch>
          </a:blipFill>
        </p:spPr>
        <p:txBody>
          <a:bodyPr/>
          <a:lstStyle/>
          <a:p>
            <a:endParaRPr lang="en-US"/>
          </a:p>
        </p:txBody>
      </p:sp>
      <p:sp>
        <p:nvSpPr>
          <p:cNvPr id="15" name="TextBox 15"/>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3533CD">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4365834" y="635962"/>
            <a:ext cx="10032896" cy="1033714"/>
          </a:xfrm>
          <a:prstGeom prst="rect">
            <a:avLst/>
          </a:prstGeom>
        </p:spPr>
        <p:txBody>
          <a:bodyPr lIns="0" tIns="0" rIns="0" bIns="0" rtlCol="0" anchor="t">
            <a:spAutoFit/>
          </a:bodyPr>
          <a:lstStyle/>
          <a:p>
            <a:pPr algn="ctr">
              <a:lnSpc>
                <a:spcPts val="8396"/>
              </a:lnSpc>
              <a:spcBef>
                <a:spcPct val="0"/>
              </a:spcBef>
            </a:pPr>
            <a:r>
              <a:rPr lang="en-US" sz="5997">
                <a:solidFill>
                  <a:srgbClr val="7AFFF5"/>
                </a:solidFill>
                <a:latin typeface="Norwester"/>
                <a:ea typeface="Norwester"/>
                <a:cs typeface="Norwester"/>
                <a:sym typeface="Norwester"/>
              </a:rPr>
              <a:t>CURRENT APPLICATION PROGRESS</a:t>
            </a:r>
          </a:p>
        </p:txBody>
      </p:sp>
      <p:sp>
        <p:nvSpPr>
          <p:cNvPr id="3" name="TextBox 3"/>
          <p:cNvSpPr txBox="1"/>
          <p:nvPr/>
        </p:nvSpPr>
        <p:spPr>
          <a:xfrm>
            <a:off x="2127671" y="2250701"/>
            <a:ext cx="4220695" cy="1251585"/>
          </a:xfrm>
          <a:prstGeom prst="rect">
            <a:avLst/>
          </a:prstGeom>
        </p:spPr>
        <p:txBody>
          <a:bodyPr lIns="0" tIns="0" rIns="0" bIns="0" rtlCol="0" anchor="t">
            <a:spAutoFit/>
          </a:bodyPr>
          <a:lstStyle/>
          <a:p>
            <a:pPr algn="ctr">
              <a:lnSpc>
                <a:spcPts val="5040"/>
              </a:lnSpc>
            </a:pPr>
            <a:r>
              <a:rPr lang="en-US" sz="3600">
                <a:solidFill>
                  <a:srgbClr val="FFFFFF"/>
                </a:solidFill>
                <a:latin typeface="Norwester"/>
                <a:ea typeface="Norwester"/>
                <a:cs typeface="Norwester"/>
                <a:sym typeface="Norwester"/>
              </a:rPr>
              <a:t>completion of each component</a:t>
            </a:r>
          </a:p>
        </p:txBody>
      </p:sp>
      <p:pic>
        <p:nvPicPr>
          <p:cNvPr id="4" name="Picture 4"/>
          <p:cNvPicPr>
            <a:picLocks noChangeAspect="1"/>
          </p:cNvPicPr>
          <p:nvPr/>
        </p:nvPicPr>
        <p:blipFill>
          <a:blip r:embed="rId2"/>
          <a:stretch>
            <a:fillRect/>
          </a:stretch>
        </p:blipFill>
        <p:spPr>
          <a:xfrm>
            <a:off x="2854642" y="3744918"/>
            <a:ext cx="2503986" cy="2503986"/>
          </a:xfrm>
          <a:prstGeom prst="rect">
            <a:avLst/>
          </a:prstGeom>
        </p:spPr>
      </p:pic>
      <p:sp>
        <p:nvSpPr>
          <p:cNvPr id="5" name="TextBox 5"/>
          <p:cNvSpPr txBox="1"/>
          <p:nvPr/>
        </p:nvSpPr>
        <p:spPr>
          <a:xfrm>
            <a:off x="8191223" y="2250701"/>
            <a:ext cx="3342680" cy="1251585"/>
          </a:xfrm>
          <a:prstGeom prst="rect">
            <a:avLst/>
          </a:prstGeom>
        </p:spPr>
        <p:txBody>
          <a:bodyPr lIns="0" tIns="0" rIns="0" bIns="0" rtlCol="0" anchor="t">
            <a:spAutoFit/>
          </a:bodyPr>
          <a:lstStyle/>
          <a:p>
            <a:pPr algn="ctr">
              <a:lnSpc>
                <a:spcPts val="5040"/>
              </a:lnSpc>
            </a:pPr>
            <a:r>
              <a:rPr lang="en-US" sz="3600">
                <a:solidFill>
                  <a:srgbClr val="FFFFFF"/>
                </a:solidFill>
                <a:latin typeface="Norwester"/>
                <a:ea typeface="Norwester"/>
                <a:cs typeface="Norwester"/>
                <a:sym typeface="Norwester"/>
              </a:rPr>
              <a:t>web application </a:t>
            </a:r>
          </a:p>
          <a:p>
            <a:pPr algn="ctr">
              <a:lnSpc>
                <a:spcPts val="5040"/>
              </a:lnSpc>
            </a:pPr>
            <a:r>
              <a:rPr lang="en-US" sz="3600">
                <a:solidFill>
                  <a:srgbClr val="FFFFFF"/>
                </a:solidFill>
                <a:latin typeface="Norwester"/>
                <a:ea typeface="Norwester"/>
                <a:cs typeface="Norwester"/>
                <a:sym typeface="Norwester"/>
              </a:rPr>
              <a:t>integration </a:t>
            </a:r>
          </a:p>
        </p:txBody>
      </p:sp>
      <p:pic>
        <p:nvPicPr>
          <p:cNvPr id="6" name="Picture 6"/>
          <p:cNvPicPr>
            <a:picLocks noChangeAspect="1"/>
          </p:cNvPicPr>
          <p:nvPr/>
        </p:nvPicPr>
        <p:blipFill>
          <a:blip r:embed="rId3"/>
          <a:stretch>
            <a:fillRect/>
          </a:stretch>
        </p:blipFill>
        <p:spPr>
          <a:xfrm>
            <a:off x="8474537" y="3762985"/>
            <a:ext cx="2507345" cy="2507345"/>
          </a:xfrm>
          <a:prstGeom prst="rect">
            <a:avLst/>
          </a:prstGeom>
        </p:spPr>
      </p:pic>
      <p:sp>
        <p:nvSpPr>
          <p:cNvPr id="7" name="TextBox 7"/>
          <p:cNvSpPr txBox="1"/>
          <p:nvPr/>
        </p:nvSpPr>
        <p:spPr>
          <a:xfrm>
            <a:off x="13241773" y="2250701"/>
            <a:ext cx="3223172" cy="1251585"/>
          </a:xfrm>
          <a:prstGeom prst="rect">
            <a:avLst/>
          </a:prstGeom>
        </p:spPr>
        <p:txBody>
          <a:bodyPr lIns="0" tIns="0" rIns="0" bIns="0" rtlCol="0" anchor="t">
            <a:spAutoFit/>
          </a:bodyPr>
          <a:lstStyle/>
          <a:p>
            <a:pPr algn="ctr">
              <a:lnSpc>
                <a:spcPts val="5040"/>
              </a:lnSpc>
            </a:pPr>
            <a:r>
              <a:rPr lang="en-US" sz="3600">
                <a:solidFill>
                  <a:srgbClr val="FFFFFF"/>
                </a:solidFill>
                <a:latin typeface="Norwester"/>
                <a:ea typeface="Norwester"/>
                <a:cs typeface="Norwester"/>
                <a:sym typeface="Norwester"/>
              </a:rPr>
              <a:t>enhancing the application</a:t>
            </a:r>
          </a:p>
        </p:txBody>
      </p:sp>
      <p:pic>
        <p:nvPicPr>
          <p:cNvPr id="8" name="Picture 8"/>
          <p:cNvPicPr>
            <a:picLocks noChangeAspect="1"/>
          </p:cNvPicPr>
          <p:nvPr/>
        </p:nvPicPr>
        <p:blipFill>
          <a:blip r:embed="rId4"/>
          <a:stretch>
            <a:fillRect/>
          </a:stretch>
        </p:blipFill>
        <p:spPr>
          <a:xfrm>
            <a:off x="13298619" y="3764819"/>
            <a:ext cx="2485328" cy="2485328"/>
          </a:xfrm>
          <a:prstGeom prst="rect">
            <a:avLst/>
          </a:prstGeom>
        </p:spPr>
      </p:pic>
      <p:sp>
        <p:nvSpPr>
          <p:cNvPr id="9" name="TextBox 9"/>
          <p:cNvSpPr txBox="1"/>
          <p:nvPr/>
        </p:nvSpPr>
        <p:spPr>
          <a:xfrm>
            <a:off x="9456536" y="4785145"/>
            <a:ext cx="543346" cy="403076"/>
          </a:xfrm>
          <a:prstGeom prst="rect">
            <a:avLst/>
          </a:prstGeom>
        </p:spPr>
        <p:txBody>
          <a:bodyPr lIns="0" tIns="0" rIns="0" bIns="0" rtlCol="0" anchor="t">
            <a:spAutoFit/>
          </a:bodyPr>
          <a:lstStyle/>
          <a:p>
            <a:pPr algn="ctr">
              <a:lnSpc>
                <a:spcPts val="3202"/>
              </a:lnSpc>
            </a:pPr>
            <a:r>
              <a:rPr lang="en-US" sz="2287">
                <a:solidFill>
                  <a:srgbClr val="FFFFFF"/>
                </a:solidFill>
                <a:latin typeface="Norwester"/>
                <a:ea typeface="Norwester"/>
                <a:cs typeface="Norwester"/>
                <a:sym typeface="Norwester"/>
              </a:rPr>
              <a:t>98%</a:t>
            </a:r>
          </a:p>
        </p:txBody>
      </p:sp>
      <p:sp>
        <p:nvSpPr>
          <p:cNvPr id="10" name="TextBox 10"/>
          <p:cNvSpPr txBox="1"/>
          <p:nvPr/>
        </p:nvSpPr>
        <p:spPr>
          <a:xfrm>
            <a:off x="14309932" y="4785145"/>
            <a:ext cx="543062" cy="403076"/>
          </a:xfrm>
          <a:prstGeom prst="rect">
            <a:avLst/>
          </a:prstGeom>
        </p:spPr>
        <p:txBody>
          <a:bodyPr lIns="0" tIns="0" rIns="0" bIns="0" rtlCol="0" anchor="t">
            <a:spAutoFit/>
          </a:bodyPr>
          <a:lstStyle/>
          <a:p>
            <a:pPr algn="ctr">
              <a:lnSpc>
                <a:spcPts val="3202"/>
              </a:lnSpc>
            </a:pPr>
            <a:r>
              <a:rPr lang="en-US" sz="2287">
                <a:solidFill>
                  <a:srgbClr val="FFFFFF"/>
                </a:solidFill>
                <a:latin typeface="Norwester"/>
                <a:ea typeface="Norwester"/>
                <a:cs typeface="Norwester"/>
                <a:sym typeface="Norwester"/>
              </a:rPr>
              <a:t>90%</a:t>
            </a:r>
          </a:p>
        </p:txBody>
      </p:sp>
      <p:sp>
        <p:nvSpPr>
          <p:cNvPr id="11" name="TextBox 11"/>
          <p:cNvSpPr txBox="1"/>
          <p:nvPr/>
        </p:nvSpPr>
        <p:spPr>
          <a:xfrm>
            <a:off x="3835103" y="4766798"/>
            <a:ext cx="543062" cy="403076"/>
          </a:xfrm>
          <a:prstGeom prst="rect">
            <a:avLst/>
          </a:prstGeom>
        </p:spPr>
        <p:txBody>
          <a:bodyPr lIns="0" tIns="0" rIns="0" bIns="0" rtlCol="0" anchor="t">
            <a:spAutoFit/>
          </a:bodyPr>
          <a:lstStyle/>
          <a:p>
            <a:pPr algn="ctr">
              <a:lnSpc>
                <a:spcPts val="3202"/>
              </a:lnSpc>
            </a:pPr>
            <a:r>
              <a:rPr lang="en-US" sz="2287">
                <a:solidFill>
                  <a:srgbClr val="FFFFFF"/>
                </a:solidFill>
                <a:latin typeface="Norwester"/>
                <a:ea typeface="Norwester"/>
                <a:cs typeface="Norwester"/>
                <a:sym typeface="Norwester"/>
              </a:rPr>
              <a:t>95%</a:t>
            </a:r>
          </a:p>
        </p:txBody>
      </p:sp>
      <p:sp>
        <p:nvSpPr>
          <p:cNvPr id="12" name="Freeform 12"/>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5"/>
            <a:stretch>
              <a:fillRect/>
            </a:stretch>
          </a:blipFill>
        </p:spPr>
        <p:txBody>
          <a:bodyPr/>
          <a:lstStyle/>
          <a:p>
            <a:endParaRPr lang="en-US"/>
          </a:p>
        </p:txBody>
      </p:sp>
      <p:sp>
        <p:nvSpPr>
          <p:cNvPr id="13" name="TextBox 13"/>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36</a:t>
            </a:r>
          </a:p>
        </p:txBody>
      </p:sp>
      <p:sp>
        <p:nvSpPr>
          <p:cNvPr id="14" name="TextBox 14"/>
          <p:cNvSpPr txBox="1"/>
          <p:nvPr/>
        </p:nvSpPr>
        <p:spPr>
          <a:xfrm>
            <a:off x="3228014" y="6482606"/>
            <a:ext cx="1757241" cy="613410"/>
          </a:xfrm>
          <a:prstGeom prst="rect">
            <a:avLst/>
          </a:prstGeom>
        </p:spPr>
        <p:txBody>
          <a:bodyPr lIns="0" tIns="0" rIns="0" bIns="0" rtlCol="0" anchor="t">
            <a:spAutoFit/>
          </a:bodyPr>
          <a:lstStyle/>
          <a:p>
            <a:pPr algn="ctr">
              <a:lnSpc>
                <a:spcPts val="5040"/>
              </a:lnSpc>
            </a:pPr>
            <a:r>
              <a:rPr lang="en-US" sz="3600">
                <a:solidFill>
                  <a:srgbClr val="FFFFFF"/>
                </a:solidFill>
                <a:latin typeface="Norwester"/>
                <a:ea typeface="Norwester"/>
                <a:cs typeface="Norwester"/>
                <a:sym typeface="Norwester"/>
              </a:rPr>
              <a:t>testing </a:t>
            </a:r>
          </a:p>
        </p:txBody>
      </p:sp>
      <p:sp>
        <p:nvSpPr>
          <p:cNvPr id="15" name="TextBox 15"/>
          <p:cNvSpPr txBox="1"/>
          <p:nvPr/>
        </p:nvSpPr>
        <p:spPr>
          <a:xfrm>
            <a:off x="8560435" y="6482606"/>
            <a:ext cx="2219065" cy="613410"/>
          </a:xfrm>
          <a:prstGeom prst="rect">
            <a:avLst/>
          </a:prstGeom>
        </p:spPr>
        <p:txBody>
          <a:bodyPr lIns="0" tIns="0" rIns="0" bIns="0" rtlCol="0" anchor="t">
            <a:spAutoFit/>
          </a:bodyPr>
          <a:lstStyle/>
          <a:p>
            <a:pPr algn="ctr">
              <a:lnSpc>
                <a:spcPts val="5040"/>
              </a:lnSpc>
            </a:pPr>
            <a:r>
              <a:rPr lang="en-US" sz="3600">
                <a:solidFill>
                  <a:srgbClr val="FFFFFF"/>
                </a:solidFill>
                <a:latin typeface="Norwester"/>
                <a:ea typeface="Norwester"/>
                <a:cs typeface="Norwester"/>
                <a:sym typeface="Norwester"/>
              </a:rPr>
              <a:t>analytics</a:t>
            </a:r>
          </a:p>
        </p:txBody>
      </p:sp>
      <p:sp>
        <p:nvSpPr>
          <p:cNvPr id="16" name="TextBox 16"/>
          <p:cNvSpPr txBox="1"/>
          <p:nvPr/>
        </p:nvSpPr>
        <p:spPr>
          <a:xfrm>
            <a:off x="12524511" y="6482606"/>
            <a:ext cx="4113905" cy="613410"/>
          </a:xfrm>
          <a:prstGeom prst="rect">
            <a:avLst/>
          </a:prstGeom>
        </p:spPr>
        <p:txBody>
          <a:bodyPr lIns="0" tIns="0" rIns="0" bIns="0" rtlCol="0" anchor="t">
            <a:spAutoFit/>
          </a:bodyPr>
          <a:lstStyle/>
          <a:p>
            <a:pPr algn="ctr">
              <a:lnSpc>
                <a:spcPts val="5040"/>
              </a:lnSpc>
            </a:pPr>
            <a:r>
              <a:rPr lang="en-US" sz="3600">
                <a:solidFill>
                  <a:srgbClr val="FFFFFF"/>
                </a:solidFill>
                <a:latin typeface="Norwester"/>
                <a:ea typeface="Norwester"/>
                <a:cs typeface="Norwester"/>
                <a:sym typeface="Norwester"/>
              </a:rPr>
              <a:t>Report generation</a:t>
            </a:r>
          </a:p>
        </p:txBody>
      </p:sp>
      <p:pic>
        <p:nvPicPr>
          <p:cNvPr id="17" name="Picture 17"/>
          <p:cNvPicPr>
            <a:picLocks noChangeAspect="1"/>
          </p:cNvPicPr>
          <p:nvPr/>
        </p:nvPicPr>
        <p:blipFill>
          <a:blip r:embed="rId6"/>
          <a:stretch>
            <a:fillRect/>
          </a:stretch>
        </p:blipFill>
        <p:spPr>
          <a:xfrm>
            <a:off x="2943438" y="7182817"/>
            <a:ext cx="2503986" cy="2503986"/>
          </a:xfrm>
          <a:prstGeom prst="rect">
            <a:avLst/>
          </a:prstGeom>
        </p:spPr>
      </p:pic>
      <p:pic>
        <p:nvPicPr>
          <p:cNvPr id="18" name="Picture 18"/>
          <p:cNvPicPr>
            <a:picLocks noChangeAspect="1"/>
          </p:cNvPicPr>
          <p:nvPr/>
        </p:nvPicPr>
        <p:blipFill>
          <a:blip r:embed="rId7"/>
          <a:stretch>
            <a:fillRect/>
          </a:stretch>
        </p:blipFill>
        <p:spPr>
          <a:xfrm>
            <a:off x="8563335" y="7200884"/>
            <a:ext cx="2507345" cy="2507345"/>
          </a:xfrm>
          <a:prstGeom prst="rect">
            <a:avLst/>
          </a:prstGeom>
        </p:spPr>
      </p:pic>
      <p:pic>
        <p:nvPicPr>
          <p:cNvPr id="19" name="Picture 19"/>
          <p:cNvPicPr>
            <a:picLocks noChangeAspect="1"/>
          </p:cNvPicPr>
          <p:nvPr/>
        </p:nvPicPr>
        <p:blipFill>
          <a:blip r:embed="rId8"/>
          <a:stretch>
            <a:fillRect/>
          </a:stretch>
        </p:blipFill>
        <p:spPr>
          <a:xfrm>
            <a:off x="13387417" y="7202718"/>
            <a:ext cx="2485328" cy="2485328"/>
          </a:xfrm>
          <a:prstGeom prst="rect">
            <a:avLst/>
          </a:prstGeom>
        </p:spPr>
      </p:pic>
      <p:sp>
        <p:nvSpPr>
          <p:cNvPr id="20" name="TextBox 20"/>
          <p:cNvSpPr txBox="1"/>
          <p:nvPr/>
        </p:nvSpPr>
        <p:spPr>
          <a:xfrm>
            <a:off x="9497667" y="8223044"/>
            <a:ext cx="638680" cy="403076"/>
          </a:xfrm>
          <a:prstGeom prst="rect">
            <a:avLst/>
          </a:prstGeom>
        </p:spPr>
        <p:txBody>
          <a:bodyPr lIns="0" tIns="0" rIns="0" bIns="0" rtlCol="0" anchor="t">
            <a:spAutoFit/>
          </a:bodyPr>
          <a:lstStyle/>
          <a:p>
            <a:pPr algn="ctr">
              <a:lnSpc>
                <a:spcPts val="3202"/>
              </a:lnSpc>
            </a:pPr>
            <a:r>
              <a:rPr lang="en-US" sz="2287">
                <a:solidFill>
                  <a:srgbClr val="FFFFFF"/>
                </a:solidFill>
                <a:latin typeface="Norwester"/>
                <a:ea typeface="Norwester"/>
                <a:cs typeface="Norwester"/>
                <a:sym typeface="Norwester"/>
              </a:rPr>
              <a:t>100%</a:t>
            </a:r>
          </a:p>
        </p:txBody>
      </p:sp>
      <p:sp>
        <p:nvSpPr>
          <p:cNvPr id="21" name="TextBox 21"/>
          <p:cNvSpPr txBox="1"/>
          <p:nvPr/>
        </p:nvSpPr>
        <p:spPr>
          <a:xfrm>
            <a:off x="14398730" y="8223044"/>
            <a:ext cx="543062" cy="403076"/>
          </a:xfrm>
          <a:prstGeom prst="rect">
            <a:avLst/>
          </a:prstGeom>
        </p:spPr>
        <p:txBody>
          <a:bodyPr lIns="0" tIns="0" rIns="0" bIns="0" rtlCol="0" anchor="t">
            <a:spAutoFit/>
          </a:bodyPr>
          <a:lstStyle/>
          <a:p>
            <a:pPr algn="ctr">
              <a:lnSpc>
                <a:spcPts val="3202"/>
              </a:lnSpc>
            </a:pPr>
            <a:r>
              <a:rPr lang="en-US" sz="2287">
                <a:solidFill>
                  <a:srgbClr val="FFFFFF"/>
                </a:solidFill>
                <a:latin typeface="Norwester"/>
                <a:ea typeface="Norwester"/>
                <a:cs typeface="Norwester"/>
                <a:sym typeface="Norwester"/>
              </a:rPr>
              <a:t>60%</a:t>
            </a:r>
          </a:p>
        </p:txBody>
      </p:sp>
      <p:sp>
        <p:nvSpPr>
          <p:cNvPr id="22" name="TextBox 22"/>
          <p:cNvSpPr txBox="1"/>
          <p:nvPr/>
        </p:nvSpPr>
        <p:spPr>
          <a:xfrm>
            <a:off x="3923901" y="8204697"/>
            <a:ext cx="543062" cy="403076"/>
          </a:xfrm>
          <a:prstGeom prst="rect">
            <a:avLst/>
          </a:prstGeom>
        </p:spPr>
        <p:txBody>
          <a:bodyPr lIns="0" tIns="0" rIns="0" bIns="0" rtlCol="0" anchor="t">
            <a:spAutoFit/>
          </a:bodyPr>
          <a:lstStyle/>
          <a:p>
            <a:pPr algn="ctr">
              <a:lnSpc>
                <a:spcPts val="3202"/>
              </a:lnSpc>
            </a:pPr>
            <a:r>
              <a:rPr lang="en-US" sz="2287">
                <a:solidFill>
                  <a:srgbClr val="FFFFFF"/>
                </a:solidFill>
                <a:latin typeface="Norwester"/>
                <a:ea typeface="Norwester"/>
                <a:cs typeface="Norwester"/>
                <a:sym typeface="Norwester"/>
              </a:rPr>
              <a:t>95%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0899382" y="-54747"/>
            <a:ext cx="8958965" cy="9313047"/>
            <a:chOff x="0" y="0"/>
            <a:chExt cx="6108573" cy="6350000"/>
          </a:xfrm>
        </p:grpSpPr>
        <p:sp>
          <p:nvSpPr>
            <p:cNvPr id="3" name="Freeform 3"/>
            <p:cNvSpPr/>
            <p:nvPr/>
          </p:nvSpPr>
          <p:spPr>
            <a:xfrm>
              <a:off x="0" y="0"/>
              <a:ext cx="6108573" cy="6350000"/>
            </a:xfrm>
            <a:custGeom>
              <a:avLst/>
              <a:gdLst/>
              <a:ahLst/>
              <a:cxnLst/>
              <a:rect l="l" t="t" r="r" b="b"/>
              <a:pathLst>
                <a:path w="6108573" h="6350000">
                  <a:moveTo>
                    <a:pt x="6108573" y="0"/>
                  </a:moveTo>
                  <a:lnTo>
                    <a:pt x="6108573" y="3295396"/>
                  </a:lnTo>
                  <a:cubicBezTo>
                    <a:pt x="6108573" y="4982464"/>
                    <a:pt x="4741164" y="6350000"/>
                    <a:pt x="3054350" y="6350000"/>
                  </a:cubicBezTo>
                  <a:cubicBezTo>
                    <a:pt x="1367536" y="6350000"/>
                    <a:pt x="0" y="4982464"/>
                    <a:pt x="0" y="3295523"/>
                  </a:cubicBezTo>
                  <a:lnTo>
                    <a:pt x="0" y="0"/>
                  </a:lnTo>
                  <a:lnTo>
                    <a:pt x="6108573" y="0"/>
                  </a:lnTo>
                  <a:close/>
                </a:path>
              </a:pathLst>
            </a:custGeom>
            <a:blipFill>
              <a:blip r:embed="rId2"/>
              <a:stretch>
                <a:fillRect t="-7487" b="-7487"/>
              </a:stretch>
            </a:blipFill>
          </p:spPr>
          <p:txBody>
            <a:bodyPr/>
            <a:lstStyle/>
            <a:p>
              <a:endParaRPr lang="en-US"/>
            </a:p>
          </p:txBody>
        </p:sp>
      </p:grpSp>
      <p:sp>
        <p:nvSpPr>
          <p:cNvPr id="4" name="Freeform 4"/>
          <p:cNvSpPr/>
          <p:nvPr/>
        </p:nvSpPr>
        <p:spPr>
          <a:xfrm>
            <a:off x="17259300" y="8127303"/>
            <a:ext cx="1802889" cy="1802889"/>
          </a:xfrm>
          <a:custGeom>
            <a:avLst/>
            <a:gdLst/>
            <a:ahLst/>
            <a:cxnLst/>
            <a:rect l="l" t="t" r="r" b="b"/>
            <a:pathLst>
              <a:path w="1802889" h="1802889">
                <a:moveTo>
                  <a:pt x="0" y="0"/>
                </a:moveTo>
                <a:lnTo>
                  <a:pt x="1802889" y="0"/>
                </a:lnTo>
                <a:lnTo>
                  <a:pt x="1802889" y="1802889"/>
                </a:lnTo>
                <a:lnTo>
                  <a:pt x="0" y="18028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9833387" y="-1033334"/>
            <a:ext cx="2293320" cy="2293320"/>
          </a:xfrm>
          <a:custGeom>
            <a:avLst/>
            <a:gdLst/>
            <a:ahLst/>
            <a:cxnLst/>
            <a:rect l="l" t="t" r="r" b="b"/>
            <a:pathLst>
              <a:path w="2293320" h="2293320">
                <a:moveTo>
                  <a:pt x="0" y="0"/>
                </a:moveTo>
                <a:lnTo>
                  <a:pt x="2293320" y="0"/>
                </a:lnTo>
                <a:lnTo>
                  <a:pt x="2293320" y="2293319"/>
                </a:lnTo>
                <a:lnTo>
                  <a:pt x="0" y="22933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6" name="Picture 6"/>
          <p:cNvPicPr>
            <a:picLocks noChangeAspect="1"/>
          </p:cNvPicPr>
          <p:nvPr/>
        </p:nvPicPr>
        <p:blipFill>
          <a:blip r:embed="rId5"/>
          <a:stretch>
            <a:fillRect/>
          </a:stretch>
        </p:blipFill>
        <p:spPr>
          <a:xfrm>
            <a:off x="2185774" y="7972773"/>
            <a:ext cx="3567648" cy="1100388"/>
          </a:xfrm>
          <a:prstGeom prst="rect">
            <a:avLst/>
          </a:prstGeom>
        </p:spPr>
      </p:pic>
      <p:grpSp>
        <p:nvGrpSpPr>
          <p:cNvPr id="7" name="Group 7"/>
          <p:cNvGrpSpPr/>
          <p:nvPr/>
        </p:nvGrpSpPr>
        <p:grpSpPr>
          <a:xfrm>
            <a:off x="-1543050" y="-54747"/>
            <a:ext cx="2760734" cy="10341747"/>
            <a:chOff x="0" y="0"/>
            <a:chExt cx="727107" cy="2723752"/>
          </a:xfrm>
        </p:grpSpPr>
        <p:sp>
          <p:nvSpPr>
            <p:cNvPr id="8" name="Freeform 8"/>
            <p:cNvSpPr/>
            <p:nvPr/>
          </p:nvSpPr>
          <p:spPr>
            <a:xfrm>
              <a:off x="0" y="0"/>
              <a:ext cx="727107" cy="2723752"/>
            </a:xfrm>
            <a:custGeom>
              <a:avLst/>
              <a:gdLst/>
              <a:ahLst/>
              <a:cxnLst/>
              <a:rect l="l" t="t" r="r" b="b"/>
              <a:pathLst>
                <a:path w="727107" h="2723752">
                  <a:moveTo>
                    <a:pt x="0" y="0"/>
                  </a:moveTo>
                  <a:lnTo>
                    <a:pt x="727107" y="0"/>
                  </a:lnTo>
                  <a:lnTo>
                    <a:pt x="727107" y="2723752"/>
                  </a:lnTo>
                  <a:lnTo>
                    <a:pt x="0" y="2723752"/>
                  </a:lnTo>
                  <a:close/>
                </a:path>
              </a:pathLst>
            </a:custGeom>
            <a:solidFill>
              <a:srgbClr val="145DA0"/>
            </a:solidFill>
          </p:spPr>
          <p:txBody>
            <a:bodyPr/>
            <a:lstStyle/>
            <a:p>
              <a:endParaRPr lang="en-US"/>
            </a:p>
          </p:txBody>
        </p:sp>
        <p:sp>
          <p:nvSpPr>
            <p:cNvPr id="9" name="TextBox 9"/>
            <p:cNvSpPr txBox="1"/>
            <p:nvPr/>
          </p:nvSpPr>
          <p:spPr>
            <a:xfrm>
              <a:off x="0" y="-38100"/>
              <a:ext cx="727107" cy="2761852"/>
            </a:xfrm>
            <a:prstGeom prst="rect">
              <a:avLst/>
            </a:prstGeom>
          </p:spPr>
          <p:txBody>
            <a:bodyPr lIns="50800" tIns="50800" rIns="50800" bIns="50800" rtlCol="0" anchor="ctr"/>
            <a:lstStyle/>
            <a:p>
              <a:pPr algn="ctr">
                <a:lnSpc>
                  <a:spcPts val="2605"/>
                </a:lnSpc>
              </a:pPr>
              <a:endParaRPr/>
            </a:p>
          </p:txBody>
        </p:sp>
      </p:grpSp>
      <p:sp>
        <p:nvSpPr>
          <p:cNvPr id="10" name="TextBox 10"/>
          <p:cNvSpPr txBox="1"/>
          <p:nvPr/>
        </p:nvSpPr>
        <p:spPr>
          <a:xfrm>
            <a:off x="2483078" y="2932460"/>
            <a:ext cx="8027764" cy="5843397"/>
          </a:xfrm>
          <a:prstGeom prst="rect">
            <a:avLst/>
          </a:prstGeom>
        </p:spPr>
        <p:txBody>
          <a:bodyPr lIns="0" tIns="0" rIns="0" bIns="0" rtlCol="0" anchor="t">
            <a:spAutoFit/>
          </a:bodyPr>
          <a:lstStyle/>
          <a:p>
            <a:pPr marL="0" lvl="0" indent="0" algn="l">
              <a:lnSpc>
                <a:spcPts val="6623"/>
              </a:lnSpc>
              <a:spcBef>
                <a:spcPct val="0"/>
              </a:spcBef>
            </a:pPr>
            <a:r>
              <a:rPr lang="en-US" sz="4800">
                <a:solidFill>
                  <a:srgbClr val="FFFFFF"/>
                </a:solidFill>
                <a:latin typeface="DM Sans"/>
                <a:ea typeface="DM Sans"/>
                <a:cs typeface="DM Sans"/>
                <a:sym typeface="DM Sans"/>
              </a:rPr>
              <a:t>•Offer a F</a:t>
            </a:r>
            <a:r>
              <a:rPr lang="en-US" sz="4800" u="none" strike="noStrike">
                <a:solidFill>
                  <a:srgbClr val="FFFFFF"/>
                </a:solidFill>
                <a:latin typeface="DM Sans"/>
                <a:ea typeface="DM Sans"/>
                <a:cs typeface="DM Sans"/>
                <a:sym typeface="DM Sans"/>
              </a:rPr>
              <a:t>ree Trial or Basic Plan</a:t>
            </a:r>
          </a:p>
          <a:p>
            <a:pPr marL="0" lvl="0" indent="0" algn="l">
              <a:lnSpc>
                <a:spcPts val="6623"/>
              </a:lnSpc>
              <a:spcBef>
                <a:spcPct val="0"/>
              </a:spcBef>
            </a:pPr>
            <a:r>
              <a:rPr lang="en-US" sz="4800" u="none" strike="noStrike">
                <a:solidFill>
                  <a:srgbClr val="FFFFFF"/>
                </a:solidFill>
                <a:latin typeface="DM Sans"/>
                <a:ea typeface="DM Sans"/>
                <a:cs typeface="DM Sans"/>
                <a:sym typeface="DM Sans"/>
              </a:rPr>
              <a:t>•Leverage Direct-to-Consumer Marketing</a:t>
            </a:r>
          </a:p>
          <a:p>
            <a:pPr marL="0" lvl="0" indent="0" algn="l">
              <a:lnSpc>
                <a:spcPts val="6623"/>
              </a:lnSpc>
              <a:spcBef>
                <a:spcPct val="0"/>
              </a:spcBef>
            </a:pPr>
            <a:r>
              <a:rPr lang="en-US" sz="4800" u="none" strike="noStrike">
                <a:solidFill>
                  <a:srgbClr val="FFFFFF"/>
                </a:solidFill>
                <a:latin typeface="DM Sans"/>
                <a:ea typeface="DM Sans"/>
                <a:cs typeface="DM Sans"/>
                <a:sym typeface="DM Sans"/>
              </a:rPr>
              <a:t>•Incentives and Loyalty Programs</a:t>
            </a:r>
          </a:p>
          <a:p>
            <a:pPr marL="0" lvl="0" indent="0" algn="l">
              <a:lnSpc>
                <a:spcPts val="6623"/>
              </a:lnSpc>
              <a:spcBef>
                <a:spcPct val="0"/>
              </a:spcBef>
            </a:pPr>
            <a:endParaRPr lang="en-US" sz="4800" u="none" strike="noStrike">
              <a:solidFill>
                <a:srgbClr val="FFFFFF"/>
              </a:solidFill>
              <a:latin typeface="DM Sans"/>
              <a:ea typeface="DM Sans"/>
              <a:cs typeface="DM Sans"/>
              <a:sym typeface="DM Sans"/>
            </a:endParaRPr>
          </a:p>
        </p:txBody>
      </p:sp>
      <p:sp>
        <p:nvSpPr>
          <p:cNvPr id="11" name="TextBox 11"/>
          <p:cNvSpPr txBox="1"/>
          <p:nvPr/>
        </p:nvSpPr>
        <p:spPr>
          <a:xfrm>
            <a:off x="2483078" y="1561956"/>
            <a:ext cx="6931379" cy="856488"/>
          </a:xfrm>
          <a:prstGeom prst="rect">
            <a:avLst/>
          </a:prstGeom>
        </p:spPr>
        <p:txBody>
          <a:bodyPr lIns="0" tIns="0" rIns="0" bIns="0" rtlCol="0" anchor="t">
            <a:spAutoFit/>
          </a:bodyPr>
          <a:lstStyle/>
          <a:p>
            <a:pPr algn="l">
              <a:lnSpc>
                <a:spcPts val="6335"/>
              </a:lnSpc>
            </a:pPr>
            <a:r>
              <a:rPr lang="en-US" sz="6399">
                <a:solidFill>
                  <a:srgbClr val="7AFFF5"/>
                </a:solidFill>
                <a:latin typeface="Norwester"/>
                <a:ea typeface="Norwester"/>
                <a:cs typeface="Norwester"/>
                <a:sym typeface="Norwester"/>
              </a:rPr>
              <a:t>COMMERCIALIZATION</a:t>
            </a:r>
          </a:p>
        </p:txBody>
      </p:sp>
      <p:sp>
        <p:nvSpPr>
          <p:cNvPr id="12" name="Freeform 12"/>
          <p:cNvSpPr/>
          <p:nvPr/>
        </p:nvSpPr>
        <p:spPr>
          <a:xfrm>
            <a:off x="0" y="9258300"/>
            <a:ext cx="5249008" cy="1028700"/>
          </a:xfrm>
          <a:custGeom>
            <a:avLst/>
            <a:gdLst/>
            <a:ahLst/>
            <a:cxnLst/>
            <a:rect l="l" t="t" r="r" b="b"/>
            <a:pathLst>
              <a:path w="5249008" h="1028700">
                <a:moveTo>
                  <a:pt x="0" y="0"/>
                </a:moveTo>
                <a:lnTo>
                  <a:pt x="5249008" y="0"/>
                </a:lnTo>
                <a:lnTo>
                  <a:pt x="5249008" y="1028700"/>
                </a:lnTo>
                <a:lnTo>
                  <a:pt x="0" y="1028700"/>
                </a:lnTo>
                <a:lnTo>
                  <a:pt x="0" y="0"/>
                </a:lnTo>
                <a:close/>
              </a:path>
            </a:pathLst>
          </a:custGeom>
          <a:blipFill>
            <a:blip r:embed="rId6"/>
            <a:stretch>
              <a:fillRect/>
            </a:stretch>
          </a:blipFill>
        </p:spPr>
        <p:txBody>
          <a:bodyPr/>
          <a:lstStyle/>
          <a:p>
            <a:endParaRPr lang="en-US"/>
          </a:p>
        </p:txBody>
      </p:sp>
      <p:sp>
        <p:nvSpPr>
          <p:cNvPr id="13" name="TextBox 13"/>
          <p:cNvSpPr txBox="1"/>
          <p:nvPr/>
        </p:nvSpPr>
        <p:spPr>
          <a:xfrm>
            <a:off x="15497378" y="9575482"/>
            <a:ext cx="1761922" cy="467487"/>
          </a:xfrm>
          <a:prstGeom prst="rect">
            <a:avLst/>
          </a:prstGeom>
        </p:spPr>
        <p:txBody>
          <a:bodyPr lIns="0" tIns="0" rIns="0" bIns="0" rtlCol="0" anchor="t">
            <a:spAutoFit/>
          </a:bodyPr>
          <a:lstStyle/>
          <a:p>
            <a:pPr algn="r">
              <a:lnSpc>
                <a:spcPts val="3564"/>
              </a:lnSpc>
            </a:pPr>
            <a:r>
              <a:rPr lang="en-US" sz="3600">
                <a:solidFill>
                  <a:srgbClr val="FFFFFF"/>
                </a:solidFill>
                <a:latin typeface="Norwester"/>
                <a:ea typeface="Norwester"/>
                <a:cs typeface="Norwester"/>
                <a:sym typeface="Norwester"/>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16683520" y="1590911"/>
            <a:ext cx="2651835" cy="2651835"/>
          </a:xfrm>
          <a:custGeom>
            <a:avLst/>
            <a:gdLst/>
            <a:ahLst/>
            <a:cxnLst/>
            <a:rect l="l" t="t" r="r" b="b"/>
            <a:pathLst>
              <a:path w="2651835" h="2651835">
                <a:moveTo>
                  <a:pt x="0" y="0"/>
                </a:moveTo>
                <a:lnTo>
                  <a:pt x="2651835" y="0"/>
                </a:lnTo>
                <a:lnTo>
                  <a:pt x="2651835" y="2651835"/>
                </a:lnTo>
                <a:lnTo>
                  <a:pt x="0" y="2651835"/>
                </a:lnTo>
                <a:lnTo>
                  <a:pt x="0" y="0"/>
                </a:lnTo>
                <a:close/>
              </a:path>
            </a:pathLst>
          </a:custGeom>
          <a:blipFill>
            <a:blip r:embed="rId2">
              <a:alphaModFix amt="20999"/>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a:grpSpLocks noChangeAspect="1"/>
          </p:cNvGrpSpPr>
          <p:nvPr/>
        </p:nvGrpSpPr>
        <p:grpSpPr>
          <a:xfrm>
            <a:off x="10637321" y="2636321"/>
            <a:ext cx="7650679" cy="7650679"/>
            <a:chOff x="0" y="0"/>
            <a:chExt cx="3331210" cy="3331210"/>
          </a:xfrm>
        </p:grpSpPr>
        <p:sp>
          <p:nvSpPr>
            <p:cNvPr id="4" name="Freeform 4"/>
            <p:cNvSpPr/>
            <p:nvPr/>
          </p:nvSpPr>
          <p:spPr>
            <a:xfrm>
              <a:off x="0" y="0"/>
              <a:ext cx="3331210" cy="3331210"/>
            </a:xfrm>
            <a:custGeom>
              <a:avLst/>
              <a:gdLst/>
              <a:ahLst/>
              <a:cxnLst/>
              <a:rect l="l" t="t" r="r" b="b"/>
              <a:pathLst>
                <a:path w="3331210" h="3331210">
                  <a:moveTo>
                    <a:pt x="3331210" y="3331210"/>
                  </a:moveTo>
                  <a:lnTo>
                    <a:pt x="0" y="3331210"/>
                  </a:lnTo>
                  <a:cubicBezTo>
                    <a:pt x="0" y="1490980"/>
                    <a:pt x="1490980" y="0"/>
                    <a:pt x="3331210" y="0"/>
                  </a:cubicBezTo>
                  <a:lnTo>
                    <a:pt x="3331210" y="3331210"/>
                  </a:lnTo>
                  <a:close/>
                </a:path>
              </a:pathLst>
            </a:custGeom>
            <a:blipFill>
              <a:blip r:embed="rId4"/>
              <a:stretch>
                <a:fillRect l="-25000" r="-25000"/>
              </a:stretch>
            </a:blipFill>
          </p:spPr>
          <p:txBody>
            <a:bodyPr/>
            <a:lstStyle/>
            <a:p>
              <a:endParaRPr lang="en-US"/>
            </a:p>
          </p:txBody>
        </p:sp>
      </p:grpSp>
      <p:sp>
        <p:nvSpPr>
          <p:cNvPr id="5" name="TextBox 5"/>
          <p:cNvSpPr txBox="1"/>
          <p:nvPr/>
        </p:nvSpPr>
        <p:spPr>
          <a:xfrm>
            <a:off x="4477812" y="3836021"/>
            <a:ext cx="6289429" cy="1307479"/>
          </a:xfrm>
          <a:prstGeom prst="rect">
            <a:avLst/>
          </a:prstGeom>
        </p:spPr>
        <p:txBody>
          <a:bodyPr lIns="0" tIns="0" rIns="0" bIns="0" rtlCol="0" anchor="t">
            <a:spAutoFit/>
          </a:bodyPr>
          <a:lstStyle/>
          <a:p>
            <a:pPr marL="0" lvl="0" indent="0" algn="l">
              <a:lnSpc>
                <a:spcPts val="10543"/>
              </a:lnSpc>
            </a:pPr>
            <a:r>
              <a:rPr lang="en-US" sz="7530" b="1" spc="459">
                <a:solidFill>
                  <a:srgbClr val="FFFFFF"/>
                </a:solidFill>
                <a:latin typeface="Now Bold"/>
                <a:ea typeface="Now Bold"/>
                <a:cs typeface="Now Bold"/>
                <a:sym typeface="Now Bold"/>
              </a:rPr>
              <a:t>Thank You! </a:t>
            </a:r>
          </a:p>
        </p:txBody>
      </p:sp>
      <p:sp>
        <p:nvSpPr>
          <p:cNvPr id="6" name="Freeform 6"/>
          <p:cNvSpPr/>
          <p:nvPr/>
        </p:nvSpPr>
        <p:spPr>
          <a:xfrm>
            <a:off x="-789475" y="-570381"/>
            <a:ext cx="2651835" cy="2651835"/>
          </a:xfrm>
          <a:custGeom>
            <a:avLst/>
            <a:gdLst/>
            <a:ahLst/>
            <a:cxnLst/>
            <a:rect l="l" t="t" r="r" b="b"/>
            <a:pathLst>
              <a:path w="2651835" h="2651835">
                <a:moveTo>
                  <a:pt x="0" y="0"/>
                </a:moveTo>
                <a:lnTo>
                  <a:pt x="2651836" y="0"/>
                </a:lnTo>
                <a:lnTo>
                  <a:pt x="2651836" y="2651835"/>
                </a:lnTo>
                <a:lnTo>
                  <a:pt x="0" y="2651835"/>
                </a:lnTo>
                <a:lnTo>
                  <a:pt x="0" y="0"/>
                </a:lnTo>
                <a:close/>
              </a:path>
            </a:pathLst>
          </a:custGeom>
          <a:blipFill>
            <a:blip r:embed="rId2">
              <a:alphaModFix amt="20999"/>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6485242" y="5721164"/>
            <a:ext cx="2274570" cy="613410"/>
          </a:xfrm>
          <a:prstGeom prst="rect">
            <a:avLst/>
          </a:prstGeom>
        </p:spPr>
        <p:txBody>
          <a:bodyPr lIns="0" tIns="0" rIns="0" bIns="0" rtlCol="0" anchor="t">
            <a:spAutoFit/>
          </a:bodyPr>
          <a:lstStyle/>
          <a:p>
            <a:pPr algn="ctr">
              <a:lnSpc>
                <a:spcPts val="5040"/>
              </a:lnSpc>
              <a:spcBef>
                <a:spcPct val="0"/>
              </a:spcBef>
            </a:pPr>
            <a:r>
              <a:rPr lang="en-US" sz="3600">
                <a:solidFill>
                  <a:srgbClr val="7AFFF5"/>
                </a:solidFill>
                <a:latin typeface="Norwester"/>
                <a:ea typeface="Norwester"/>
                <a:cs typeface="Norwester"/>
                <a:sym typeface="Norwester"/>
              </a:rPr>
              <a:t>INSIGHTHIRE </a:t>
            </a:r>
          </a:p>
        </p:txBody>
      </p:sp>
      <p:sp>
        <p:nvSpPr>
          <p:cNvPr id="8" name="TextBox 8"/>
          <p:cNvSpPr txBox="1"/>
          <p:nvPr/>
        </p:nvSpPr>
        <p:spPr>
          <a:xfrm>
            <a:off x="4477812" y="2033242"/>
            <a:ext cx="6289429" cy="1302239"/>
          </a:xfrm>
          <a:prstGeom prst="rect">
            <a:avLst/>
          </a:prstGeom>
        </p:spPr>
        <p:txBody>
          <a:bodyPr lIns="0" tIns="0" rIns="0" bIns="0" rtlCol="0" anchor="t">
            <a:spAutoFit/>
          </a:bodyPr>
          <a:lstStyle/>
          <a:p>
            <a:pPr marL="0" lvl="0" indent="0" algn="ctr">
              <a:lnSpc>
                <a:spcPts val="10543"/>
              </a:lnSpc>
            </a:pPr>
            <a:r>
              <a:rPr lang="en-US" sz="7530" b="1" spc="459">
                <a:solidFill>
                  <a:srgbClr val="FFFFFF"/>
                </a:solidFill>
                <a:latin typeface="Now Bold"/>
                <a:ea typeface="Now Bold"/>
                <a:cs typeface="Now Bold"/>
                <a:sym typeface="Now Bold"/>
              </a:rPr>
              <a:t>Q &amp; 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906</Words>
  <Application>Microsoft Office PowerPoint</Application>
  <PresentationFormat>Custom</PresentationFormat>
  <Paragraphs>204</Paragraphs>
  <Slides>38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vt:i4>
      </vt:variant>
    </vt:vector>
  </HeadingPairs>
  <TitlesOfParts>
    <vt:vector size="48" baseType="lpstr">
      <vt:lpstr>Helvetica World</vt:lpstr>
      <vt:lpstr>DM Sans Italics</vt:lpstr>
      <vt:lpstr>Canva Sans Bold</vt:lpstr>
      <vt:lpstr>Helvetica World Bold</vt:lpstr>
      <vt:lpstr>Now Bold</vt:lpstr>
      <vt:lpstr>DM Sans</vt:lpstr>
      <vt:lpstr>Norwester</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Dark Professional Geometric Business Project Presentation </dc:title>
  <cp:lastModifiedBy>Sandali Kavindya</cp:lastModifiedBy>
  <cp:revision>2</cp:revision>
  <dcterms:created xsi:type="dcterms:W3CDTF">2006-08-16T00:00:00Z</dcterms:created>
  <dcterms:modified xsi:type="dcterms:W3CDTF">2025-09-15T02:47:13Z</dcterms:modified>
  <dc:identifier>DAGvCAZcOZw</dc:identifier>
</cp:coreProperties>
</file>